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76"/>
  </p:normalViewPr>
  <p:slideViewPr>
    <p:cSldViewPr snapToGrid="0">
      <p:cViewPr varScale="1">
        <p:scale>
          <a:sx n="106" d="100"/>
          <a:sy n="106" d="100"/>
        </p:scale>
        <p:origin x="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E3984-9B15-4687-B8F1-C438CB4A860A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F32A-D9E2-4E9D-BDF7-80E376B994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2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2F32A-D9E2-4E9D-BDF7-80E376B994F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08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73D8-6D0E-F68E-12FE-BC50C0B67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DF408-955E-8BE4-D7EE-91D50CF6C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CA278-25C0-7D15-95A1-D6E9CAD9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9F130-5612-27F2-3F92-DA6CD2E5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3C4E0-AE8A-D1C1-00F3-DB483769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57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CF8E-1189-BBAE-710B-F2ADFAA0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7BFF-5D4C-7A72-7ADB-2BDE475E1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11AC6-8916-D55E-58AE-2264F63E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F1972-26CC-F646-E036-D8A78FCF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B1DA-688E-32D8-A9D3-B13F4EDE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43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780A-CA34-A9F1-6A75-EA59958B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E4336-38CF-373A-79B5-27AE398E8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83B8-A3DA-B8EF-6F00-335FC444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D9352-B91B-ADDB-1CB2-245BCC12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591D-C860-4AF2-98A8-18B543C7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6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50D2-A938-7C6C-81CB-C14243AB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2ABC4-0657-1921-9E90-0686D66EC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1B3E6-C495-8A06-210F-6031681F9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2D32D-6B22-C579-0219-DB2693A1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A708A-7905-1049-8060-07FED1E2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002FE-2D96-C8A7-1C8C-502B87A3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0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072E-95E0-25CC-D479-EFAE24F9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8AF66-3A05-7617-6960-1C885CC97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6C3A6-F1F7-C727-6AAE-7CA44F7DF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82979-363E-745C-0AB8-682E50DFC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1DAC8-5EA8-5569-5F65-C30AFA8C2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42297-050A-C1F0-CF63-1CA98F8B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BDEE1-2EE1-2DDA-4251-8476E6AD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D37C4-67F8-3822-950B-0C98D8D5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6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5E9B-6FDB-DF99-7681-52559DF4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FD309-04C6-CEF9-5AF5-CEB20CBBB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35C73-6CFC-4AA9-58F3-1A581660F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B96CB-964E-0659-16C1-E4BC2FEC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93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48E42-1314-7981-751E-AE05BBCD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99EF0-2F7E-D722-CC22-52C028E5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D63B8-EF7A-9177-1011-CCA94B07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3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577F-87C3-F0DF-F07B-FD76E7D9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AE1E-7C76-E14C-C4A7-EF80D249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CF447-DB1F-9563-F4FB-FAE64DBE3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E3A87-BF71-864B-5D8C-5C0CF19F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B3DBB-05C3-0618-314E-5A80B198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E9207-28BE-F009-9C4E-550693B1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5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5EEB-E17F-3A17-678C-94F44611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4B3EA-0E53-48FB-1631-FC3D34029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1AD7A-5457-C08D-68CD-AC22F0D7D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50F10-B344-D074-B7E5-FA839B4F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F4F50-CC38-6AFD-6754-5B55B917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873B7-54E9-8835-282D-887882B2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2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0B50-09D7-CB45-FDC0-086B2437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F1730-3022-AABF-3AEE-63BF1E398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9173-D8C2-EEF1-307A-AC1C81A5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19761-73E8-4F9A-A5C6-CF7429E0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396DD-AEEA-2F7C-00DA-3C3E867F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7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E2782-F7AD-9FAA-96CA-157422A5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B5F79-1FDF-E5DC-C0D5-D8A03EBEE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94F1-903C-5B70-B51A-5B223C7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EF264-0A5C-C333-F6F6-052A434E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6BD81-3916-EB5B-CF10-AA4C4259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9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E32E8-B05E-1E56-3C58-A788DA95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70D03-D06F-A319-0ACC-386DF04F5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0B198-0C32-C6B1-BE34-F66862157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54F30-6D7A-4EEE-8AC3-894784ACF796}" type="datetimeFigureOut">
              <a:rPr lang="en-US" smtClean="0"/>
              <a:t>10/13/25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55E32-CF58-956F-7C42-EB8572659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4995-7DEB-7CDE-0E9F-3AD2FD387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B18D7-8E1F-438F-91EC-B81B3717A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773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12" Type="http://schemas.openxmlformats.org/officeDocument/2006/relationships/image" Target="../media/image3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FF231AD-D8B9-7C0A-1D15-379D92149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0023D92-FFB6-1125-E229-B958F96F7714}"/>
              </a:ext>
            </a:extLst>
          </p:cNvPr>
          <p:cNvSpPr/>
          <p:nvPr/>
        </p:nvSpPr>
        <p:spPr>
          <a:xfrm>
            <a:off x="4546640" y="44969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Individual Project Presentation</a:t>
            </a:r>
            <a:endParaRPr lang="en-US" sz="28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88137DD-21CF-5560-1196-6341EEAAA380}"/>
              </a:ext>
            </a:extLst>
          </p:cNvPr>
          <p:cNvSpPr/>
          <p:nvPr/>
        </p:nvSpPr>
        <p:spPr>
          <a:xfrm>
            <a:off x="4546639" y="1867257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Design, Development and Demonstration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54A36B7-E3A8-2A1C-76AA-EB7F9D1173A8}"/>
              </a:ext>
            </a:extLst>
          </p:cNvPr>
          <p:cNvSpPr/>
          <p:nvPr/>
        </p:nvSpPr>
        <p:spPr>
          <a:xfrm>
            <a:off x="4546639" y="300120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 Abdulrahman Husain Ahmed Alhashmi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CCB7424-8A9C-8E19-6812-B3324BA08A02}"/>
              </a:ext>
            </a:extLst>
          </p:cNvPr>
          <p:cNvSpPr/>
          <p:nvPr/>
        </p:nvSpPr>
        <p:spPr>
          <a:xfrm>
            <a:off x="4546639" y="3732668"/>
            <a:ext cx="7556421" cy="1617930"/>
          </a:xfrm>
          <a:prstGeom prst="roundRect">
            <a:avLst>
              <a:gd name="adj" fmla="val 5638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90701600-4D4A-BADA-D93E-C959DFFAC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453" y="4076759"/>
            <a:ext cx="283488" cy="226814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C28A7F79-C36F-5CC0-CAE2-224C1CC52B37}"/>
              </a:ext>
            </a:extLst>
          </p:cNvPr>
          <p:cNvSpPr/>
          <p:nvPr/>
        </p:nvSpPr>
        <p:spPr>
          <a:xfrm>
            <a:off x="5283755" y="4016156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covers the design, development, and demonstration of a Python-based intelligent agent for academic search and data management.</a:t>
            </a:r>
            <a:endParaRPr lang="en-US" sz="1600" dirty="0"/>
          </a:p>
        </p:txBody>
      </p:sp>
      <p:pic>
        <p:nvPicPr>
          <p:cNvPr id="24" name="Audio 23">
            <a:extLst>
              <a:ext uri="{FF2B5EF4-FFF2-40B4-BE49-F238E27FC236}">
                <a16:creationId xmlns:a16="http://schemas.microsoft.com/office/drawing/2014/main" id="{E1ABDF52-8D96-9364-9273-1B7F70EAC6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6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445"/>
    </mc:Choice>
    <mc:Fallback>
      <p:transition spd="slow" advTm="504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59228-7AAB-30EF-B727-9C1521F2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F39F92-894E-EE0F-7573-0B9D593A9B76}"/>
              </a:ext>
            </a:extLst>
          </p:cNvPr>
          <p:cNvSpPr/>
          <p:nvPr/>
        </p:nvSpPr>
        <p:spPr>
          <a:xfrm>
            <a:off x="393859" y="427643"/>
            <a:ext cx="91918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Aim and Problem Framing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15CF5A-5B39-A500-F7B5-5919BD3A32BB}"/>
              </a:ext>
            </a:extLst>
          </p:cNvPr>
          <p:cNvSpPr/>
          <p:nvPr/>
        </p:nvSpPr>
        <p:spPr>
          <a:xfrm>
            <a:off x="136565" y="2107049"/>
            <a:ext cx="3657600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73CB8D-DB1A-4246-A0F2-2759B2C551DB}"/>
              </a:ext>
            </a:extLst>
          </p:cNvPr>
          <p:cNvSpPr/>
          <p:nvPr/>
        </p:nvSpPr>
        <p:spPr>
          <a:xfrm>
            <a:off x="136565" y="2076569"/>
            <a:ext cx="3657600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CF61F3-B8C8-3D06-C021-366C5F3DF7B8}"/>
              </a:ext>
            </a:extLst>
          </p:cNvPr>
          <p:cNvSpPr/>
          <p:nvPr/>
        </p:nvSpPr>
        <p:spPr>
          <a:xfrm>
            <a:off x="1580138" y="176688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6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EB2ED47-672D-377D-7636-10A807944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211" y="1937028"/>
            <a:ext cx="272177" cy="34016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0576B42-83D5-F546-3F4F-C2383605FCEB}"/>
              </a:ext>
            </a:extLst>
          </p:cNvPr>
          <p:cNvSpPr/>
          <p:nvPr/>
        </p:nvSpPr>
        <p:spPr>
          <a:xfrm>
            <a:off x="393859" y="26740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Retrieval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53FFA88-01F4-3E24-0E5D-498106D1AB50}"/>
              </a:ext>
            </a:extLst>
          </p:cNvPr>
          <p:cNvSpPr/>
          <p:nvPr/>
        </p:nvSpPr>
        <p:spPr>
          <a:xfrm>
            <a:off x="393859" y="3164443"/>
            <a:ext cx="340030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retrieval from HTML inputs, with extensibility to live sources.</a:t>
            </a:r>
            <a:endParaRPr lang="en-US"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93E992D-467A-68C0-2594-8B4436C35E6E}"/>
              </a:ext>
            </a:extLst>
          </p:cNvPr>
          <p:cNvSpPr/>
          <p:nvPr/>
        </p:nvSpPr>
        <p:spPr>
          <a:xfrm>
            <a:off x="4051459" y="2092404"/>
            <a:ext cx="3576636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82D628-3EA0-4BDE-EBBC-DE2106057618}"/>
              </a:ext>
            </a:extLst>
          </p:cNvPr>
          <p:cNvSpPr/>
          <p:nvPr/>
        </p:nvSpPr>
        <p:spPr>
          <a:xfrm>
            <a:off x="4267200" y="2076569"/>
            <a:ext cx="3657600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F69664-BEAD-6430-9C8D-DE108C4C969B}"/>
              </a:ext>
            </a:extLst>
          </p:cNvPr>
          <p:cNvSpPr/>
          <p:nvPr/>
        </p:nvSpPr>
        <p:spPr>
          <a:xfrm>
            <a:off x="5751433" y="17920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600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3FF24B2B-D84C-1BDA-053E-233DB4628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506" y="1962209"/>
            <a:ext cx="272177" cy="340162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7E81D6AE-9B63-570A-02BA-C45B19A578A4}"/>
              </a:ext>
            </a:extLst>
          </p:cNvPr>
          <p:cNvSpPr/>
          <p:nvPr/>
        </p:nvSpPr>
        <p:spPr>
          <a:xfrm>
            <a:off x="4308753" y="2659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 Results</a:t>
            </a:r>
            <a:endParaRPr lang="en-US" sz="2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CB38F4B-C9B1-D141-152C-82F4BEE95085}"/>
              </a:ext>
            </a:extLst>
          </p:cNvPr>
          <p:cNvSpPr/>
          <p:nvPr/>
        </p:nvSpPr>
        <p:spPr>
          <a:xfrm>
            <a:off x="4308753" y="3149798"/>
            <a:ext cx="340030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results into a clean, tabular format with clear metadata.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2D93E74-AC09-E6F8-6A5F-CAA2E0E18818}"/>
              </a:ext>
            </a:extLst>
          </p:cNvPr>
          <p:cNvSpPr/>
          <p:nvPr/>
        </p:nvSpPr>
        <p:spPr>
          <a:xfrm>
            <a:off x="8474630" y="2092404"/>
            <a:ext cx="3576636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sz="16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46BFC25-B049-5084-0602-58E86D5FEA6F}"/>
              </a:ext>
            </a:extLst>
          </p:cNvPr>
          <p:cNvSpPr/>
          <p:nvPr/>
        </p:nvSpPr>
        <p:spPr>
          <a:xfrm>
            <a:off x="8397835" y="2069247"/>
            <a:ext cx="3657600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6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E6CC10F-A4FC-71BD-AF2E-6BF2C6F12EF3}"/>
              </a:ext>
            </a:extLst>
          </p:cNvPr>
          <p:cNvSpPr/>
          <p:nvPr/>
        </p:nvSpPr>
        <p:spPr>
          <a:xfrm>
            <a:off x="9922728" y="177662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60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9EE94676-78DF-1080-1E1D-66F347BA1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801" y="1946762"/>
            <a:ext cx="272177" cy="340162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9A484172-E80F-430F-295A-B2B14D8B5701}"/>
              </a:ext>
            </a:extLst>
          </p:cNvPr>
          <p:cNvSpPr/>
          <p:nvPr/>
        </p:nvSpPr>
        <p:spPr>
          <a:xfrm>
            <a:off x="8731924" y="2659380"/>
            <a:ext cx="30102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Repeatability</a:t>
            </a:r>
            <a:endParaRPr lang="en-US" sz="20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AE796E5-74E7-871A-4885-CFD080C56AD0}"/>
              </a:ext>
            </a:extLst>
          </p:cNvPr>
          <p:cNvSpPr/>
          <p:nvPr/>
        </p:nvSpPr>
        <p:spPr>
          <a:xfrm>
            <a:off x="8731924" y="3149798"/>
            <a:ext cx="306621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repeatability through logging, testing, and clear documentation (README).</a:t>
            </a:r>
            <a:endParaRPr lang="en-US" sz="16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9364927-851F-9E37-3612-C44B410BE9C2}"/>
              </a:ext>
            </a:extLst>
          </p:cNvPr>
          <p:cNvSpPr/>
          <p:nvPr/>
        </p:nvSpPr>
        <p:spPr>
          <a:xfrm>
            <a:off x="393859" y="4750594"/>
            <a:ext cx="91036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addresses the repetitive nature of academic literature review: querying sources, parsing HTML, filtering noise, and collating data for analysis.</a:t>
            </a:r>
            <a:endParaRPr lang="en-US" sz="1600" dirty="0"/>
          </a:p>
        </p:txBody>
      </p:sp>
      <p:pic>
        <p:nvPicPr>
          <p:cNvPr id="30" name="Audio 29">
            <a:extLst>
              <a:ext uri="{FF2B5EF4-FFF2-40B4-BE49-F238E27FC236}">
                <a16:creationId xmlns:a16="http://schemas.microsoft.com/office/drawing/2014/main" id="{FDC6A19D-5E5E-D8EA-0BC5-5F97D1F340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3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447"/>
    </mc:Choice>
    <mc:Fallback>
      <p:transition spd="slow" advTm="1014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E87F-43FB-E7A6-5FC8-7837B8168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D12E4FB1-A5A5-7AD5-746B-1B0D05919DF7}"/>
              </a:ext>
            </a:extLst>
          </p:cNvPr>
          <p:cNvSpPr/>
          <p:nvPr/>
        </p:nvSpPr>
        <p:spPr>
          <a:xfrm>
            <a:off x="485775" y="255212"/>
            <a:ext cx="11311533" cy="130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Conceptual Foundations: Agent-Oriented Principles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D9812D9F-CB42-3AA9-3388-65367B39E509}"/>
              </a:ext>
            </a:extLst>
          </p:cNvPr>
          <p:cNvSpPr/>
          <p:nvPr/>
        </p:nvSpPr>
        <p:spPr>
          <a:xfrm>
            <a:off x="485775" y="1026618"/>
            <a:ext cx="11515725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design is influenced by core agent-oriented principles, modeling the agent with clear internal states and goals.</a:t>
            </a:r>
            <a:endParaRPr lang="en-US" sz="16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0115E41B-1997-BD82-17F8-7AA9A6CEFD20}"/>
              </a:ext>
            </a:extLst>
          </p:cNvPr>
          <p:cNvSpPr/>
          <p:nvPr/>
        </p:nvSpPr>
        <p:spPr>
          <a:xfrm>
            <a:off x="930593" y="2148364"/>
            <a:ext cx="261497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Beliefs</a:t>
            </a:r>
            <a:endParaRPr lang="en-US" sz="20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060D7395-24E7-DA54-6C02-A419E572FB67}"/>
              </a:ext>
            </a:extLst>
          </p:cNvPr>
          <p:cNvSpPr/>
          <p:nvPr/>
        </p:nvSpPr>
        <p:spPr>
          <a:xfrm>
            <a:off x="298764" y="2600683"/>
            <a:ext cx="3246798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data has been retrieved.</a:t>
            </a:r>
            <a:endParaRPr lang="en-US" sz="16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5EB5489-E291-3CF4-2352-26D3B9308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563" y="1551980"/>
            <a:ext cx="4608076" cy="4608076"/>
          </a:xfrm>
          <a:prstGeom prst="rect">
            <a:avLst/>
          </a:prstGeom>
        </p:spPr>
      </p:pic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20ACFB58-8927-0AEC-017D-FB0F5C115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465" y="2833093"/>
            <a:ext cx="294084" cy="367665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500C8A78-6E35-CD7C-CC1C-2C8B31CF2D3A}"/>
              </a:ext>
            </a:extLst>
          </p:cNvPr>
          <p:cNvSpPr/>
          <p:nvPr/>
        </p:nvSpPr>
        <p:spPr>
          <a:xfrm>
            <a:off x="8153638" y="2148364"/>
            <a:ext cx="261497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Desires</a:t>
            </a:r>
            <a:endParaRPr lang="en-US" sz="205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2EE244C-89AB-3E5E-4D54-022AA091CDF7}"/>
              </a:ext>
            </a:extLst>
          </p:cNvPr>
          <p:cNvSpPr/>
          <p:nvPr/>
        </p:nvSpPr>
        <p:spPr>
          <a:xfrm>
            <a:off x="8153638" y="2600683"/>
            <a:ext cx="3857387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query and quality thresholds.</a:t>
            </a:r>
            <a:endParaRPr lang="en-US" sz="1600" dirty="0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C70A6C46-E0BD-CA61-85E1-30F755392A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5563" y="1551980"/>
            <a:ext cx="4608076" cy="4608076"/>
          </a:xfrm>
          <a:prstGeom prst="rect">
            <a:avLst/>
          </a:prstGeom>
        </p:spPr>
      </p:pic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8BD6A8A7-7F79-61D4-3EE2-29CC94282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532" y="2833093"/>
            <a:ext cx="294084" cy="367665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2BE80386-7298-FA46-4C96-2F2027711C10}"/>
              </a:ext>
            </a:extLst>
          </p:cNvPr>
          <p:cNvSpPr/>
          <p:nvPr/>
        </p:nvSpPr>
        <p:spPr>
          <a:xfrm>
            <a:off x="8153638" y="4441865"/>
            <a:ext cx="261497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Intentions</a:t>
            </a:r>
            <a:endParaRPr lang="en-US" sz="205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5CDCC33C-C71D-9886-7985-76D9BA5C1D18}"/>
              </a:ext>
            </a:extLst>
          </p:cNvPr>
          <p:cNvSpPr/>
          <p:nvPr/>
        </p:nvSpPr>
        <p:spPr>
          <a:xfrm>
            <a:off x="8153638" y="4894184"/>
            <a:ext cx="3552587" cy="6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plan for scraping, parsing, filtering, and storing data.</a:t>
            </a:r>
            <a:endParaRPr lang="en-US" sz="1600" dirty="0"/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5F1F00DA-B53A-32D2-5503-55338F3A10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5563" y="1551980"/>
            <a:ext cx="4608076" cy="4608076"/>
          </a:xfrm>
          <a:prstGeom prst="rect">
            <a:avLst/>
          </a:prstGeom>
        </p:spPr>
      </p:pic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F3EC0962-0FEB-8EE0-DE8A-62692709A2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532" y="4511160"/>
            <a:ext cx="294084" cy="367665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E5112FE5-4829-786E-7A8F-941FB83D251E}"/>
              </a:ext>
            </a:extLst>
          </p:cNvPr>
          <p:cNvSpPr/>
          <p:nvPr/>
        </p:nvSpPr>
        <p:spPr>
          <a:xfrm>
            <a:off x="930593" y="4441865"/>
            <a:ext cx="261497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</a:t>
            </a:r>
            <a:endParaRPr lang="en-US" sz="205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C7C01A76-02BF-D4A7-FAB1-9E9914C05FDB}"/>
              </a:ext>
            </a:extLst>
          </p:cNvPr>
          <p:cNvSpPr/>
          <p:nvPr/>
        </p:nvSpPr>
        <p:spPr>
          <a:xfrm>
            <a:off x="190500" y="4894184"/>
            <a:ext cx="3355062" cy="6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design with Controller, Scraper, Processor, and Storage Handler.</a:t>
            </a:r>
            <a:endParaRPr lang="en-US" sz="1600" dirty="0"/>
          </a:p>
        </p:txBody>
      </p:sp>
      <p:pic>
        <p:nvPicPr>
          <p:cNvPr id="37" name="Image 6" descr="preencoded.png">
            <a:extLst>
              <a:ext uri="{FF2B5EF4-FFF2-40B4-BE49-F238E27FC236}">
                <a16:creationId xmlns:a16="http://schemas.microsoft.com/office/drawing/2014/main" id="{CEF5B158-A86A-CBF7-A3B7-8650E5032B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5563" y="1551980"/>
            <a:ext cx="4608076" cy="4608076"/>
          </a:xfrm>
          <a:prstGeom prst="rect">
            <a:avLst/>
          </a:prstGeom>
        </p:spPr>
      </p:pic>
      <p:pic>
        <p:nvPicPr>
          <p:cNvPr id="38" name="Image 7" descr="preencoded.png">
            <a:extLst>
              <a:ext uri="{FF2B5EF4-FFF2-40B4-BE49-F238E27FC236}">
                <a16:creationId xmlns:a16="http://schemas.microsoft.com/office/drawing/2014/main" id="{783256D9-1F6E-6B6A-23E6-7A9384EE3A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3465" y="4511160"/>
            <a:ext cx="294084" cy="367665"/>
          </a:xfrm>
          <a:prstGeom prst="rect">
            <a:avLst/>
          </a:prstGeom>
        </p:spPr>
      </p:pic>
      <p:sp>
        <p:nvSpPr>
          <p:cNvPr id="39" name="Text 10">
            <a:extLst>
              <a:ext uri="{FF2B5EF4-FFF2-40B4-BE49-F238E27FC236}">
                <a16:creationId xmlns:a16="http://schemas.microsoft.com/office/drawing/2014/main" id="{4B6A28C9-4F5B-8B51-0001-36B0ED2437D0}"/>
              </a:ext>
            </a:extLst>
          </p:cNvPr>
          <p:cNvSpPr/>
          <p:nvPr/>
        </p:nvSpPr>
        <p:spPr>
          <a:xfrm>
            <a:off x="485775" y="6107846"/>
            <a:ext cx="10775632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 is maintained at the workflow level: the agent decides which parser to invoke based on the page type.</a:t>
            </a:r>
            <a:endParaRPr lang="en-US" sz="1600" dirty="0"/>
          </a:p>
        </p:txBody>
      </p:sp>
      <p:pic>
        <p:nvPicPr>
          <p:cNvPr id="3" name="Audio 2">
            <a:extLst>
              <a:ext uri="{FF2B5EF4-FFF2-40B4-BE49-F238E27FC236}">
                <a16:creationId xmlns:a16="http://schemas.microsoft.com/office/drawing/2014/main" id="{217E801B-6D63-B59D-8877-48643E8785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95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781"/>
    </mc:Choice>
    <mc:Fallback>
      <p:transition spd="slow" advTm="58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BAA4-E49C-5491-B4E7-DE2252C7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CFBA14-BA91-967E-F5A5-290168442C0B}"/>
              </a:ext>
            </a:extLst>
          </p:cNvPr>
          <p:cNvSpPr/>
          <p:nvPr/>
        </p:nvSpPr>
        <p:spPr>
          <a:xfrm>
            <a:off x="574238" y="231815"/>
            <a:ext cx="8291036" cy="512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Overview: The Five Modules</a:t>
            </a:r>
            <a:endParaRPr lang="en-US" sz="3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4F0A55-A010-50A5-815E-D3C3E40D2BFE}"/>
              </a:ext>
            </a:extLst>
          </p:cNvPr>
          <p:cNvSpPr/>
          <p:nvPr/>
        </p:nvSpPr>
        <p:spPr>
          <a:xfrm>
            <a:off x="574238" y="4662223"/>
            <a:ext cx="9741337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Controller: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Coordinates the entire workflow.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257C2E-3DDA-E14F-A31A-055E0E288350}"/>
              </a:ext>
            </a:extLst>
          </p:cNvPr>
          <p:cNvSpPr/>
          <p:nvPr/>
        </p:nvSpPr>
        <p:spPr>
          <a:xfrm>
            <a:off x="574238" y="4982024"/>
            <a:ext cx="8503087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Scraper: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Handles HTTP/HTML tasks; can be extended with Selenium for dynamic pages.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C9C09A-05BE-B32D-C1DF-35B05F1E345B}"/>
              </a:ext>
            </a:extLst>
          </p:cNvPr>
          <p:cNvSpPr/>
          <p:nvPr/>
        </p:nvSpPr>
        <p:spPr>
          <a:xfrm>
            <a:off x="574237" y="5301825"/>
            <a:ext cx="10017563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Processing: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Converts raw data to a pandas Data Frame and enforces schema.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FF5308-A471-4E20-5311-69B2E8D8A597}"/>
              </a:ext>
            </a:extLst>
          </p:cNvPr>
          <p:cNvSpPr/>
          <p:nvPr/>
        </p:nvSpPr>
        <p:spPr>
          <a:xfrm>
            <a:off x="574238" y="5621626"/>
            <a:ext cx="11112938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Handler: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Persists outputs to CSV and Excel, verifying row counts.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DBF793-EC65-0279-ED86-A77AE9FBD705}"/>
              </a:ext>
            </a:extLst>
          </p:cNvPr>
          <p:cNvSpPr/>
          <p:nvPr/>
        </p:nvSpPr>
        <p:spPr>
          <a:xfrm>
            <a:off x="574237" y="5941427"/>
            <a:ext cx="10398564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Logger: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Produces a trace for debugging and compliance.</a:t>
            </a:r>
            <a:endParaRPr lang="en-US" sz="12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E35C4AF1-8A43-5518-F09C-5733F3237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38" y="1029533"/>
            <a:ext cx="10393148" cy="3575303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B1E9D0CA-13E3-9C8B-A441-AFA09A51D61B}"/>
              </a:ext>
            </a:extLst>
          </p:cNvPr>
          <p:cNvSpPr/>
          <p:nvPr/>
        </p:nvSpPr>
        <p:spPr>
          <a:xfrm>
            <a:off x="1224614" y="3934553"/>
            <a:ext cx="3033406" cy="379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 Handler</a:t>
            </a:r>
            <a:endParaRPr lang="en-US" sz="1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718F3A2-C291-B4ED-FEAE-D16E9D5F5B14}"/>
              </a:ext>
            </a:extLst>
          </p:cNvPr>
          <p:cNvSpPr/>
          <p:nvPr/>
        </p:nvSpPr>
        <p:spPr>
          <a:xfrm>
            <a:off x="1224614" y="3075317"/>
            <a:ext cx="3033406" cy="379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6BE0847-608D-70A6-2D88-F65288978DE5}"/>
              </a:ext>
            </a:extLst>
          </p:cNvPr>
          <p:cNvSpPr/>
          <p:nvPr/>
        </p:nvSpPr>
        <p:spPr>
          <a:xfrm>
            <a:off x="1224614" y="2266997"/>
            <a:ext cx="3033406" cy="379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Scraper</a:t>
            </a:r>
            <a:endParaRPr lang="en-US" sz="13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3F5724B-405C-B523-EE5C-F0E59384823B}"/>
              </a:ext>
            </a:extLst>
          </p:cNvPr>
          <p:cNvSpPr/>
          <p:nvPr/>
        </p:nvSpPr>
        <p:spPr>
          <a:xfrm>
            <a:off x="1224614" y="1458677"/>
            <a:ext cx="3033406" cy="379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Controller</a:t>
            </a:r>
            <a:endParaRPr lang="en-US" sz="1200" dirty="0"/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CD4F842A-2907-6064-B48B-B61A37E48D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650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65"/>
    </mc:Choice>
    <mc:Fallback>
      <p:transition spd="slow" advTm="330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B525-830D-A937-D65D-3241DDD4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E24ECC-B5AE-ECCD-441F-31EEE3FF686A}"/>
              </a:ext>
            </a:extLst>
          </p:cNvPr>
          <p:cNvSpPr/>
          <p:nvPr/>
        </p:nvSpPr>
        <p:spPr>
          <a:xfrm>
            <a:off x="304551" y="150756"/>
            <a:ext cx="8294608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Scraping and Parsing Strategy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B19A7F-F3AA-332D-1B75-69FD84C47DBC}"/>
              </a:ext>
            </a:extLst>
          </p:cNvPr>
          <p:cNvSpPr/>
          <p:nvPr/>
        </p:nvSpPr>
        <p:spPr>
          <a:xfrm>
            <a:off x="304551" y="1439250"/>
            <a:ext cx="6585136" cy="1800344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63164B3-68BE-E3E1-926F-C48567318C2F}"/>
              </a:ext>
            </a:extLst>
          </p:cNvPr>
          <p:cNvSpPr/>
          <p:nvPr/>
        </p:nvSpPr>
        <p:spPr>
          <a:xfrm>
            <a:off x="274071" y="1439250"/>
            <a:ext cx="121920" cy="1800344"/>
          </a:xfrm>
          <a:prstGeom prst="roundRect">
            <a:avLst>
              <a:gd name="adj" fmla="val 7721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B50C68-164C-567E-3F46-3AF8EAFB411E}"/>
              </a:ext>
            </a:extLst>
          </p:cNvPr>
          <p:cNvSpPr/>
          <p:nvPr/>
        </p:nvSpPr>
        <p:spPr>
          <a:xfrm>
            <a:off x="650546" y="1693806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Mode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01AFA3-8541-DF85-9BE0-20740EAA14EA}"/>
              </a:ext>
            </a:extLst>
          </p:cNvPr>
          <p:cNvSpPr/>
          <p:nvPr/>
        </p:nvSpPr>
        <p:spPr>
          <a:xfrm>
            <a:off x="650547" y="2268044"/>
            <a:ext cx="5985644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Requests and Beautiful Soup for predictable HTML pages. Used for the default demo for reproducibility.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C1102A-5427-CC93-1861-CFB859E42854}"/>
              </a:ext>
            </a:extLst>
          </p:cNvPr>
          <p:cNvSpPr/>
          <p:nvPr/>
        </p:nvSpPr>
        <p:spPr>
          <a:xfrm>
            <a:off x="304551" y="3463670"/>
            <a:ext cx="6585136" cy="1800344"/>
          </a:xfrm>
          <a:prstGeom prst="roundRect">
            <a:avLst>
              <a:gd name="adj" fmla="val 812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E07757-6B38-5A1E-9B72-E83DFE31F2D2}"/>
              </a:ext>
            </a:extLst>
          </p:cNvPr>
          <p:cNvSpPr/>
          <p:nvPr/>
        </p:nvSpPr>
        <p:spPr>
          <a:xfrm>
            <a:off x="274071" y="3463670"/>
            <a:ext cx="121920" cy="1800344"/>
          </a:xfrm>
          <a:prstGeom prst="roundRect">
            <a:avLst>
              <a:gd name="adj" fmla="val 7721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9F51A9-78B9-9C4F-D1FD-954C72F2BFA7}"/>
              </a:ext>
            </a:extLst>
          </p:cNvPr>
          <p:cNvSpPr/>
          <p:nvPr/>
        </p:nvSpPr>
        <p:spPr>
          <a:xfrm>
            <a:off x="650546" y="3718225"/>
            <a:ext cx="348412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Mode (Optional)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613576C-ADCC-65AC-A134-5813A2C9B6B2}"/>
              </a:ext>
            </a:extLst>
          </p:cNvPr>
          <p:cNvSpPr/>
          <p:nvPr/>
        </p:nvSpPr>
        <p:spPr>
          <a:xfrm>
            <a:off x="650546" y="4292464"/>
            <a:ext cx="5985645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 WebDriver (e.g., Selenium) for sites requiring JavaScript rendering.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4D9AE32-9D76-B81C-FD1F-8DAF45D209FB}"/>
              </a:ext>
            </a:extLst>
          </p:cNvPr>
          <p:cNvSpPr/>
          <p:nvPr/>
        </p:nvSpPr>
        <p:spPr>
          <a:xfrm>
            <a:off x="304551" y="5516069"/>
            <a:ext cx="6585136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parser extracts key metadata (title, authors, year, link) from article-like containers and returns a normalized record. It anticipates noisy input by handling missing fields with defaults and flagging invalid years.</a:t>
            </a:r>
            <a:endParaRPr lang="en-US" sz="16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8D4D6C91-CCDA-FD8C-A883-F81D60E7B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242" y="1439249"/>
            <a:ext cx="4896564" cy="4614565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6728A329-0B02-155D-5BC4-420DAF9803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7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403"/>
    </mc:Choice>
    <mc:Fallback>
      <p:transition spd="slow" advTm="62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DB5A6-38E9-818D-B9C1-480F345D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53A95F-2677-34AB-3FFF-390DDFABF8C4}"/>
              </a:ext>
            </a:extLst>
          </p:cNvPr>
          <p:cNvSpPr/>
          <p:nvPr/>
        </p:nvSpPr>
        <p:spPr>
          <a:xfrm>
            <a:off x="250582" y="260237"/>
            <a:ext cx="7220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Model and Validation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735FAB-6337-8794-F058-1AD4E7BC0C28}"/>
              </a:ext>
            </a:extLst>
          </p:cNvPr>
          <p:cNvSpPr/>
          <p:nvPr/>
        </p:nvSpPr>
        <p:spPr>
          <a:xfrm>
            <a:off x="250583" y="1422644"/>
            <a:ext cx="118585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Processing module enforces a minimal schema and applies three critical checks to ensure data quality.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6659B7-F75B-21E3-5007-4F4429B12EDE}"/>
              </a:ext>
            </a:extLst>
          </p:cNvPr>
          <p:cNvSpPr/>
          <p:nvPr/>
        </p:nvSpPr>
        <p:spPr>
          <a:xfrm>
            <a:off x="250582" y="2040698"/>
            <a:ext cx="11858544" cy="2992041"/>
          </a:xfrm>
          <a:prstGeom prst="roundRect">
            <a:avLst>
              <a:gd name="adj" fmla="val 3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517A18-8346-96FC-4866-F5D5637AF3F5}"/>
              </a:ext>
            </a:extLst>
          </p:cNvPr>
          <p:cNvSpPr/>
          <p:nvPr/>
        </p:nvSpPr>
        <p:spPr>
          <a:xfrm>
            <a:off x="258202" y="2048318"/>
            <a:ext cx="5337134" cy="1669852"/>
          </a:xfrm>
          <a:prstGeom prst="roundRect">
            <a:avLst>
              <a:gd name="adj" fmla="val 570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546C75-F3DF-FFCF-4C97-1864FB086C3B}"/>
              </a:ext>
            </a:extLst>
          </p:cNvPr>
          <p:cNvSpPr/>
          <p:nvPr/>
        </p:nvSpPr>
        <p:spPr>
          <a:xfrm>
            <a:off x="485017" y="2275132"/>
            <a:ext cx="2323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Schema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533F1C-BBE8-00D0-12F6-2F8AD4A34623}"/>
              </a:ext>
            </a:extLst>
          </p:cNvPr>
          <p:cNvSpPr/>
          <p:nvPr/>
        </p:nvSpPr>
        <p:spPr>
          <a:xfrm>
            <a:off x="485016" y="2765550"/>
            <a:ext cx="46867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(string), Authors (string), Year (integer or None), URL (string).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399F9B-1A9B-1D7D-7A80-AA4AA44FC936}"/>
              </a:ext>
            </a:extLst>
          </p:cNvPr>
          <p:cNvSpPr/>
          <p:nvPr/>
        </p:nvSpPr>
        <p:spPr>
          <a:xfrm>
            <a:off x="6771992" y="2048318"/>
            <a:ext cx="5337134" cy="1669852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87E9506-ED8E-FF24-8744-580658DC021C}"/>
              </a:ext>
            </a:extLst>
          </p:cNvPr>
          <p:cNvSpPr/>
          <p:nvPr/>
        </p:nvSpPr>
        <p:spPr>
          <a:xfrm>
            <a:off x="6233365" y="2048318"/>
            <a:ext cx="45719" cy="166985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3A0D1A-7C45-3D1E-EB55-30A7B1DBC70A}"/>
              </a:ext>
            </a:extLst>
          </p:cNvPr>
          <p:cNvSpPr/>
          <p:nvPr/>
        </p:nvSpPr>
        <p:spPr>
          <a:xfrm>
            <a:off x="7052464" y="2283645"/>
            <a:ext cx="2323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Deduplication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06BB54-DF73-225C-8C4C-8B51813286A3}"/>
              </a:ext>
            </a:extLst>
          </p:cNvPr>
          <p:cNvSpPr/>
          <p:nvPr/>
        </p:nvSpPr>
        <p:spPr>
          <a:xfrm>
            <a:off x="7052464" y="2765550"/>
            <a:ext cx="46867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duplicates based on matching Title and URL.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A4882F-3DE3-5991-0FFD-3A14A22B9A57}"/>
              </a:ext>
            </a:extLst>
          </p:cNvPr>
          <p:cNvSpPr/>
          <p:nvPr/>
        </p:nvSpPr>
        <p:spPr>
          <a:xfrm>
            <a:off x="5949878" y="2599696"/>
            <a:ext cx="464557" cy="566976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7095DEEE-087E-798A-F713-2EF017872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563" y="2706019"/>
            <a:ext cx="232279" cy="354330"/>
          </a:xfrm>
          <a:prstGeom prst="rect">
            <a:avLst/>
          </a:prstGeom>
        </p:spPr>
      </p:pic>
      <p:sp>
        <p:nvSpPr>
          <p:cNvPr id="14" name="Shape 11">
            <a:extLst>
              <a:ext uri="{FF2B5EF4-FFF2-40B4-BE49-F238E27FC236}">
                <a16:creationId xmlns:a16="http://schemas.microsoft.com/office/drawing/2014/main" id="{CAA9764D-9CFB-1CA8-FD5C-15915BACBD2C}"/>
              </a:ext>
            </a:extLst>
          </p:cNvPr>
          <p:cNvSpPr/>
          <p:nvPr/>
        </p:nvSpPr>
        <p:spPr>
          <a:xfrm>
            <a:off x="258202" y="3718169"/>
            <a:ext cx="5337134" cy="1306949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4E35BF4-B3B0-74EC-A314-8C264E421383}"/>
              </a:ext>
            </a:extLst>
          </p:cNvPr>
          <p:cNvSpPr/>
          <p:nvPr/>
        </p:nvSpPr>
        <p:spPr>
          <a:xfrm>
            <a:off x="258202" y="3718169"/>
            <a:ext cx="6583680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7210762-291F-1631-CE69-675B6EADFE0D}"/>
              </a:ext>
            </a:extLst>
          </p:cNvPr>
          <p:cNvSpPr/>
          <p:nvPr/>
        </p:nvSpPr>
        <p:spPr>
          <a:xfrm>
            <a:off x="485017" y="3944983"/>
            <a:ext cx="2323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A560BAB-357B-25ED-CF40-8144BDF76D65}"/>
              </a:ext>
            </a:extLst>
          </p:cNvPr>
          <p:cNvSpPr/>
          <p:nvPr/>
        </p:nvSpPr>
        <p:spPr>
          <a:xfrm>
            <a:off x="485016" y="4435402"/>
            <a:ext cx="46867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that years fall within a configurable range.</a:t>
            </a:r>
            <a:endParaRPr lang="en-US" sz="16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B73C7C6-0583-23C2-3051-4439FE13D9D3}"/>
              </a:ext>
            </a:extLst>
          </p:cNvPr>
          <p:cNvSpPr/>
          <p:nvPr/>
        </p:nvSpPr>
        <p:spPr>
          <a:xfrm>
            <a:off x="6771992" y="3718169"/>
            <a:ext cx="5337134" cy="1306949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14BEDE6-A841-B577-96DC-09448BC6A843}"/>
              </a:ext>
            </a:extLst>
          </p:cNvPr>
          <p:cNvSpPr/>
          <p:nvPr/>
        </p:nvSpPr>
        <p:spPr>
          <a:xfrm>
            <a:off x="6233365" y="3718169"/>
            <a:ext cx="45719" cy="1306949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2F5C7EC-6A38-FCE4-8AE4-2F53F16F56E4}"/>
              </a:ext>
            </a:extLst>
          </p:cNvPr>
          <p:cNvSpPr/>
          <p:nvPr/>
        </p:nvSpPr>
        <p:spPr>
          <a:xfrm>
            <a:off x="6771992" y="3718169"/>
            <a:ext cx="5337134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AF1A232-9428-F3E2-D223-5F1241BE75F9}"/>
              </a:ext>
            </a:extLst>
          </p:cNvPr>
          <p:cNvSpPr/>
          <p:nvPr/>
        </p:nvSpPr>
        <p:spPr>
          <a:xfrm>
            <a:off x="7052464" y="3914860"/>
            <a:ext cx="23230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413B092-657F-F8D7-DC94-DF9EB4052F4F}"/>
              </a:ext>
            </a:extLst>
          </p:cNvPr>
          <p:cNvSpPr/>
          <p:nvPr/>
        </p:nvSpPr>
        <p:spPr>
          <a:xfrm>
            <a:off x="7052464" y="4426949"/>
            <a:ext cx="46867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Trims whitespace and normalizes author delimiters.</a:t>
            </a: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CD0E1A2-B45E-FA14-99C4-69E58EB3C0AB}"/>
              </a:ext>
            </a:extLst>
          </p:cNvPr>
          <p:cNvSpPr/>
          <p:nvPr/>
        </p:nvSpPr>
        <p:spPr>
          <a:xfrm>
            <a:off x="5949878" y="4088096"/>
            <a:ext cx="464557" cy="566976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481C1336-811F-31B1-0B28-A09078CE3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563" y="4194419"/>
            <a:ext cx="232279" cy="354330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9BDECF28-E1FA-A99D-57D3-B95DD7744BAB}"/>
              </a:ext>
            </a:extLst>
          </p:cNvPr>
          <p:cNvSpPr/>
          <p:nvPr/>
        </p:nvSpPr>
        <p:spPr>
          <a:xfrm>
            <a:off x="250582" y="5287889"/>
            <a:ext cx="117751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output is a tidy Data Frame saved to CSV and Excel, simplifying downstream analysis like counting publications by year.</a:t>
            </a:r>
            <a:endParaRPr lang="en-US" sz="1600" dirty="0"/>
          </a:p>
        </p:txBody>
      </p:sp>
      <p:pic>
        <p:nvPicPr>
          <p:cNvPr id="27" name="Audio 26">
            <a:extLst>
              <a:ext uri="{FF2B5EF4-FFF2-40B4-BE49-F238E27FC236}">
                <a16:creationId xmlns:a16="http://schemas.microsoft.com/office/drawing/2014/main" id="{C7C73A2C-DFCD-2F1D-EC34-356105E134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67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759"/>
    </mc:Choice>
    <mc:Fallback>
      <p:transition spd="slow" advTm="727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5FA1-626D-1F61-F2AE-EB2AFD4F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BFADE6-F299-228C-0E30-25EB58B2C403}"/>
              </a:ext>
            </a:extLst>
          </p:cNvPr>
          <p:cNvSpPr/>
          <p:nvPr/>
        </p:nvSpPr>
        <p:spPr>
          <a:xfrm>
            <a:off x="186950" y="177149"/>
            <a:ext cx="8892302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Walkthrough: End-to-End Execution</a:t>
            </a:r>
            <a:endParaRPr lang="en-US" sz="3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40AF5DA-4D03-DAD9-2D0B-08EA52B67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50" y="991314"/>
            <a:ext cx="4176820" cy="5117068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7939C4B-C20B-E6C2-809A-B2926234AC66}"/>
              </a:ext>
            </a:extLst>
          </p:cNvPr>
          <p:cNvSpPr/>
          <p:nvPr/>
        </p:nvSpPr>
        <p:spPr>
          <a:xfrm>
            <a:off x="4718179" y="991314"/>
            <a:ext cx="7286871" cy="517208"/>
          </a:xfrm>
          <a:prstGeom prst="roundRect">
            <a:avLst>
              <a:gd name="adj" fmla="val 480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AA9D92D-0F93-C0FF-3B34-3B00B523ED87}"/>
              </a:ext>
            </a:extLst>
          </p:cNvPr>
          <p:cNvSpPr/>
          <p:nvPr/>
        </p:nvSpPr>
        <p:spPr>
          <a:xfrm>
            <a:off x="8531751" y="1088231"/>
            <a:ext cx="25860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66B46ED-4259-E9CB-4302-D9088EFD2EAA}"/>
              </a:ext>
            </a:extLst>
          </p:cNvPr>
          <p:cNvSpPr/>
          <p:nvPr/>
        </p:nvSpPr>
        <p:spPr>
          <a:xfrm>
            <a:off x="4890581" y="1680924"/>
            <a:ext cx="215503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Script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7BAA6FD-658B-1FCA-C6AA-B9F5C1DA9522}"/>
              </a:ext>
            </a:extLst>
          </p:cNvPr>
          <p:cNvSpPr/>
          <p:nvPr/>
        </p:nvSpPr>
        <p:spPr>
          <a:xfrm>
            <a:off x="4890580" y="2122646"/>
            <a:ext cx="711446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demo.py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FEF3B79-2F8E-5D90-9456-82A8091439FB}"/>
              </a:ext>
            </a:extLst>
          </p:cNvPr>
          <p:cNvSpPr/>
          <p:nvPr/>
        </p:nvSpPr>
        <p:spPr>
          <a:xfrm>
            <a:off x="4718179" y="2743200"/>
            <a:ext cx="7286871" cy="517208"/>
          </a:xfrm>
          <a:prstGeom prst="roundRect">
            <a:avLst>
              <a:gd name="adj" fmla="val 480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3982EBA-D20B-87DA-1EB9-439641FA6556}"/>
              </a:ext>
            </a:extLst>
          </p:cNvPr>
          <p:cNvSpPr/>
          <p:nvPr/>
        </p:nvSpPr>
        <p:spPr>
          <a:xfrm>
            <a:off x="8531751" y="2840117"/>
            <a:ext cx="25860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D93E41-7467-593C-6E46-D87AD8385FFE}"/>
              </a:ext>
            </a:extLst>
          </p:cNvPr>
          <p:cNvSpPr/>
          <p:nvPr/>
        </p:nvSpPr>
        <p:spPr>
          <a:xfrm>
            <a:off x="4890581" y="3432810"/>
            <a:ext cx="215503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 Sample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776455D-7947-C7EC-FEFA-CA1FED3870D3}"/>
              </a:ext>
            </a:extLst>
          </p:cNvPr>
          <p:cNvSpPr/>
          <p:nvPr/>
        </p:nvSpPr>
        <p:spPr>
          <a:xfrm>
            <a:off x="4890581" y="3874532"/>
            <a:ext cx="711446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reads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sample_page.html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processes it through the pipeline.</a:t>
            </a:r>
            <a:endParaRPr lang="en-US" sz="12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A82E62-50A5-02E3-F5F1-DF6D4CD78D37}"/>
              </a:ext>
            </a:extLst>
          </p:cNvPr>
          <p:cNvSpPr/>
          <p:nvPr/>
        </p:nvSpPr>
        <p:spPr>
          <a:xfrm>
            <a:off x="4718179" y="4495085"/>
            <a:ext cx="7286871" cy="517208"/>
          </a:xfrm>
          <a:prstGeom prst="roundRect">
            <a:avLst>
              <a:gd name="adj" fmla="val 480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8E65EA8-4F8E-4DB1-D024-8F74E36E8511}"/>
              </a:ext>
            </a:extLst>
          </p:cNvPr>
          <p:cNvSpPr/>
          <p:nvPr/>
        </p:nvSpPr>
        <p:spPr>
          <a:xfrm>
            <a:off x="8531751" y="4592002"/>
            <a:ext cx="25860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6F11521-CF2A-4AD9-756A-A04C045858C3}"/>
              </a:ext>
            </a:extLst>
          </p:cNvPr>
          <p:cNvSpPr/>
          <p:nvPr/>
        </p:nvSpPr>
        <p:spPr>
          <a:xfrm>
            <a:off x="4890581" y="5184695"/>
            <a:ext cx="215503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Preview &amp; Export</a:t>
            </a:r>
            <a:endParaRPr lang="en-US" sz="1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5CCC9EA-C144-1F26-9F9A-5B62408F9A56}"/>
              </a:ext>
            </a:extLst>
          </p:cNvPr>
          <p:cNvSpPr/>
          <p:nvPr/>
        </p:nvSpPr>
        <p:spPr>
          <a:xfrm>
            <a:off x="4890581" y="5626417"/>
            <a:ext cx="711446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 a Data Frame preview and writes outputs to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B96E4D6-4D89-3A2D-E28E-5CBB29D79E36}"/>
              </a:ext>
            </a:extLst>
          </p:cNvPr>
          <p:cNvSpPr/>
          <p:nvPr/>
        </p:nvSpPr>
        <p:spPr>
          <a:xfrm>
            <a:off x="4718179" y="6074569"/>
            <a:ext cx="7286871" cy="62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GB" sz="1200" noProof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demo highlight's function and traceability, showing log entries, record counts, and exported files without external connectivity. Screenshots of the successful run are included in the </a:t>
            </a:r>
            <a:r>
              <a:rPr lang="en-GB" sz="1200" noProof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r>
              <a:rPr lang="en-GB" sz="1200" noProof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folder.</a:t>
            </a:r>
            <a:endParaRPr lang="en-GB" sz="1200" noProof="0" dirty="0"/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AE142A7E-B0FC-41A5-7C45-E8B2A7C685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39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804"/>
    </mc:Choice>
    <mc:Fallback>
      <p:transition spd="slow" advTm="1188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A9FE-A843-D991-A7D1-8A4FB1EE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89AAC7-5038-7367-80BC-63D0E8AF88E7}"/>
              </a:ext>
            </a:extLst>
          </p:cNvPr>
          <p:cNvSpPr/>
          <p:nvPr/>
        </p:nvSpPr>
        <p:spPr>
          <a:xfrm>
            <a:off x="313325" y="120472"/>
            <a:ext cx="5976104" cy="46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Strategy and Traceability</a:t>
            </a:r>
            <a:endParaRPr lang="en-US" sz="3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C5FB430-58D4-EDC0-F0F8-7895956F8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25" y="879019"/>
            <a:ext cx="5606519" cy="369298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F10E78F-FC49-4888-BCF5-37EF8456FB17}"/>
              </a:ext>
            </a:extLst>
          </p:cNvPr>
          <p:cNvSpPr/>
          <p:nvPr/>
        </p:nvSpPr>
        <p:spPr>
          <a:xfrm>
            <a:off x="313325" y="5384246"/>
            <a:ext cx="1547288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E344997-8B76-7AAB-8BF5-DCAFDA28014E}"/>
              </a:ext>
            </a:extLst>
          </p:cNvPr>
          <p:cNvSpPr/>
          <p:nvPr/>
        </p:nvSpPr>
        <p:spPr>
          <a:xfrm>
            <a:off x="313325" y="5704167"/>
            <a:ext cx="5606519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parsing functions against known HTML snippets, covering edge cases like missing authors or malformed years.</a:t>
            </a:r>
            <a:endParaRPr lang="en-US" sz="12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EE9DC05-7C3B-90B6-434E-AD1255DD7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158" y="879019"/>
            <a:ext cx="5451270" cy="369298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4B344BF-436B-A7F0-62C5-245098E41227}"/>
              </a:ext>
            </a:extLst>
          </p:cNvPr>
          <p:cNvSpPr/>
          <p:nvPr/>
        </p:nvSpPr>
        <p:spPr>
          <a:xfrm>
            <a:off x="6289429" y="5384246"/>
            <a:ext cx="1547288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Tests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5D3B9E9-1AAC-AE8E-9DFA-AE9D40F70272}"/>
              </a:ext>
            </a:extLst>
          </p:cNvPr>
          <p:cNvSpPr/>
          <p:nvPr/>
        </p:nvSpPr>
        <p:spPr>
          <a:xfrm>
            <a:off x="6289429" y="5704167"/>
            <a:ext cx="5606519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full pipeline on the bundled sample and assert that output files exist and contain at least one row.</a:t>
            </a:r>
            <a:endParaRPr lang="en-US" sz="1200" dirty="0"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9945777A-A91E-2C24-A715-825599231F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18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33"/>
    </mc:Choice>
    <mc:Fallback>
      <p:transition spd="slow" advTm="491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56FC-5889-12BD-2AF6-F25C24BF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4F5BDE0-3D42-0359-0FC7-DA52A0935C94}"/>
              </a:ext>
            </a:extLst>
          </p:cNvPr>
          <p:cNvSpPr/>
          <p:nvPr/>
        </p:nvSpPr>
        <p:spPr>
          <a:xfrm>
            <a:off x="288315" y="738291"/>
            <a:ext cx="11615370" cy="28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successfully generated a structured table of papers, which was used to produce a simple year distribution chart.</a:t>
            </a:r>
            <a:endParaRPr lang="en-US" sz="1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F071D12-6729-812A-66DB-00CEBC57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78" y="1101357"/>
            <a:ext cx="5146331" cy="451222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478269F-8AE6-644D-DA53-43C60008D1D2}"/>
              </a:ext>
            </a:extLst>
          </p:cNvPr>
          <p:cNvSpPr/>
          <p:nvPr/>
        </p:nvSpPr>
        <p:spPr>
          <a:xfrm>
            <a:off x="285478" y="5923617"/>
            <a:ext cx="11233232" cy="28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Screenshots capture terminal output, test passes, and the exported files (CSV/Excel). These artifacts are mapped in the README for quick cross-checking by a marker.</a:t>
            </a:r>
            <a:endParaRPr lang="en-US" sz="12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63FFADD5-899E-E420-A0ED-F73B9EE302A0}"/>
              </a:ext>
            </a:extLst>
          </p:cNvPr>
          <p:cNvSpPr/>
          <p:nvPr/>
        </p:nvSpPr>
        <p:spPr>
          <a:xfrm>
            <a:off x="285478" y="195826"/>
            <a:ext cx="3962281" cy="47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and Evidence</a:t>
            </a:r>
            <a:endParaRPr lang="en-US" sz="3200" dirty="0"/>
          </a:p>
        </p:txBody>
      </p:sp>
      <p:pic>
        <p:nvPicPr>
          <p:cNvPr id="8" name="Picture 7" descr="A graph showing the number of bars&#10;&#10;AI-generated content may be incorrect.">
            <a:extLst>
              <a:ext uri="{FF2B5EF4-FFF2-40B4-BE49-F238E27FC236}">
                <a16:creationId xmlns:a16="http://schemas.microsoft.com/office/drawing/2014/main" id="{3000B242-1614-7C6C-AB20-3864821E79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859" y="1101357"/>
            <a:ext cx="6000826" cy="4512229"/>
          </a:xfrm>
          <a:prstGeom prst="rect">
            <a:avLst/>
          </a:prstGeom>
        </p:spPr>
      </p:pic>
      <p:pic>
        <p:nvPicPr>
          <p:cNvPr id="7" name="Audio 6">
            <a:extLst>
              <a:ext uri="{FF2B5EF4-FFF2-40B4-BE49-F238E27FC236}">
                <a16:creationId xmlns:a16="http://schemas.microsoft.com/office/drawing/2014/main" id="{F9EB5896-0DAE-3361-298C-194CB4943B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28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76"/>
    </mc:Choice>
    <mc:Fallback>
      <p:transition spd="slow" advTm="335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2068-2104-0169-3B12-AFC139F7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56C084-D764-197C-3898-03E224468224}"/>
              </a:ext>
            </a:extLst>
          </p:cNvPr>
          <p:cNvSpPr/>
          <p:nvPr/>
        </p:nvSpPr>
        <p:spPr>
          <a:xfrm>
            <a:off x="275175" y="187080"/>
            <a:ext cx="94885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Decisions and Future Work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11141F-716E-9ED6-5543-04C847676BEB}"/>
              </a:ext>
            </a:extLst>
          </p:cNvPr>
          <p:cNvSpPr/>
          <p:nvPr/>
        </p:nvSpPr>
        <p:spPr>
          <a:xfrm>
            <a:off x="275176" y="3246151"/>
            <a:ext cx="11557434" cy="45719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5BAD13-7437-4390-3C21-FFC05325ADEC}"/>
              </a:ext>
            </a:extLst>
          </p:cNvPr>
          <p:cNvSpPr/>
          <p:nvPr/>
        </p:nvSpPr>
        <p:spPr>
          <a:xfrm>
            <a:off x="2291676" y="2786928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948BE3-8A0D-E398-428A-4EA92BBA8618}"/>
              </a:ext>
            </a:extLst>
          </p:cNvPr>
          <p:cNvSpPr/>
          <p:nvPr/>
        </p:nvSpPr>
        <p:spPr>
          <a:xfrm>
            <a:off x="2221906" y="3155546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70A18C-EEA8-8B18-FFFC-85C5A925655B}"/>
              </a:ext>
            </a:extLst>
          </p:cNvPr>
          <p:cNvSpPr/>
          <p:nvPr/>
        </p:nvSpPr>
        <p:spPr>
          <a:xfrm>
            <a:off x="904538" y="1438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Ecosystem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5B8CA8-BC7D-E448-C522-7510DC91B8F8}"/>
              </a:ext>
            </a:extLst>
          </p:cNvPr>
          <p:cNvSpPr/>
          <p:nvPr/>
        </p:nvSpPr>
        <p:spPr>
          <a:xfrm>
            <a:off x="275175" y="1882470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readability and rich data handling libraries (Pandas).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9A93856-6347-3500-1BB6-E0FFDED5C24C}"/>
              </a:ext>
            </a:extLst>
          </p:cNvPr>
          <p:cNvSpPr/>
          <p:nvPr/>
        </p:nvSpPr>
        <p:spPr>
          <a:xfrm>
            <a:off x="3674469" y="3246152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C3E48A-6EF8-C10F-DEC2-AB238DBB5B31}"/>
              </a:ext>
            </a:extLst>
          </p:cNvPr>
          <p:cNvSpPr/>
          <p:nvPr/>
        </p:nvSpPr>
        <p:spPr>
          <a:xfrm>
            <a:off x="3604699" y="3161142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589431-2D54-47FB-8115-92917C696381}"/>
              </a:ext>
            </a:extLst>
          </p:cNvPr>
          <p:cNvSpPr/>
          <p:nvPr/>
        </p:nvSpPr>
        <p:spPr>
          <a:xfrm>
            <a:off x="2256851" y="3994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vs. Dynamic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26AC48-5E7E-B989-B138-70536AF018AB}"/>
              </a:ext>
            </a:extLst>
          </p:cNvPr>
          <p:cNvSpPr/>
          <p:nvPr/>
        </p:nvSpPr>
        <p:spPr>
          <a:xfrm>
            <a:off x="1307983" y="4451064"/>
            <a:ext cx="45934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 Soup for speed; Selenium isolated for optional dynamic content (a trade-off).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2F00499-312C-A57B-F4DD-0E09D6E0245A}"/>
              </a:ext>
            </a:extLst>
          </p:cNvPr>
          <p:cNvSpPr/>
          <p:nvPr/>
        </p:nvSpPr>
        <p:spPr>
          <a:xfrm>
            <a:off x="8113893" y="279252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06001A-070F-E510-7269-47EACB6A93F6}"/>
              </a:ext>
            </a:extLst>
          </p:cNvPr>
          <p:cNvSpPr/>
          <p:nvPr/>
        </p:nvSpPr>
        <p:spPr>
          <a:xfrm>
            <a:off x="8044122" y="3161142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395E00-DEF7-1E8C-A28B-6BAB52A1DB95}"/>
              </a:ext>
            </a:extLst>
          </p:cNvPr>
          <p:cNvSpPr/>
          <p:nvPr/>
        </p:nvSpPr>
        <p:spPr>
          <a:xfrm>
            <a:off x="6711455" y="1349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Modularity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2DC080-D4F8-732F-CDC3-FD43C2B8E2DB}"/>
              </a:ext>
            </a:extLst>
          </p:cNvPr>
          <p:cNvSpPr/>
          <p:nvPr/>
        </p:nvSpPr>
        <p:spPr>
          <a:xfrm>
            <a:off x="5832417" y="1839905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responsibilities support future extensions (e.g., semantic filters).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51D0877-0558-2B4D-47DF-AD0615D10C13}"/>
              </a:ext>
            </a:extLst>
          </p:cNvPr>
          <p:cNvSpPr/>
          <p:nvPr/>
        </p:nvSpPr>
        <p:spPr>
          <a:xfrm>
            <a:off x="9730862" y="3246152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EC8B1D4-A3DB-B1E5-5CB5-79C6588C0D00}"/>
              </a:ext>
            </a:extLst>
          </p:cNvPr>
          <p:cNvSpPr/>
          <p:nvPr/>
        </p:nvSpPr>
        <p:spPr>
          <a:xfrm>
            <a:off x="9661091" y="3161142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93FAC3A-B1AD-BF39-379B-CC1818C6AC19}"/>
              </a:ext>
            </a:extLst>
          </p:cNvPr>
          <p:cNvSpPr/>
          <p:nvPr/>
        </p:nvSpPr>
        <p:spPr>
          <a:xfrm>
            <a:off x="8113893" y="3920879"/>
            <a:ext cx="35079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Future: Agent Framework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99C2E5A-6FE8-2C20-5B49-DFD79BEF6529}"/>
              </a:ext>
            </a:extLst>
          </p:cNvPr>
          <p:cNvSpPr/>
          <p:nvPr/>
        </p:nvSpPr>
        <p:spPr>
          <a:xfrm>
            <a:off x="7598570" y="4419805"/>
            <a:ext cx="4438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integrate a full BDI framework (like SPADE) for belief updates and failure handling.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34EF88-5C17-A9CB-FF03-4FFF114DAF47}"/>
              </a:ext>
            </a:extLst>
          </p:cNvPr>
          <p:cNvSpPr/>
          <p:nvPr/>
        </p:nvSpPr>
        <p:spPr>
          <a:xfrm>
            <a:off x="275176" y="5760871"/>
            <a:ext cx="1155743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include reliance on bundled HTML for portability: real world pages require specialized parsers. Future work includes semantic ranking, duplicate detection, and active learning to refine filters.</a:t>
            </a:r>
            <a:endParaRPr lang="en-US" sz="1600" dirty="0"/>
          </a:p>
        </p:txBody>
      </p:sp>
      <p:pic>
        <p:nvPicPr>
          <p:cNvPr id="22" name="Audio 21">
            <a:extLst>
              <a:ext uri="{FF2B5EF4-FFF2-40B4-BE49-F238E27FC236}">
                <a16:creationId xmlns:a16="http://schemas.microsoft.com/office/drawing/2014/main" id="{EB42A8B6-55A0-D334-5AC9-8969C69E6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54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884"/>
    </mc:Choice>
    <mc:Fallback>
      <p:transition spd="slow" advTm="518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561154-FE40-1B30-428F-C5927110D17D}"/>
              </a:ext>
            </a:extLst>
          </p:cNvPr>
          <p:cNvSpPr txBox="1"/>
          <p:nvPr/>
        </p:nvSpPr>
        <p:spPr>
          <a:xfrm>
            <a:off x="461727" y="385113"/>
            <a:ext cx="11045227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References:</a:t>
            </a:r>
          </a:p>
          <a:p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  <a:p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Bellifemine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, F., Caire, G. and Greenwood, D. (2007) Developing multi-agent systems with JADE. Chichester: John Wiley &amp; Sons.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Booch, G., Rumbaugh, J. and Jacobson, I. (2005) The Unified Modelling Language user guide. 2nd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edn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 Boston: Addison-Wesley.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Lutz, M. (2013) Learning Python. 5th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edn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 Sebastopol: O’Reilly Media.</a:t>
            </a:r>
          </a:p>
          <a:p>
            <a:endParaRPr lang="en-US" sz="16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McKinney, W. (2012) Python for data analysis: Data wrangling with pandas, NumPy, and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IPython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 Sebastopol: O’Reilly Media.</a:t>
            </a:r>
          </a:p>
          <a:p>
            <a:endParaRPr lang="en-US" sz="16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Mitchell, R. (2018) Web scraping with Python: Collecting data from the modern web. 2nd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edn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 Sebastopol: O’Reilly Media. </a:t>
            </a:r>
          </a:p>
          <a:p>
            <a:endParaRPr lang="en-US" sz="16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Pressman, R. and Maxim, B. (2020) Software engineering: A practitioner’s approach. 9th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edn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 New York: McGraw-Hill. </a:t>
            </a:r>
          </a:p>
          <a:p>
            <a:endParaRPr lang="en-US" sz="16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Van Rossum, G. and Drake, F. (2009) Python 3 reference manual. Scotts Valley: CreateSpace. </a:t>
            </a:r>
          </a:p>
          <a:p>
            <a:endParaRPr lang="en-US" sz="16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Wooldridge, M. (2009) An introduction to multi-agent systems. 2nd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edn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 Chichester: John Wiley &amp; Sons. </a:t>
            </a:r>
          </a:p>
          <a:p>
            <a:endParaRPr lang="en-US" sz="16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University of Essex Online (2025) Intelligent Agents Development: Individual Project Presentation, Unit 11 assignment brief. Module resource.</a:t>
            </a:r>
          </a:p>
        </p:txBody>
      </p:sp>
      <p:pic>
        <p:nvPicPr>
          <p:cNvPr id="3" name="Audio 2">
            <a:extLst>
              <a:ext uri="{FF2B5EF4-FFF2-40B4-BE49-F238E27FC236}">
                <a16:creationId xmlns:a16="http://schemas.microsoft.com/office/drawing/2014/main" id="{B2A49D75-5A21-289A-3D20-2CB701A87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45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23"/>
    </mc:Choice>
    <mc:Fallback>
      <p:transition spd="slow" advTm="66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965</Words>
  <Application>Microsoft Macintosh PowerPoint</Application>
  <PresentationFormat>Widescreen</PresentationFormat>
  <Paragraphs>99</Paragraphs>
  <Slides>11</Slides>
  <Notes>1</Notes>
  <HiddenSlides>0</HiddenSlides>
  <MMClips>11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ALHASHMI</dc:creator>
  <cp:lastModifiedBy>Fatima Al Breiki</cp:lastModifiedBy>
  <cp:revision>6</cp:revision>
  <dcterms:created xsi:type="dcterms:W3CDTF">2025-10-11T20:51:08Z</dcterms:created>
  <dcterms:modified xsi:type="dcterms:W3CDTF">2025-10-13T04:30:23Z</dcterms:modified>
</cp:coreProperties>
</file>