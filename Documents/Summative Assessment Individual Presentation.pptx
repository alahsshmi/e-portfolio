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5" r:id="rId10"/>
    <p:sldId id="269" r:id="rId11"/>
    <p:sldId id="266" r:id="rId12"/>
    <p:sldId id="270" r:id="rId13"/>
    <p:sldId id="267"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4" autoAdjust="0"/>
    <p:restoredTop sz="94676"/>
  </p:normalViewPr>
  <p:slideViewPr>
    <p:cSldViewPr snapToGrid="0">
      <p:cViewPr varScale="1">
        <p:scale>
          <a:sx n="90" d="100"/>
          <a:sy n="90" d="100"/>
        </p:scale>
        <p:origin x="208"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871F25-AE24-4D75-8CDE-AD7DEBEBC84E}" type="datetimeFigureOut">
              <a:rPr lang="en-US" smtClean="0"/>
              <a:t>10/13/25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49DDC6-0D0B-4A5A-9AB9-0F1D080CF17B}" type="slidenum">
              <a:rPr lang="en-US" smtClean="0"/>
              <a:t>‹#›</a:t>
            </a:fld>
            <a:endParaRPr lang="en-US" dirty="0"/>
          </a:p>
        </p:txBody>
      </p:sp>
    </p:spTree>
    <p:extLst>
      <p:ext uri="{BB962C8B-B14F-4D97-AF65-F5344CB8AC3E}">
        <p14:creationId xmlns:p14="http://schemas.microsoft.com/office/powerpoint/2010/main" val="679733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49DDC6-0D0B-4A5A-9AB9-0F1D080CF17B}" type="slidenum">
              <a:rPr lang="en-US" smtClean="0"/>
              <a:t>7</a:t>
            </a:fld>
            <a:endParaRPr lang="en-US" dirty="0"/>
          </a:p>
        </p:txBody>
      </p:sp>
    </p:spTree>
    <p:extLst>
      <p:ext uri="{BB962C8B-B14F-4D97-AF65-F5344CB8AC3E}">
        <p14:creationId xmlns:p14="http://schemas.microsoft.com/office/powerpoint/2010/main" val="29066635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8142E-27B8-DE98-9808-E9D9B38A746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7B26C53-8FB5-D648-F31E-8A24320E99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444A391-87A9-54A4-2842-34A750221792}"/>
              </a:ext>
            </a:extLst>
          </p:cNvPr>
          <p:cNvSpPr>
            <a:spLocks noGrp="1"/>
          </p:cNvSpPr>
          <p:nvPr>
            <p:ph type="dt" sz="half" idx="10"/>
          </p:nvPr>
        </p:nvSpPr>
        <p:spPr/>
        <p:txBody>
          <a:bodyPr/>
          <a:lstStyle/>
          <a:p>
            <a:fld id="{2DF2E4D0-50EF-4ECF-B898-87BEF2B5E9E2}" type="datetimeFigureOut">
              <a:rPr lang="en-US" smtClean="0"/>
              <a:t>10/13/25</a:t>
            </a:fld>
            <a:endParaRPr lang="en-US" dirty="0"/>
          </a:p>
        </p:txBody>
      </p:sp>
      <p:sp>
        <p:nvSpPr>
          <p:cNvPr id="5" name="Footer Placeholder 4">
            <a:extLst>
              <a:ext uri="{FF2B5EF4-FFF2-40B4-BE49-F238E27FC236}">
                <a16:creationId xmlns:a16="http://schemas.microsoft.com/office/drawing/2014/main" id="{6CB51EA2-EF08-1969-10DA-FFC9ECC8CF0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7D4714E-2636-655B-D3C6-48C44A3E5DBE}"/>
              </a:ext>
            </a:extLst>
          </p:cNvPr>
          <p:cNvSpPr>
            <a:spLocks noGrp="1"/>
          </p:cNvSpPr>
          <p:nvPr>
            <p:ph type="sldNum" sz="quarter" idx="12"/>
          </p:nvPr>
        </p:nvSpPr>
        <p:spPr/>
        <p:txBody>
          <a:bodyPr/>
          <a:lstStyle/>
          <a:p>
            <a:fld id="{0AF87095-216D-4574-A4E8-58F09D3B5C1F}" type="slidenum">
              <a:rPr lang="en-US" smtClean="0"/>
              <a:t>‹#›</a:t>
            </a:fld>
            <a:endParaRPr lang="en-US" dirty="0"/>
          </a:p>
        </p:txBody>
      </p:sp>
    </p:spTree>
    <p:extLst>
      <p:ext uri="{BB962C8B-B14F-4D97-AF65-F5344CB8AC3E}">
        <p14:creationId xmlns:p14="http://schemas.microsoft.com/office/powerpoint/2010/main" val="35170965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F27C9-730C-55CD-9A4F-13FBBE1444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23FFF8C-C5B0-A889-1006-F6D99ECF24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29A9BE-BCDB-0A26-A495-D7AE24C092F2}"/>
              </a:ext>
            </a:extLst>
          </p:cNvPr>
          <p:cNvSpPr>
            <a:spLocks noGrp="1"/>
          </p:cNvSpPr>
          <p:nvPr>
            <p:ph type="dt" sz="half" idx="10"/>
          </p:nvPr>
        </p:nvSpPr>
        <p:spPr/>
        <p:txBody>
          <a:bodyPr/>
          <a:lstStyle/>
          <a:p>
            <a:fld id="{2DF2E4D0-50EF-4ECF-B898-87BEF2B5E9E2}" type="datetimeFigureOut">
              <a:rPr lang="en-US" smtClean="0"/>
              <a:t>10/13/25</a:t>
            </a:fld>
            <a:endParaRPr lang="en-US" dirty="0"/>
          </a:p>
        </p:txBody>
      </p:sp>
      <p:sp>
        <p:nvSpPr>
          <p:cNvPr id="5" name="Footer Placeholder 4">
            <a:extLst>
              <a:ext uri="{FF2B5EF4-FFF2-40B4-BE49-F238E27FC236}">
                <a16:creationId xmlns:a16="http://schemas.microsoft.com/office/drawing/2014/main" id="{B1268BC5-C298-D702-F896-99C549468F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3AC146C-EF57-5FB6-55D3-AAC0A9F29309}"/>
              </a:ext>
            </a:extLst>
          </p:cNvPr>
          <p:cNvSpPr>
            <a:spLocks noGrp="1"/>
          </p:cNvSpPr>
          <p:nvPr>
            <p:ph type="sldNum" sz="quarter" idx="12"/>
          </p:nvPr>
        </p:nvSpPr>
        <p:spPr/>
        <p:txBody>
          <a:bodyPr/>
          <a:lstStyle/>
          <a:p>
            <a:fld id="{0AF87095-216D-4574-A4E8-58F09D3B5C1F}" type="slidenum">
              <a:rPr lang="en-US" smtClean="0"/>
              <a:t>‹#›</a:t>
            </a:fld>
            <a:endParaRPr lang="en-US" dirty="0"/>
          </a:p>
        </p:txBody>
      </p:sp>
    </p:spTree>
    <p:extLst>
      <p:ext uri="{BB962C8B-B14F-4D97-AF65-F5344CB8AC3E}">
        <p14:creationId xmlns:p14="http://schemas.microsoft.com/office/powerpoint/2010/main" val="2995544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8CAD4-7922-CBEF-F750-293C1471A30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D8AA79C-3995-E34B-77C4-E7692F76C23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6B9AA51-EC23-179F-7F83-75A10E9EA51B}"/>
              </a:ext>
            </a:extLst>
          </p:cNvPr>
          <p:cNvSpPr>
            <a:spLocks noGrp="1"/>
          </p:cNvSpPr>
          <p:nvPr>
            <p:ph type="dt" sz="half" idx="10"/>
          </p:nvPr>
        </p:nvSpPr>
        <p:spPr/>
        <p:txBody>
          <a:bodyPr/>
          <a:lstStyle/>
          <a:p>
            <a:fld id="{2DF2E4D0-50EF-4ECF-B898-87BEF2B5E9E2}" type="datetimeFigureOut">
              <a:rPr lang="en-US" smtClean="0"/>
              <a:t>10/13/25</a:t>
            </a:fld>
            <a:endParaRPr lang="en-US" dirty="0"/>
          </a:p>
        </p:txBody>
      </p:sp>
      <p:sp>
        <p:nvSpPr>
          <p:cNvPr id="5" name="Footer Placeholder 4">
            <a:extLst>
              <a:ext uri="{FF2B5EF4-FFF2-40B4-BE49-F238E27FC236}">
                <a16:creationId xmlns:a16="http://schemas.microsoft.com/office/drawing/2014/main" id="{469263A5-2BD7-363F-C3A1-FE33AF4DFE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14895F7-DA28-0881-E796-1FFF0D10C573}"/>
              </a:ext>
            </a:extLst>
          </p:cNvPr>
          <p:cNvSpPr>
            <a:spLocks noGrp="1"/>
          </p:cNvSpPr>
          <p:nvPr>
            <p:ph type="sldNum" sz="quarter" idx="12"/>
          </p:nvPr>
        </p:nvSpPr>
        <p:spPr/>
        <p:txBody>
          <a:bodyPr/>
          <a:lstStyle/>
          <a:p>
            <a:fld id="{0AF87095-216D-4574-A4E8-58F09D3B5C1F}" type="slidenum">
              <a:rPr lang="en-US" smtClean="0"/>
              <a:t>‹#›</a:t>
            </a:fld>
            <a:endParaRPr lang="en-US" dirty="0"/>
          </a:p>
        </p:txBody>
      </p:sp>
    </p:spTree>
    <p:extLst>
      <p:ext uri="{BB962C8B-B14F-4D97-AF65-F5344CB8AC3E}">
        <p14:creationId xmlns:p14="http://schemas.microsoft.com/office/powerpoint/2010/main" val="30319186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0351F-4B66-9511-9CB6-ABC5AC2C1F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3E1042-6241-1C7B-25F6-4BCDEEDD52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988B469-55B6-0A08-1A94-F3042EE6A69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E9AA5AA-0331-6BEE-E8C3-98373A53D105}"/>
              </a:ext>
            </a:extLst>
          </p:cNvPr>
          <p:cNvSpPr>
            <a:spLocks noGrp="1"/>
          </p:cNvSpPr>
          <p:nvPr>
            <p:ph type="dt" sz="half" idx="10"/>
          </p:nvPr>
        </p:nvSpPr>
        <p:spPr/>
        <p:txBody>
          <a:bodyPr/>
          <a:lstStyle/>
          <a:p>
            <a:fld id="{2DF2E4D0-50EF-4ECF-B898-87BEF2B5E9E2}" type="datetimeFigureOut">
              <a:rPr lang="en-US" smtClean="0"/>
              <a:t>10/13/25</a:t>
            </a:fld>
            <a:endParaRPr lang="en-US" dirty="0"/>
          </a:p>
        </p:txBody>
      </p:sp>
      <p:sp>
        <p:nvSpPr>
          <p:cNvPr id="6" name="Footer Placeholder 5">
            <a:extLst>
              <a:ext uri="{FF2B5EF4-FFF2-40B4-BE49-F238E27FC236}">
                <a16:creationId xmlns:a16="http://schemas.microsoft.com/office/drawing/2014/main" id="{B5AFF76A-1BF5-E929-9E19-B6245DC00DA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211BE48-80FE-1975-B9BC-68956CD46C1A}"/>
              </a:ext>
            </a:extLst>
          </p:cNvPr>
          <p:cNvSpPr>
            <a:spLocks noGrp="1"/>
          </p:cNvSpPr>
          <p:nvPr>
            <p:ph type="sldNum" sz="quarter" idx="12"/>
          </p:nvPr>
        </p:nvSpPr>
        <p:spPr/>
        <p:txBody>
          <a:bodyPr/>
          <a:lstStyle/>
          <a:p>
            <a:fld id="{0AF87095-216D-4574-A4E8-58F09D3B5C1F}" type="slidenum">
              <a:rPr lang="en-US" smtClean="0"/>
              <a:t>‹#›</a:t>
            </a:fld>
            <a:endParaRPr lang="en-US" dirty="0"/>
          </a:p>
        </p:txBody>
      </p:sp>
    </p:spTree>
    <p:extLst>
      <p:ext uri="{BB962C8B-B14F-4D97-AF65-F5344CB8AC3E}">
        <p14:creationId xmlns:p14="http://schemas.microsoft.com/office/powerpoint/2010/main" val="1737645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BD981-12C6-FCC9-9DF0-E97830C661F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A91801B-FC91-B453-D515-060D48B229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0163D0-6D10-7975-E074-08EDF764AC3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DC70B53-AD80-84AE-2679-2A954E9519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5590B2-314B-8937-94B8-B24B02FAE8D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312E4BA-AC27-9C3C-7D6C-043BB3808AF4}"/>
              </a:ext>
            </a:extLst>
          </p:cNvPr>
          <p:cNvSpPr>
            <a:spLocks noGrp="1"/>
          </p:cNvSpPr>
          <p:nvPr>
            <p:ph type="dt" sz="half" idx="10"/>
          </p:nvPr>
        </p:nvSpPr>
        <p:spPr/>
        <p:txBody>
          <a:bodyPr/>
          <a:lstStyle/>
          <a:p>
            <a:fld id="{2DF2E4D0-50EF-4ECF-B898-87BEF2B5E9E2}" type="datetimeFigureOut">
              <a:rPr lang="en-US" smtClean="0"/>
              <a:t>10/13/25</a:t>
            </a:fld>
            <a:endParaRPr lang="en-US" dirty="0"/>
          </a:p>
        </p:txBody>
      </p:sp>
      <p:sp>
        <p:nvSpPr>
          <p:cNvPr id="8" name="Footer Placeholder 7">
            <a:extLst>
              <a:ext uri="{FF2B5EF4-FFF2-40B4-BE49-F238E27FC236}">
                <a16:creationId xmlns:a16="http://schemas.microsoft.com/office/drawing/2014/main" id="{42FC324C-6209-3FAB-5EEF-87D1F6EE56D5}"/>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9138190-372D-3E93-E4B8-65A932505FE2}"/>
              </a:ext>
            </a:extLst>
          </p:cNvPr>
          <p:cNvSpPr>
            <a:spLocks noGrp="1"/>
          </p:cNvSpPr>
          <p:nvPr>
            <p:ph type="sldNum" sz="quarter" idx="12"/>
          </p:nvPr>
        </p:nvSpPr>
        <p:spPr/>
        <p:txBody>
          <a:bodyPr/>
          <a:lstStyle/>
          <a:p>
            <a:fld id="{0AF87095-216D-4574-A4E8-58F09D3B5C1F}" type="slidenum">
              <a:rPr lang="en-US" smtClean="0"/>
              <a:t>‹#›</a:t>
            </a:fld>
            <a:endParaRPr lang="en-US" dirty="0"/>
          </a:p>
        </p:txBody>
      </p:sp>
    </p:spTree>
    <p:extLst>
      <p:ext uri="{BB962C8B-B14F-4D97-AF65-F5344CB8AC3E}">
        <p14:creationId xmlns:p14="http://schemas.microsoft.com/office/powerpoint/2010/main" val="2967218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844E2-16D4-DED9-AB5C-4ED5A23ECB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0EFB9E-34EC-52D1-531D-3075941F4FA8}"/>
              </a:ext>
            </a:extLst>
          </p:cNvPr>
          <p:cNvSpPr>
            <a:spLocks noGrp="1"/>
          </p:cNvSpPr>
          <p:nvPr>
            <p:ph type="dt" sz="half" idx="10"/>
          </p:nvPr>
        </p:nvSpPr>
        <p:spPr/>
        <p:txBody>
          <a:bodyPr/>
          <a:lstStyle/>
          <a:p>
            <a:fld id="{2DF2E4D0-50EF-4ECF-B898-87BEF2B5E9E2}" type="datetimeFigureOut">
              <a:rPr lang="en-US" smtClean="0"/>
              <a:t>10/13/25</a:t>
            </a:fld>
            <a:endParaRPr lang="en-US" dirty="0"/>
          </a:p>
        </p:txBody>
      </p:sp>
      <p:sp>
        <p:nvSpPr>
          <p:cNvPr id="4" name="Footer Placeholder 3">
            <a:extLst>
              <a:ext uri="{FF2B5EF4-FFF2-40B4-BE49-F238E27FC236}">
                <a16:creationId xmlns:a16="http://schemas.microsoft.com/office/drawing/2014/main" id="{2BDD5A45-B968-1E68-1193-74BB5FCFCC6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860C3F3E-58C0-19A1-0672-53DCECE8F15F}"/>
              </a:ext>
            </a:extLst>
          </p:cNvPr>
          <p:cNvSpPr>
            <a:spLocks noGrp="1"/>
          </p:cNvSpPr>
          <p:nvPr>
            <p:ph type="sldNum" sz="quarter" idx="12"/>
          </p:nvPr>
        </p:nvSpPr>
        <p:spPr/>
        <p:txBody>
          <a:bodyPr/>
          <a:lstStyle/>
          <a:p>
            <a:fld id="{0AF87095-216D-4574-A4E8-58F09D3B5C1F}" type="slidenum">
              <a:rPr lang="en-US" smtClean="0"/>
              <a:t>‹#›</a:t>
            </a:fld>
            <a:endParaRPr lang="en-US" dirty="0"/>
          </a:p>
        </p:txBody>
      </p:sp>
    </p:spTree>
    <p:extLst>
      <p:ext uri="{BB962C8B-B14F-4D97-AF65-F5344CB8AC3E}">
        <p14:creationId xmlns:p14="http://schemas.microsoft.com/office/powerpoint/2010/main" val="30093591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81AC2E-AB36-0A6A-B553-E554B40617DE}"/>
              </a:ext>
            </a:extLst>
          </p:cNvPr>
          <p:cNvSpPr>
            <a:spLocks noGrp="1"/>
          </p:cNvSpPr>
          <p:nvPr>
            <p:ph type="dt" sz="half" idx="10"/>
          </p:nvPr>
        </p:nvSpPr>
        <p:spPr/>
        <p:txBody>
          <a:bodyPr/>
          <a:lstStyle/>
          <a:p>
            <a:fld id="{2DF2E4D0-50EF-4ECF-B898-87BEF2B5E9E2}" type="datetimeFigureOut">
              <a:rPr lang="en-US" smtClean="0"/>
              <a:t>10/13/25</a:t>
            </a:fld>
            <a:endParaRPr lang="en-US" dirty="0"/>
          </a:p>
        </p:txBody>
      </p:sp>
      <p:sp>
        <p:nvSpPr>
          <p:cNvPr id="3" name="Footer Placeholder 2">
            <a:extLst>
              <a:ext uri="{FF2B5EF4-FFF2-40B4-BE49-F238E27FC236}">
                <a16:creationId xmlns:a16="http://schemas.microsoft.com/office/drawing/2014/main" id="{F2E0C92A-8C36-966B-DE80-A9AF221586F2}"/>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64FBB02C-007C-D865-157E-14BE1D81C3F4}"/>
              </a:ext>
            </a:extLst>
          </p:cNvPr>
          <p:cNvSpPr>
            <a:spLocks noGrp="1"/>
          </p:cNvSpPr>
          <p:nvPr>
            <p:ph type="sldNum" sz="quarter" idx="12"/>
          </p:nvPr>
        </p:nvSpPr>
        <p:spPr/>
        <p:txBody>
          <a:bodyPr/>
          <a:lstStyle/>
          <a:p>
            <a:fld id="{0AF87095-216D-4574-A4E8-58F09D3B5C1F}" type="slidenum">
              <a:rPr lang="en-US" smtClean="0"/>
              <a:t>‹#›</a:t>
            </a:fld>
            <a:endParaRPr lang="en-US" dirty="0"/>
          </a:p>
        </p:txBody>
      </p:sp>
    </p:spTree>
    <p:extLst>
      <p:ext uri="{BB962C8B-B14F-4D97-AF65-F5344CB8AC3E}">
        <p14:creationId xmlns:p14="http://schemas.microsoft.com/office/powerpoint/2010/main" val="1390760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A3E31-F0A9-B493-20EB-7F09E6D5F9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04C7C43-E8E8-C1A6-B262-390EE6CD2A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D4EA998-1ACD-1C67-93C7-7FC3697889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63A5C7-2A52-C5F2-ACF0-27CDFEFE76FD}"/>
              </a:ext>
            </a:extLst>
          </p:cNvPr>
          <p:cNvSpPr>
            <a:spLocks noGrp="1"/>
          </p:cNvSpPr>
          <p:nvPr>
            <p:ph type="dt" sz="half" idx="10"/>
          </p:nvPr>
        </p:nvSpPr>
        <p:spPr/>
        <p:txBody>
          <a:bodyPr/>
          <a:lstStyle/>
          <a:p>
            <a:fld id="{2DF2E4D0-50EF-4ECF-B898-87BEF2B5E9E2}" type="datetimeFigureOut">
              <a:rPr lang="en-US" smtClean="0"/>
              <a:t>10/13/25</a:t>
            </a:fld>
            <a:endParaRPr lang="en-US" dirty="0"/>
          </a:p>
        </p:txBody>
      </p:sp>
      <p:sp>
        <p:nvSpPr>
          <p:cNvPr id="6" name="Footer Placeholder 5">
            <a:extLst>
              <a:ext uri="{FF2B5EF4-FFF2-40B4-BE49-F238E27FC236}">
                <a16:creationId xmlns:a16="http://schemas.microsoft.com/office/drawing/2014/main" id="{71ABDF88-CAE1-15F0-1A7D-1B7C6ACFD60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79BDD6F-D132-762B-2B2A-BD841C0E6B1A}"/>
              </a:ext>
            </a:extLst>
          </p:cNvPr>
          <p:cNvSpPr>
            <a:spLocks noGrp="1"/>
          </p:cNvSpPr>
          <p:nvPr>
            <p:ph type="sldNum" sz="quarter" idx="12"/>
          </p:nvPr>
        </p:nvSpPr>
        <p:spPr/>
        <p:txBody>
          <a:bodyPr/>
          <a:lstStyle/>
          <a:p>
            <a:fld id="{0AF87095-216D-4574-A4E8-58F09D3B5C1F}" type="slidenum">
              <a:rPr lang="en-US" smtClean="0"/>
              <a:t>‹#›</a:t>
            </a:fld>
            <a:endParaRPr lang="en-US" dirty="0"/>
          </a:p>
        </p:txBody>
      </p:sp>
    </p:spTree>
    <p:extLst>
      <p:ext uri="{BB962C8B-B14F-4D97-AF65-F5344CB8AC3E}">
        <p14:creationId xmlns:p14="http://schemas.microsoft.com/office/powerpoint/2010/main" val="4063412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388FE-6E1A-89BD-33FF-CD1F33D443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085B8D4-5829-A752-09CB-4E311C5058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DCAED056-8F43-135F-58CB-AF1A873053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24782C-C20F-ACAF-DCB1-3831EF25D039}"/>
              </a:ext>
            </a:extLst>
          </p:cNvPr>
          <p:cNvSpPr>
            <a:spLocks noGrp="1"/>
          </p:cNvSpPr>
          <p:nvPr>
            <p:ph type="dt" sz="half" idx="10"/>
          </p:nvPr>
        </p:nvSpPr>
        <p:spPr/>
        <p:txBody>
          <a:bodyPr/>
          <a:lstStyle/>
          <a:p>
            <a:fld id="{2DF2E4D0-50EF-4ECF-B898-87BEF2B5E9E2}" type="datetimeFigureOut">
              <a:rPr lang="en-US" smtClean="0"/>
              <a:t>10/13/25</a:t>
            </a:fld>
            <a:endParaRPr lang="en-US" dirty="0"/>
          </a:p>
        </p:txBody>
      </p:sp>
      <p:sp>
        <p:nvSpPr>
          <p:cNvPr id="6" name="Footer Placeholder 5">
            <a:extLst>
              <a:ext uri="{FF2B5EF4-FFF2-40B4-BE49-F238E27FC236}">
                <a16:creationId xmlns:a16="http://schemas.microsoft.com/office/drawing/2014/main" id="{C4C0C9F8-579A-97E0-B49A-48BE9391D75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6C5C653-D298-693E-D0AD-28750CF8BCE5}"/>
              </a:ext>
            </a:extLst>
          </p:cNvPr>
          <p:cNvSpPr>
            <a:spLocks noGrp="1"/>
          </p:cNvSpPr>
          <p:nvPr>
            <p:ph type="sldNum" sz="quarter" idx="12"/>
          </p:nvPr>
        </p:nvSpPr>
        <p:spPr/>
        <p:txBody>
          <a:bodyPr/>
          <a:lstStyle/>
          <a:p>
            <a:fld id="{0AF87095-216D-4574-A4E8-58F09D3B5C1F}" type="slidenum">
              <a:rPr lang="en-US" smtClean="0"/>
              <a:t>‹#›</a:t>
            </a:fld>
            <a:endParaRPr lang="en-US" dirty="0"/>
          </a:p>
        </p:txBody>
      </p:sp>
    </p:spTree>
    <p:extLst>
      <p:ext uri="{BB962C8B-B14F-4D97-AF65-F5344CB8AC3E}">
        <p14:creationId xmlns:p14="http://schemas.microsoft.com/office/powerpoint/2010/main" val="21816011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7996D-DA40-D2D7-3293-9EDAE620C99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68B022-1E7E-AE78-1067-AF86E212EA7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666D06-95E1-2FCF-19D9-597D33280B04}"/>
              </a:ext>
            </a:extLst>
          </p:cNvPr>
          <p:cNvSpPr>
            <a:spLocks noGrp="1"/>
          </p:cNvSpPr>
          <p:nvPr>
            <p:ph type="dt" sz="half" idx="10"/>
          </p:nvPr>
        </p:nvSpPr>
        <p:spPr/>
        <p:txBody>
          <a:bodyPr/>
          <a:lstStyle/>
          <a:p>
            <a:fld id="{2DF2E4D0-50EF-4ECF-B898-87BEF2B5E9E2}" type="datetimeFigureOut">
              <a:rPr lang="en-US" smtClean="0"/>
              <a:t>10/13/25</a:t>
            </a:fld>
            <a:endParaRPr lang="en-US" dirty="0"/>
          </a:p>
        </p:txBody>
      </p:sp>
      <p:sp>
        <p:nvSpPr>
          <p:cNvPr id="5" name="Footer Placeholder 4">
            <a:extLst>
              <a:ext uri="{FF2B5EF4-FFF2-40B4-BE49-F238E27FC236}">
                <a16:creationId xmlns:a16="http://schemas.microsoft.com/office/drawing/2014/main" id="{96ECF939-5A3F-B7DD-388D-74A18BCED31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1DE2CDE-8FAD-A6E0-BED1-CB6A47D2F2CE}"/>
              </a:ext>
            </a:extLst>
          </p:cNvPr>
          <p:cNvSpPr>
            <a:spLocks noGrp="1"/>
          </p:cNvSpPr>
          <p:nvPr>
            <p:ph type="sldNum" sz="quarter" idx="12"/>
          </p:nvPr>
        </p:nvSpPr>
        <p:spPr/>
        <p:txBody>
          <a:bodyPr/>
          <a:lstStyle/>
          <a:p>
            <a:fld id="{0AF87095-216D-4574-A4E8-58F09D3B5C1F}" type="slidenum">
              <a:rPr lang="en-US" smtClean="0"/>
              <a:t>‹#›</a:t>
            </a:fld>
            <a:endParaRPr lang="en-US" dirty="0"/>
          </a:p>
        </p:txBody>
      </p:sp>
    </p:spTree>
    <p:extLst>
      <p:ext uri="{BB962C8B-B14F-4D97-AF65-F5344CB8AC3E}">
        <p14:creationId xmlns:p14="http://schemas.microsoft.com/office/powerpoint/2010/main" val="39289324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87C9CE-576F-6AA9-7A5E-5B4826682F4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AB5AFE2-632D-67D9-93CE-A3228E69418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4CE869-296A-F5DF-A8E4-D73036A4EF48}"/>
              </a:ext>
            </a:extLst>
          </p:cNvPr>
          <p:cNvSpPr>
            <a:spLocks noGrp="1"/>
          </p:cNvSpPr>
          <p:nvPr>
            <p:ph type="dt" sz="half" idx="10"/>
          </p:nvPr>
        </p:nvSpPr>
        <p:spPr/>
        <p:txBody>
          <a:bodyPr/>
          <a:lstStyle/>
          <a:p>
            <a:fld id="{2DF2E4D0-50EF-4ECF-B898-87BEF2B5E9E2}" type="datetimeFigureOut">
              <a:rPr lang="en-US" smtClean="0"/>
              <a:t>10/13/25</a:t>
            </a:fld>
            <a:endParaRPr lang="en-US" dirty="0"/>
          </a:p>
        </p:txBody>
      </p:sp>
      <p:sp>
        <p:nvSpPr>
          <p:cNvPr id="5" name="Footer Placeholder 4">
            <a:extLst>
              <a:ext uri="{FF2B5EF4-FFF2-40B4-BE49-F238E27FC236}">
                <a16:creationId xmlns:a16="http://schemas.microsoft.com/office/drawing/2014/main" id="{36343E0D-4B9E-6B7A-6939-E20D6028CE5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CE62597-B60E-E380-D6FF-CFE04A6D5A2F}"/>
              </a:ext>
            </a:extLst>
          </p:cNvPr>
          <p:cNvSpPr>
            <a:spLocks noGrp="1"/>
          </p:cNvSpPr>
          <p:nvPr>
            <p:ph type="sldNum" sz="quarter" idx="12"/>
          </p:nvPr>
        </p:nvSpPr>
        <p:spPr/>
        <p:txBody>
          <a:bodyPr/>
          <a:lstStyle/>
          <a:p>
            <a:fld id="{0AF87095-216D-4574-A4E8-58F09D3B5C1F}" type="slidenum">
              <a:rPr lang="en-US" smtClean="0"/>
              <a:t>‹#›</a:t>
            </a:fld>
            <a:endParaRPr lang="en-US" dirty="0"/>
          </a:p>
        </p:txBody>
      </p:sp>
    </p:spTree>
    <p:extLst>
      <p:ext uri="{BB962C8B-B14F-4D97-AF65-F5344CB8AC3E}">
        <p14:creationId xmlns:p14="http://schemas.microsoft.com/office/powerpoint/2010/main" val="4124461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7157171-4268-5094-F155-795F367AAD5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F3752CD-D641-FCB2-CF59-AC2FCFE5E7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CB4AB2-5779-8362-89B4-DC0DB2D77E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F2E4D0-50EF-4ECF-B898-87BEF2B5E9E2}" type="datetimeFigureOut">
              <a:rPr lang="en-US" smtClean="0"/>
              <a:t>10/13/25</a:t>
            </a:fld>
            <a:endParaRPr lang="en-US" dirty="0"/>
          </a:p>
        </p:txBody>
      </p:sp>
      <p:sp>
        <p:nvSpPr>
          <p:cNvPr id="5" name="Footer Placeholder 4">
            <a:extLst>
              <a:ext uri="{FF2B5EF4-FFF2-40B4-BE49-F238E27FC236}">
                <a16:creationId xmlns:a16="http://schemas.microsoft.com/office/drawing/2014/main" id="{66648851-4B63-5230-9F67-B7A866CE74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4B37CDE5-57CC-55CC-41A6-6877A9D880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F87095-216D-4574-A4E8-58F09D3B5C1F}" type="slidenum">
              <a:rPr lang="en-US" smtClean="0"/>
              <a:t>‹#›</a:t>
            </a:fld>
            <a:endParaRPr lang="en-US" dirty="0"/>
          </a:p>
        </p:txBody>
      </p:sp>
    </p:spTree>
    <p:extLst>
      <p:ext uri="{BB962C8B-B14F-4D97-AF65-F5344CB8AC3E}">
        <p14:creationId xmlns:p14="http://schemas.microsoft.com/office/powerpoint/2010/main" val="37567900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2.xml"/><Relationship Id="rId7" Type="http://schemas.openxmlformats.org/officeDocument/2006/relationships/image" Target="../media/image7.png"/><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slideLayout" Target="../slideLayouts/slideLayout2.xml"/><Relationship Id="rId7" Type="http://schemas.openxmlformats.org/officeDocument/2006/relationships/image" Target="../media/image15.png"/><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2.png"/><Relationship Id="rId4" Type="http://schemas.openxmlformats.org/officeDocument/2006/relationships/image" Target="../media/image12.png"/><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slideLayout" Target="../slideLayouts/slideLayout2.xml"/><Relationship Id="rId7" Type="http://schemas.openxmlformats.org/officeDocument/2006/relationships/image" Target="../media/image19.png"/><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notesSlide" Target="../notesSlides/notesSlide1.xml"/><Relationship Id="rId9"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2.xml"/><Relationship Id="rId7" Type="http://schemas.openxmlformats.org/officeDocument/2006/relationships/image" Target="../media/image24.png"/><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4a"/><Relationship Id="rId1" Type="http://schemas.microsoft.com/office/2007/relationships/media" Target="../media/media9.m4a"/><Relationship Id="rId5" Type="http://schemas.openxmlformats.org/officeDocument/2006/relationships/image" Target="../media/image2.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4a"/><Relationship Id="rId1" Type="http://schemas.microsoft.com/office/2007/relationships/media" Target="../media/media10.m4a"/><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m4a"/><Relationship Id="rId1" Type="http://schemas.microsoft.com/office/2007/relationships/media" Target="../media/media11.m4a"/><Relationship Id="rId6" Type="http://schemas.openxmlformats.org/officeDocument/2006/relationships/image" Target="../media/image2.png"/><Relationship Id="rId5" Type="http://schemas.openxmlformats.org/officeDocument/2006/relationships/image" Target="../media/image27.pn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2.m4a"/><Relationship Id="rId1" Type="http://schemas.microsoft.com/office/2007/relationships/media" Target="../media/media12.m4a"/><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audio" Target="../media/media13.m4a"/><Relationship Id="rId1" Type="http://schemas.microsoft.com/office/2007/relationships/media" Target="../media/media13.m4a"/><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4.m4a"/><Relationship Id="rId1" Type="http://schemas.microsoft.com/office/2007/relationships/media" Target="../media/media14.m4a"/><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0" descr="preencoded.png">
            <a:extLst>
              <a:ext uri="{FF2B5EF4-FFF2-40B4-BE49-F238E27FC236}">
                <a16:creationId xmlns:a16="http://schemas.microsoft.com/office/drawing/2014/main" id="{54F1A68B-B8F2-324E-B88B-0060E64EF1D0}"/>
              </a:ext>
            </a:extLst>
          </p:cNvPr>
          <p:cNvPicPr>
            <a:picLocks noChangeAspect="1"/>
          </p:cNvPicPr>
          <p:nvPr/>
        </p:nvPicPr>
        <p:blipFill>
          <a:blip r:embed="rId4"/>
          <a:stretch>
            <a:fillRect/>
          </a:stretch>
        </p:blipFill>
        <p:spPr>
          <a:xfrm>
            <a:off x="0" y="0"/>
            <a:ext cx="4572000" cy="6858000"/>
          </a:xfrm>
          <a:prstGeom prst="rect">
            <a:avLst/>
          </a:prstGeom>
        </p:spPr>
      </p:pic>
      <p:sp>
        <p:nvSpPr>
          <p:cNvPr id="5" name="Text 0">
            <a:extLst>
              <a:ext uri="{FF2B5EF4-FFF2-40B4-BE49-F238E27FC236}">
                <a16:creationId xmlns:a16="http://schemas.microsoft.com/office/drawing/2014/main" id="{C0A4088C-4092-D235-EBA1-48A44CC40BF9}"/>
              </a:ext>
            </a:extLst>
          </p:cNvPr>
          <p:cNvSpPr/>
          <p:nvPr/>
        </p:nvSpPr>
        <p:spPr>
          <a:xfrm>
            <a:off x="5233492" y="1455143"/>
            <a:ext cx="6297018" cy="1771948"/>
          </a:xfrm>
          <a:prstGeom prst="rect">
            <a:avLst/>
          </a:prstGeom>
          <a:noFill/>
          <a:ln/>
        </p:spPr>
        <p:txBody>
          <a:bodyPr wrap="square" lIns="0" tIns="0" rIns="0" bIns="0" rtlCol="0" anchor="t"/>
          <a:lstStyle/>
          <a:p>
            <a:pPr algn="l">
              <a:spcAft>
                <a:spcPts val="1125"/>
              </a:spcAft>
              <a:buNone/>
            </a:pPr>
            <a:r>
              <a:rPr lang="en-US" sz="4000" b="1" i="0" dirty="0">
                <a:solidFill>
                  <a:srgbClr val="37474F"/>
                </a:solidFill>
                <a:effectLst/>
                <a:latin typeface="akzidenz-grotesk"/>
              </a:rPr>
              <a:t>Summative Assessment Individual Presentation</a:t>
            </a:r>
          </a:p>
        </p:txBody>
      </p:sp>
      <p:sp>
        <p:nvSpPr>
          <p:cNvPr id="6" name="Text 1">
            <a:extLst>
              <a:ext uri="{FF2B5EF4-FFF2-40B4-BE49-F238E27FC236}">
                <a16:creationId xmlns:a16="http://schemas.microsoft.com/office/drawing/2014/main" id="{57A14117-4479-7127-2FE3-8A046FEBC73C}"/>
              </a:ext>
            </a:extLst>
          </p:cNvPr>
          <p:cNvSpPr/>
          <p:nvPr/>
        </p:nvSpPr>
        <p:spPr>
          <a:xfrm>
            <a:off x="5516960" y="3723184"/>
            <a:ext cx="6013549" cy="302419"/>
          </a:xfrm>
          <a:prstGeom prst="rect">
            <a:avLst/>
          </a:prstGeom>
          <a:noFill/>
          <a:ln/>
        </p:spPr>
        <p:txBody>
          <a:bodyPr wrap="none" lIns="0" tIns="0" rIns="0" bIns="0" rtlCol="0" anchor="t"/>
          <a:lstStyle/>
          <a:p>
            <a:pPr>
              <a:lnSpc>
                <a:spcPts val="2375"/>
              </a:lnSpc>
            </a:pPr>
            <a:r>
              <a:rPr lang="en-US" sz="1600" dirty="0">
                <a:solidFill>
                  <a:srgbClr val="272525"/>
                </a:solidFill>
                <a:latin typeface="Inter" pitchFamily="34" charset="0"/>
                <a:ea typeface="Inter" pitchFamily="34" charset="-122"/>
                <a:cs typeface="Inter" pitchFamily="34" charset="-120"/>
              </a:rPr>
              <a:t>Presented by: Abdulrahman Husain Ahmed Alhashmi</a:t>
            </a:r>
            <a:endParaRPr lang="en-US" sz="1600" dirty="0"/>
          </a:p>
        </p:txBody>
      </p:sp>
      <p:sp>
        <p:nvSpPr>
          <p:cNvPr id="8" name="Text 3">
            <a:extLst>
              <a:ext uri="{FF2B5EF4-FFF2-40B4-BE49-F238E27FC236}">
                <a16:creationId xmlns:a16="http://schemas.microsoft.com/office/drawing/2014/main" id="{C791FAAB-645D-88D7-70AE-3ECDB7460AA8}"/>
              </a:ext>
            </a:extLst>
          </p:cNvPr>
          <p:cNvSpPr/>
          <p:nvPr/>
        </p:nvSpPr>
        <p:spPr>
          <a:xfrm>
            <a:off x="5516959" y="4824115"/>
            <a:ext cx="5994003" cy="295275"/>
          </a:xfrm>
          <a:prstGeom prst="rect">
            <a:avLst/>
          </a:prstGeom>
          <a:noFill/>
          <a:ln/>
        </p:spPr>
        <p:txBody>
          <a:bodyPr wrap="none" lIns="0" tIns="0" rIns="0" bIns="0" rtlCol="0" anchor="t"/>
          <a:lstStyle/>
          <a:p>
            <a:pPr>
              <a:lnSpc>
                <a:spcPts val="2292"/>
              </a:lnSpc>
            </a:pPr>
            <a:r>
              <a:rPr lang="en-US" b="1" dirty="0">
                <a:solidFill>
                  <a:srgbClr val="000000"/>
                </a:solidFill>
                <a:latin typeface="Inter Bold" pitchFamily="34" charset="0"/>
                <a:ea typeface="Inter Bold" pitchFamily="34" charset="-122"/>
                <a:cs typeface="Inter Bold" pitchFamily="34" charset="-120"/>
              </a:rPr>
              <a:t>Assigned Track: Compact CNN with Residual Blocks</a:t>
            </a:r>
            <a:endParaRPr lang="en-US" dirty="0"/>
          </a:p>
        </p:txBody>
      </p:sp>
      <p:sp>
        <p:nvSpPr>
          <p:cNvPr id="9" name="Shape 4">
            <a:extLst>
              <a:ext uri="{FF2B5EF4-FFF2-40B4-BE49-F238E27FC236}">
                <a16:creationId xmlns:a16="http://schemas.microsoft.com/office/drawing/2014/main" id="{7BBEDDD8-4CAD-9F6F-6D41-2549F67DB041}"/>
              </a:ext>
            </a:extLst>
          </p:cNvPr>
          <p:cNvSpPr/>
          <p:nvPr/>
        </p:nvSpPr>
        <p:spPr>
          <a:xfrm>
            <a:off x="5233492" y="3510558"/>
            <a:ext cx="25400" cy="1892300"/>
          </a:xfrm>
          <a:prstGeom prst="rect">
            <a:avLst/>
          </a:prstGeom>
          <a:solidFill>
            <a:srgbClr val="4950BC"/>
          </a:solidFill>
          <a:ln/>
        </p:spPr>
        <p:txBody>
          <a:bodyPr/>
          <a:lstStyle/>
          <a:p>
            <a:endParaRPr lang="en-US" dirty="0"/>
          </a:p>
        </p:txBody>
      </p:sp>
      <p:pic>
        <p:nvPicPr>
          <p:cNvPr id="27" name="Audio 26">
            <a:extLst>
              <a:ext uri="{FF2B5EF4-FFF2-40B4-BE49-F238E27FC236}">
                <a16:creationId xmlns:a16="http://schemas.microsoft.com/office/drawing/2014/main" id="{98D4C8A8-B7E0-D946-1548-7CFB65B3E04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634319782"/>
      </p:ext>
    </p:extLst>
  </p:cSld>
  <p:clrMapOvr>
    <a:masterClrMapping/>
  </p:clrMapOvr>
  <mc:AlternateContent xmlns:mc="http://schemas.openxmlformats.org/markup-compatibility/2006" xmlns:p14="http://schemas.microsoft.com/office/powerpoint/2010/main">
    <mc:Choice Requires="p14">
      <p:transition spd="slow" p14:dur="2000" advTm="59559"/>
    </mc:Choice>
    <mc:Fallback xmlns="">
      <p:transition spd="slow" advTm="5955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7"/>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Text 0">
            <a:extLst>
              <a:ext uri="{FF2B5EF4-FFF2-40B4-BE49-F238E27FC236}">
                <a16:creationId xmlns:a16="http://schemas.microsoft.com/office/drawing/2014/main" id="{ED0CB660-2E6A-B673-48EB-CD83E8B65FD9}"/>
              </a:ext>
            </a:extLst>
          </p:cNvPr>
          <p:cNvSpPr/>
          <p:nvPr/>
        </p:nvSpPr>
        <p:spPr>
          <a:xfrm>
            <a:off x="317540" y="264261"/>
            <a:ext cx="7495223" cy="460772"/>
          </a:xfrm>
          <a:prstGeom prst="rect">
            <a:avLst/>
          </a:prstGeom>
          <a:noFill/>
          <a:ln/>
        </p:spPr>
        <p:txBody>
          <a:bodyPr wrap="none" lIns="0" tIns="0" rIns="0" bIns="0" rtlCol="0" anchor="t"/>
          <a:lstStyle/>
          <a:p>
            <a:pPr marL="0" indent="0" algn="l">
              <a:lnSpc>
                <a:spcPts val="3600"/>
              </a:lnSpc>
              <a:buNone/>
            </a:pPr>
            <a:r>
              <a:rPr lang="en-US" sz="2900" b="1" dirty="0">
                <a:solidFill>
                  <a:srgbClr val="000000"/>
                </a:solidFill>
                <a:latin typeface="Inter Bold" pitchFamily="34" charset="0"/>
                <a:ea typeface="Inter Bold" pitchFamily="34" charset="-122"/>
                <a:cs typeface="Inter Bold" pitchFamily="34" charset="-120"/>
              </a:rPr>
              <a:t>Problem Statement and Dataset Overview</a:t>
            </a:r>
            <a:endParaRPr lang="en-US" sz="2900" dirty="0"/>
          </a:p>
        </p:txBody>
      </p:sp>
      <p:sp>
        <p:nvSpPr>
          <p:cNvPr id="62" name="Text 1">
            <a:extLst>
              <a:ext uri="{FF2B5EF4-FFF2-40B4-BE49-F238E27FC236}">
                <a16:creationId xmlns:a16="http://schemas.microsoft.com/office/drawing/2014/main" id="{F42C3574-8A77-F6E4-AD8D-5B0908C83454}"/>
              </a:ext>
            </a:extLst>
          </p:cNvPr>
          <p:cNvSpPr/>
          <p:nvPr/>
        </p:nvSpPr>
        <p:spPr>
          <a:xfrm>
            <a:off x="317540" y="1221700"/>
            <a:ext cx="3163491" cy="276344"/>
          </a:xfrm>
          <a:prstGeom prst="rect">
            <a:avLst/>
          </a:prstGeom>
          <a:noFill/>
          <a:ln/>
        </p:spPr>
        <p:txBody>
          <a:bodyPr wrap="none" lIns="0" tIns="0" rIns="0" bIns="0" rtlCol="0" anchor="t"/>
          <a:lstStyle/>
          <a:p>
            <a:pPr marL="0" indent="0" algn="l">
              <a:lnSpc>
                <a:spcPts val="2150"/>
              </a:lnSpc>
              <a:buNone/>
            </a:pPr>
            <a:r>
              <a:rPr lang="en-US" sz="1700" b="1" dirty="0">
                <a:solidFill>
                  <a:srgbClr val="000000"/>
                </a:solidFill>
                <a:latin typeface="Inter Bold" pitchFamily="34" charset="0"/>
                <a:ea typeface="Inter Bold" pitchFamily="34" charset="-122"/>
                <a:cs typeface="Inter Bold" pitchFamily="34" charset="-120"/>
              </a:rPr>
              <a:t>The Task: Object Recognition</a:t>
            </a:r>
            <a:endParaRPr lang="en-US" sz="1700" dirty="0"/>
          </a:p>
        </p:txBody>
      </p:sp>
      <p:sp>
        <p:nvSpPr>
          <p:cNvPr id="63" name="Text 2">
            <a:extLst>
              <a:ext uri="{FF2B5EF4-FFF2-40B4-BE49-F238E27FC236}">
                <a16:creationId xmlns:a16="http://schemas.microsoft.com/office/drawing/2014/main" id="{EA011F71-8161-7841-436E-77E6A44B24BC}"/>
              </a:ext>
            </a:extLst>
          </p:cNvPr>
          <p:cNvSpPr/>
          <p:nvPr/>
        </p:nvSpPr>
        <p:spPr>
          <a:xfrm>
            <a:off x="317541" y="1645444"/>
            <a:ext cx="7054810" cy="707231"/>
          </a:xfrm>
          <a:prstGeom prst="rect">
            <a:avLst/>
          </a:prstGeom>
          <a:noFill/>
          <a:ln/>
        </p:spPr>
        <p:txBody>
          <a:bodyPr wrap="square" lIns="0" tIns="0" rIns="0" bIns="0" rtlCol="0" anchor="t"/>
          <a:lstStyle/>
          <a:p>
            <a:pPr marL="0" indent="0" algn="l">
              <a:lnSpc>
                <a:spcPts val="1850"/>
              </a:lnSpc>
              <a:buNone/>
            </a:pPr>
            <a:r>
              <a:rPr lang="en-US" sz="1200" dirty="0">
                <a:solidFill>
                  <a:srgbClr val="272525"/>
                </a:solidFill>
                <a:latin typeface="Inter" pitchFamily="34" charset="0"/>
                <a:ea typeface="Inter" pitchFamily="34" charset="-122"/>
                <a:cs typeface="Inter" pitchFamily="34" charset="-120"/>
              </a:rPr>
              <a:t>The objective is to train a model to accurately classify small color images into one of 10 distinct classes. This is a foundational task in computer vision research, allowing for rapid iteration and comparison of novel architectural and training techniques.</a:t>
            </a:r>
            <a:endParaRPr lang="en-US" sz="1200" dirty="0"/>
          </a:p>
        </p:txBody>
      </p:sp>
      <p:sp>
        <p:nvSpPr>
          <p:cNvPr id="64" name="Shape 4">
            <a:extLst>
              <a:ext uri="{FF2B5EF4-FFF2-40B4-BE49-F238E27FC236}">
                <a16:creationId xmlns:a16="http://schemas.microsoft.com/office/drawing/2014/main" id="{2AB07DDA-8366-8CB0-7290-210DB58ABEB0}"/>
              </a:ext>
            </a:extLst>
          </p:cNvPr>
          <p:cNvSpPr/>
          <p:nvPr/>
        </p:nvSpPr>
        <p:spPr>
          <a:xfrm>
            <a:off x="317540" y="2724388"/>
            <a:ext cx="6949440" cy="60960"/>
          </a:xfrm>
          <a:prstGeom prst="roundRect">
            <a:avLst>
              <a:gd name="adj" fmla="val 101581"/>
            </a:avLst>
          </a:prstGeom>
          <a:solidFill>
            <a:srgbClr val="4950BC"/>
          </a:solidFill>
          <a:ln/>
        </p:spPr>
        <p:txBody>
          <a:bodyPr/>
          <a:lstStyle/>
          <a:p>
            <a:endParaRPr lang="en-US" dirty="0"/>
          </a:p>
        </p:txBody>
      </p:sp>
      <p:sp>
        <p:nvSpPr>
          <p:cNvPr id="65" name="Shape 5">
            <a:extLst>
              <a:ext uri="{FF2B5EF4-FFF2-40B4-BE49-F238E27FC236}">
                <a16:creationId xmlns:a16="http://schemas.microsoft.com/office/drawing/2014/main" id="{09183CCC-25C7-0E78-4515-3DCB944179F8}"/>
              </a:ext>
            </a:extLst>
          </p:cNvPr>
          <p:cNvSpPr/>
          <p:nvPr/>
        </p:nvSpPr>
        <p:spPr>
          <a:xfrm>
            <a:off x="3588675" y="2512577"/>
            <a:ext cx="426458" cy="442198"/>
          </a:xfrm>
          <a:prstGeom prst="roundRect">
            <a:avLst>
              <a:gd name="adj" fmla="val 206785"/>
            </a:avLst>
          </a:prstGeom>
          <a:solidFill>
            <a:srgbClr val="4950BC"/>
          </a:solidFill>
          <a:ln/>
        </p:spPr>
        <p:txBody>
          <a:bodyPr/>
          <a:lstStyle/>
          <a:p>
            <a:endParaRPr lang="en-US" dirty="0"/>
          </a:p>
        </p:txBody>
      </p:sp>
      <p:sp>
        <p:nvSpPr>
          <p:cNvPr id="66" name="Text 6">
            <a:extLst>
              <a:ext uri="{FF2B5EF4-FFF2-40B4-BE49-F238E27FC236}">
                <a16:creationId xmlns:a16="http://schemas.microsoft.com/office/drawing/2014/main" id="{19C717E7-A600-04ED-0625-A9DAC5960204}"/>
              </a:ext>
            </a:extLst>
          </p:cNvPr>
          <p:cNvSpPr/>
          <p:nvPr/>
        </p:nvSpPr>
        <p:spPr>
          <a:xfrm>
            <a:off x="480179" y="3108127"/>
            <a:ext cx="1842968" cy="230386"/>
          </a:xfrm>
          <a:prstGeom prst="rect">
            <a:avLst/>
          </a:prstGeom>
          <a:noFill/>
          <a:ln/>
        </p:spPr>
        <p:txBody>
          <a:bodyPr wrap="none" lIns="0" tIns="0" rIns="0" bIns="0" rtlCol="0" anchor="t"/>
          <a:lstStyle/>
          <a:p>
            <a:pPr marL="0" indent="0" algn="l">
              <a:lnSpc>
                <a:spcPts val="1800"/>
              </a:lnSpc>
              <a:buNone/>
            </a:pPr>
            <a:r>
              <a:rPr lang="en-US" sz="1400" b="1" dirty="0">
                <a:solidFill>
                  <a:srgbClr val="272525"/>
                </a:solidFill>
                <a:latin typeface="Inter Bold" pitchFamily="34" charset="0"/>
                <a:ea typeface="Inter Bold" pitchFamily="34" charset="-122"/>
                <a:cs typeface="Inter Bold" pitchFamily="34" charset="-120"/>
              </a:rPr>
              <a:t>High Accuracy</a:t>
            </a:r>
            <a:endParaRPr lang="en-US" sz="1400" dirty="0"/>
          </a:p>
        </p:txBody>
      </p:sp>
      <p:sp>
        <p:nvSpPr>
          <p:cNvPr id="67" name="Text 7">
            <a:extLst>
              <a:ext uri="{FF2B5EF4-FFF2-40B4-BE49-F238E27FC236}">
                <a16:creationId xmlns:a16="http://schemas.microsoft.com/office/drawing/2014/main" id="{9B6F3581-2634-C91F-0133-2C899E758A3C}"/>
              </a:ext>
            </a:extLst>
          </p:cNvPr>
          <p:cNvSpPr/>
          <p:nvPr/>
        </p:nvSpPr>
        <p:spPr>
          <a:xfrm>
            <a:off x="480179" y="3485912"/>
            <a:ext cx="7356515" cy="235744"/>
          </a:xfrm>
          <a:prstGeom prst="rect">
            <a:avLst/>
          </a:prstGeom>
          <a:noFill/>
          <a:ln/>
        </p:spPr>
        <p:txBody>
          <a:bodyPr wrap="none" lIns="0" tIns="0" rIns="0" bIns="0" rtlCol="0" anchor="t"/>
          <a:lstStyle/>
          <a:p>
            <a:pPr marL="0" indent="0" algn="l">
              <a:lnSpc>
                <a:spcPts val="1850"/>
              </a:lnSpc>
              <a:buNone/>
            </a:pPr>
            <a:r>
              <a:rPr lang="en-US" sz="1200" dirty="0">
                <a:solidFill>
                  <a:srgbClr val="272525"/>
                </a:solidFill>
                <a:latin typeface="Inter" pitchFamily="34" charset="0"/>
                <a:ea typeface="Inter" pitchFamily="34" charset="-122"/>
                <a:cs typeface="Inter" pitchFamily="34" charset="-120"/>
              </a:rPr>
              <a:t>Achieve competitive classification performance on unseen data.</a:t>
            </a:r>
            <a:endParaRPr lang="en-US" sz="1200" dirty="0"/>
          </a:p>
        </p:txBody>
      </p:sp>
      <p:sp>
        <p:nvSpPr>
          <p:cNvPr id="68" name="Shape 9">
            <a:extLst>
              <a:ext uri="{FF2B5EF4-FFF2-40B4-BE49-F238E27FC236}">
                <a16:creationId xmlns:a16="http://schemas.microsoft.com/office/drawing/2014/main" id="{5FADE0BF-87BB-C8FA-2E3F-6DF230709041}"/>
              </a:ext>
            </a:extLst>
          </p:cNvPr>
          <p:cNvSpPr/>
          <p:nvPr/>
        </p:nvSpPr>
        <p:spPr>
          <a:xfrm>
            <a:off x="317540" y="4237553"/>
            <a:ext cx="6949440" cy="60960"/>
          </a:xfrm>
          <a:prstGeom prst="roundRect">
            <a:avLst>
              <a:gd name="adj" fmla="val 101581"/>
            </a:avLst>
          </a:prstGeom>
          <a:solidFill>
            <a:srgbClr val="4950BC"/>
          </a:solidFill>
          <a:ln/>
        </p:spPr>
        <p:txBody>
          <a:bodyPr/>
          <a:lstStyle/>
          <a:p>
            <a:endParaRPr lang="en-US" dirty="0"/>
          </a:p>
        </p:txBody>
      </p:sp>
      <p:sp>
        <p:nvSpPr>
          <p:cNvPr id="69" name="Shape 10">
            <a:extLst>
              <a:ext uri="{FF2B5EF4-FFF2-40B4-BE49-F238E27FC236}">
                <a16:creationId xmlns:a16="http://schemas.microsoft.com/office/drawing/2014/main" id="{E77CA9A3-E91E-370D-3324-3E48DB9AB366}"/>
              </a:ext>
            </a:extLst>
          </p:cNvPr>
          <p:cNvSpPr/>
          <p:nvPr/>
        </p:nvSpPr>
        <p:spPr>
          <a:xfrm>
            <a:off x="3575328" y="4025742"/>
            <a:ext cx="442198" cy="442198"/>
          </a:xfrm>
          <a:prstGeom prst="roundRect">
            <a:avLst>
              <a:gd name="adj" fmla="val 206785"/>
            </a:avLst>
          </a:prstGeom>
          <a:solidFill>
            <a:srgbClr val="4950BC"/>
          </a:solidFill>
          <a:ln/>
        </p:spPr>
        <p:txBody>
          <a:bodyPr/>
          <a:lstStyle/>
          <a:p>
            <a:endParaRPr lang="en-US" dirty="0"/>
          </a:p>
        </p:txBody>
      </p:sp>
      <p:sp>
        <p:nvSpPr>
          <p:cNvPr id="70" name="Text 11">
            <a:extLst>
              <a:ext uri="{FF2B5EF4-FFF2-40B4-BE49-F238E27FC236}">
                <a16:creationId xmlns:a16="http://schemas.microsoft.com/office/drawing/2014/main" id="{25D2473F-7F26-2924-0A7F-290DBB6B39BE}"/>
              </a:ext>
            </a:extLst>
          </p:cNvPr>
          <p:cNvSpPr/>
          <p:nvPr/>
        </p:nvSpPr>
        <p:spPr>
          <a:xfrm>
            <a:off x="480179" y="4621292"/>
            <a:ext cx="2269808" cy="230386"/>
          </a:xfrm>
          <a:prstGeom prst="rect">
            <a:avLst/>
          </a:prstGeom>
          <a:noFill/>
          <a:ln/>
        </p:spPr>
        <p:txBody>
          <a:bodyPr wrap="none" lIns="0" tIns="0" rIns="0" bIns="0" rtlCol="0" anchor="t"/>
          <a:lstStyle/>
          <a:p>
            <a:pPr marL="0" indent="0" algn="l">
              <a:lnSpc>
                <a:spcPts val="1800"/>
              </a:lnSpc>
              <a:buNone/>
            </a:pPr>
            <a:r>
              <a:rPr lang="en-US" sz="1400" b="1" dirty="0">
                <a:solidFill>
                  <a:srgbClr val="272525"/>
                </a:solidFill>
                <a:latin typeface="Inter Bold" pitchFamily="34" charset="0"/>
                <a:ea typeface="Inter Bold" pitchFamily="34" charset="-122"/>
                <a:cs typeface="Inter Bold" pitchFamily="34" charset="-120"/>
              </a:rPr>
              <a:t>Computational Efficiency</a:t>
            </a:r>
            <a:endParaRPr lang="en-US" sz="1400" dirty="0"/>
          </a:p>
        </p:txBody>
      </p:sp>
      <p:sp>
        <p:nvSpPr>
          <p:cNvPr id="71" name="Text 12">
            <a:extLst>
              <a:ext uri="{FF2B5EF4-FFF2-40B4-BE49-F238E27FC236}">
                <a16:creationId xmlns:a16="http://schemas.microsoft.com/office/drawing/2014/main" id="{A26C2D6B-E4F0-4CDD-C365-40A38118DB9C}"/>
              </a:ext>
            </a:extLst>
          </p:cNvPr>
          <p:cNvSpPr/>
          <p:nvPr/>
        </p:nvSpPr>
        <p:spPr>
          <a:xfrm>
            <a:off x="480179" y="4999077"/>
            <a:ext cx="7356515" cy="235744"/>
          </a:xfrm>
          <a:prstGeom prst="rect">
            <a:avLst/>
          </a:prstGeom>
          <a:noFill/>
          <a:ln/>
        </p:spPr>
        <p:txBody>
          <a:bodyPr wrap="none" lIns="0" tIns="0" rIns="0" bIns="0" rtlCol="0" anchor="t"/>
          <a:lstStyle/>
          <a:p>
            <a:pPr marL="0" indent="0" algn="l">
              <a:lnSpc>
                <a:spcPts val="1850"/>
              </a:lnSpc>
              <a:buNone/>
            </a:pPr>
            <a:r>
              <a:rPr lang="en-US" sz="1200" dirty="0">
                <a:solidFill>
                  <a:srgbClr val="272525"/>
                </a:solidFill>
                <a:latin typeface="Inter" pitchFamily="34" charset="0"/>
                <a:ea typeface="Inter" pitchFamily="34" charset="-122"/>
                <a:cs typeface="Inter" pitchFamily="34" charset="-120"/>
              </a:rPr>
              <a:t>Evaluate model capacity and speed relative to complexity (Compact CNN focus).</a:t>
            </a:r>
            <a:endParaRPr lang="en-US" sz="1200" dirty="0"/>
          </a:p>
        </p:txBody>
      </p:sp>
      <p:pic>
        <p:nvPicPr>
          <p:cNvPr id="72" name="Image 2" descr="preencoded.png">
            <a:extLst>
              <a:ext uri="{FF2B5EF4-FFF2-40B4-BE49-F238E27FC236}">
                <a16:creationId xmlns:a16="http://schemas.microsoft.com/office/drawing/2014/main" id="{0E95E350-5B62-2C74-28B3-6E84E2FACA37}"/>
              </a:ext>
            </a:extLst>
          </p:cNvPr>
          <p:cNvPicPr>
            <a:picLocks noChangeAspect="1"/>
          </p:cNvPicPr>
          <p:nvPr/>
        </p:nvPicPr>
        <p:blipFill>
          <a:blip r:embed="rId4"/>
          <a:stretch>
            <a:fillRect/>
          </a:stretch>
        </p:blipFill>
        <p:spPr>
          <a:xfrm>
            <a:off x="8001715" y="1236612"/>
            <a:ext cx="3250763" cy="3250763"/>
          </a:xfrm>
          <a:prstGeom prst="rect">
            <a:avLst/>
          </a:prstGeom>
        </p:spPr>
      </p:pic>
      <p:sp>
        <p:nvSpPr>
          <p:cNvPr id="73" name="Text 13">
            <a:extLst>
              <a:ext uri="{FF2B5EF4-FFF2-40B4-BE49-F238E27FC236}">
                <a16:creationId xmlns:a16="http://schemas.microsoft.com/office/drawing/2014/main" id="{4A4F3F28-9CCB-5375-A2F0-96641679379F}"/>
              </a:ext>
            </a:extLst>
          </p:cNvPr>
          <p:cNvSpPr/>
          <p:nvPr/>
        </p:nvSpPr>
        <p:spPr>
          <a:xfrm>
            <a:off x="7812763" y="4713506"/>
            <a:ext cx="2211467" cy="276344"/>
          </a:xfrm>
          <a:prstGeom prst="rect">
            <a:avLst/>
          </a:prstGeom>
          <a:noFill/>
          <a:ln/>
        </p:spPr>
        <p:txBody>
          <a:bodyPr wrap="none" lIns="0" tIns="0" rIns="0" bIns="0" rtlCol="0" anchor="t"/>
          <a:lstStyle/>
          <a:p>
            <a:pPr marL="0" indent="0" algn="l">
              <a:lnSpc>
                <a:spcPts val="2150"/>
              </a:lnSpc>
              <a:buNone/>
            </a:pPr>
            <a:r>
              <a:rPr lang="en-US" sz="1700" b="1" dirty="0">
                <a:solidFill>
                  <a:srgbClr val="000000"/>
                </a:solidFill>
                <a:latin typeface="Inter Bold" pitchFamily="34" charset="0"/>
                <a:ea typeface="Inter Bold" pitchFamily="34" charset="-122"/>
                <a:cs typeface="Inter Bold" pitchFamily="34" charset="-120"/>
              </a:rPr>
              <a:t>Dataset: CIFAR-10</a:t>
            </a:r>
            <a:endParaRPr lang="en-US" sz="1700" dirty="0"/>
          </a:p>
        </p:txBody>
      </p:sp>
      <p:sp>
        <p:nvSpPr>
          <p:cNvPr id="74" name="Text 14">
            <a:extLst>
              <a:ext uri="{FF2B5EF4-FFF2-40B4-BE49-F238E27FC236}">
                <a16:creationId xmlns:a16="http://schemas.microsoft.com/office/drawing/2014/main" id="{D9757401-FF24-35B7-1659-C6EFBF62C811}"/>
              </a:ext>
            </a:extLst>
          </p:cNvPr>
          <p:cNvSpPr/>
          <p:nvPr/>
        </p:nvSpPr>
        <p:spPr>
          <a:xfrm>
            <a:off x="7812763" y="5137249"/>
            <a:ext cx="4228345" cy="235744"/>
          </a:xfrm>
          <a:prstGeom prst="rect">
            <a:avLst/>
          </a:prstGeom>
          <a:noFill/>
          <a:ln/>
        </p:spPr>
        <p:txBody>
          <a:bodyPr wrap="none" lIns="0" tIns="0" rIns="0" bIns="0" rtlCol="0" anchor="t"/>
          <a:lstStyle/>
          <a:p>
            <a:pPr marL="342900" indent="-342900" algn="l">
              <a:lnSpc>
                <a:spcPts val="1850"/>
              </a:lnSpc>
              <a:buSzPct val="100000"/>
              <a:buChar char="•"/>
            </a:pPr>
            <a:r>
              <a:rPr lang="en-US" sz="1200" dirty="0">
                <a:solidFill>
                  <a:srgbClr val="272525"/>
                </a:solidFill>
                <a:latin typeface="Inter" pitchFamily="34" charset="0"/>
                <a:ea typeface="Inter" pitchFamily="34" charset="-122"/>
                <a:cs typeface="Inter" pitchFamily="34" charset="-120"/>
              </a:rPr>
              <a:t>Total Images: 60,000</a:t>
            </a:r>
            <a:endParaRPr lang="en-US" sz="1200" dirty="0"/>
          </a:p>
        </p:txBody>
      </p:sp>
      <p:sp>
        <p:nvSpPr>
          <p:cNvPr id="75" name="Text 15">
            <a:extLst>
              <a:ext uri="{FF2B5EF4-FFF2-40B4-BE49-F238E27FC236}">
                <a16:creationId xmlns:a16="http://schemas.microsoft.com/office/drawing/2014/main" id="{385DA7D1-4999-C782-61A7-76807348598F}"/>
              </a:ext>
            </a:extLst>
          </p:cNvPr>
          <p:cNvSpPr/>
          <p:nvPr/>
        </p:nvSpPr>
        <p:spPr>
          <a:xfrm>
            <a:off x="7812763" y="5424547"/>
            <a:ext cx="4228345" cy="235744"/>
          </a:xfrm>
          <a:prstGeom prst="rect">
            <a:avLst/>
          </a:prstGeom>
          <a:noFill/>
          <a:ln/>
        </p:spPr>
        <p:txBody>
          <a:bodyPr wrap="none" lIns="0" tIns="0" rIns="0" bIns="0" rtlCol="0" anchor="t"/>
          <a:lstStyle/>
          <a:p>
            <a:pPr marL="342900" indent="-342900" algn="l">
              <a:lnSpc>
                <a:spcPts val="1850"/>
              </a:lnSpc>
              <a:buSzPct val="100000"/>
              <a:buChar char="•"/>
            </a:pPr>
            <a:r>
              <a:rPr lang="en-US" sz="1200" dirty="0">
                <a:solidFill>
                  <a:srgbClr val="272525"/>
                </a:solidFill>
                <a:latin typeface="Inter" pitchFamily="34" charset="0"/>
                <a:ea typeface="Inter" pitchFamily="34" charset="-122"/>
                <a:cs typeface="Inter" pitchFamily="34" charset="-120"/>
              </a:rPr>
              <a:t>Classes: 10 (e.g., airplane, car, cat, dog)</a:t>
            </a:r>
            <a:endParaRPr lang="en-US" sz="1200" dirty="0"/>
          </a:p>
        </p:txBody>
      </p:sp>
      <p:sp>
        <p:nvSpPr>
          <p:cNvPr id="76" name="Text 16">
            <a:extLst>
              <a:ext uri="{FF2B5EF4-FFF2-40B4-BE49-F238E27FC236}">
                <a16:creationId xmlns:a16="http://schemas.microsoft.com/office/drawing/2014/main" id="{D7164F24-9390-8D82-869B-6FB83AF37602}"/>
              </a:ext>
            </a:extLst>
          </p:cNvPr>
          <p:cNvSpPr/>
          <p:nvPr/>
        </p:nvSpPr>
        <p:spPr>
          <a:xfrm>
            <a:off x="7812764" y="5711845"/>
            <a:ext cx="4228345" cy="235744"/>
          </a:xfrm>
          <a:prstGeom prst="rect">
            <a:avLst/>
          </a:prstGeom>
          <a:noFill/>
          <a:ln/>
        </p:spPr>
        <p:txBody>
          <a:bodyPr wrap="none" lIns="0" tIns="0" rIns="0" bIns="0" rtlCol="0" anchor="t"/>
          <a:lstStyle/>
          <a:p>
            <a:pPr marL="342900" indent="-342900" algn="l">
              <a:lnSpc>
                <a:spcPts val="1850"/>
              </a:lnSpc>
              <a:buSzPct val="100000"/>
              <a:buChar char="•"/>
            </a:pPr>
            <a:r>
              <a:rPr lang="en-US" sz="1200" dirty="0">
                <a:solidFill>
                  <a:srgbClr val="272525"/>
                </a:solidFill>
                <a:latin typeface="Inter" pitchFamily="34" charset="0"/>
                <a:ea typeface="Inter" pitchFamily="34" charset="-122"/>
                <a:cs typeface="Inter" pitchFamily="34" charset="-120"/>
              </a:rPr>
              <a:t>Resolution: Low-resolution 32x32 pixel color images (3 channels)</a:t>
            </a:r>
            <a:endParaRPr lang="en-US" sz="1200" dirty="0"/>
          </a:p>
        </p:txBody>
      </p:sp>
      <p:sp>
        <p:nvSpPr>
          <p:cNvPr id="77" name="Text 17">
            <a:extLst>
              <a:ext uri="{FF2B5EF4-FFF2-40B4-BE49-F238E27FC236}">
                <a16:creationId xmlns:a16="http://schemas.microsoft.com/office/drawing/2014/main" id="{13096BA2-ADCF-3723-83CF-D26A941739FD}"/>
              </a:ext>
            </a:extLst>
          </p:cNvPr>
          <p:cNvSpPr/>
          <p:nvPr/>
        </p:nvSpPr>
        <p:spPr>
          <a:xfrm>
            <a:off x="7812764" y="5999142"/>
            <a:ext cx="4228345" cy="471488"/>
          </a:xfrm>
          <a:prstGeom prst="rect">
            <a:avLst/>
          </a:prstGeom>
          <a:noFill/>
          <a:ln/>
        </p:spPr>
        <p:txBody>
          <a:bodyPr wrap="square" lIns="0" tIns="0" rIns="0" bIns="0" rtlCol="0" anchor="t"/>
          <a:lstStyle/>
          <a:p>
            <a:pPr marL="342900" indent="-342900" algn="l">
              <a:lnSpc>
                <a:spcPts val="1850"/>
              </a:lnSpc>
              <a:buSzPct val="100000"/>
              <a:buChar char="•"/>
            </a:pPr>
            <a:r>
              <a:rPr lang="en-US" sz="1200" dirty="0">
                <a:solidFill>
                  <a:srgbClr val="272525"/>
                </a:solidFill>
                <a:latin typeface="Inter" pitchFamily="34" charset="0"/>
                <a:ea typeface="Inter" pitchFamily="34" charset="-122"/>
                <a:cs typeface="Inter" pitchFamily="34" charset="-120"/>
              </a:rPr>
              <a:t>Characteristics: Balanced classes facilitate straightforward training and allow for rapid experimentation cycles.</a:t>
            </a:r>
            <a:endParaRPr lang="en-US" sz="1200" dirty="0"/>
          </a:p>
        </p:txBody>
      </p:sp>
      <p:pic>
        <p:nvPicPr>
          <p:cNvPr id="8" name="Audio 7">
            <a:extLst>
              <a:ext uri="{FF2B5EF4-FFF2-40B4-BE49-F238E27FC236}">
                <a16:creationId xmlns:a16="http://schemas.microsoft.com/office/drawing/2014/main" id="{569DE7A5-7630-EA86-A079-D28337B1C154}"/>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015211220"/>
      </p:ext>
    </p:extLst>
  </p:cSld>
  <p:clrMapOvr>
    <a:masterClrMapping/>
  </p:clrMapOvr>
  <mc:AlternateContent xmlns:mc="http://schemas.openxmlformats.org/markup-compatibility/2006" xmlns:p14="http://schemas.microsoft.com/office/powerpoint/2010/main">
    <mc:Choice Requires="p14">
      <p:transition spd="slow" p14:dur="2000" advTm="54845"/>
    </mc:Choice>
    <mc:Fallback xmlns="">
      <p:transition spd="slow" advTm="5484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772034F5-D4E9-FC86-3868-6D226B19FCF1}"/>
              </a:ext>
            </a:extLst>
          </p:cNvPr>
          <p:cNvSpPr/>
          <p:nvPr/>
        </p:nvSpPr>
        <p:spPr>
          <a:xfrm>
            <a:off x="388739" y="240507"/>
            <a:ext cx="7845743" cy="460772"/>
          </a:xfrm>
          <a:prstGeom prst="rect">
            <a:avLst/>
          </a:prstGeom>
          <a:noFill/>
          <a:ln/>
        </p:spPr>
        <p:txBody>
          <a:bodyPr wrap="none" lIns="0" tIns="0" rIns="0" bIns="0" rtlCol="0" anchor="t"/>
          <a:lstStyle/>
          <a:p>
            <a:pPr marL="0" indent="0" algn="l">
              <a:lnSpc>
                <a:spcPts val="3600"/>
              </a:lnSpc>
              <a:buNone/>
            </a:pPr>
            <a:r>
              <a:rPr lang="en-US" sz="2900" b="1" dirty="0">
                <a:solidFill>
                  <a:srgbClr val="000000"/>
                </a:solidFill>
                <a:latin typeface="Inter Bold" pitchFamily="34" charset="0"/>
                <a:ea typeface="Inter Bold" pitchFamily="34" charset="-122"/>
                <a:cs typeface="Inter Bold" pitchFamily="34" charset="-120"/>
              </a:rPr>
              <a:t>Data Splitting Strategy and Validation Setup</a:t>
            </a:r>
            <a:endParaRPr lang="en-US" sz="2900" dirty="0"/>
          </a:p>
        </p:txBody>
      </p:sp>
      <p:pic>
        <p:nvPicPr>
          <p:cNvPr id="5" name="Image 0" descr="preencoded.png">
            <a:extLst>
              <a:ext uri="{FF2B5EF4-FFF2-40B4-BE49-F238E27FC236}">
                <a16:creationId xmlns:a16="http://schemas.microsoft.com/office/drawing/2014/main" id="{250B67E8-35EB-5B94-6493-44442D6005EF}"/>
              </a:ext>
            </a:extLst>
          </p:cNvPr>
          <p:cNvPicPr>
            <a:picLocks noChangeAspect="1"/>
          </p:cNvPicPr>
          <p:nvPr/>
        </p:nvPicPr>
        <p:blipFill>
          <a:blip r:embed="rId4"/>
          <a:stretch>
            <a:fillRect/>
          </a:stretch>
        </p:blipFill>
        <p:spPr>
          <a:xfrm>
            <a:off x="241340" y="1533287"/>
            <a:ext cx="5943600" cy="537465"/>
          </a:xfrm>
          <a:prstGeom prst="rect">
            <a:avLst/>
          </a:prstGeom>
        </p:spPr>
      </p:pic>
      <p:sp>
        <p:nvSpPr>
          <p:cNvPr id="6" name="Text 1">
            <a:extLst>
              <a:ext uri="{FF2B5EF4-FFF2-40B4-BE49-F238E27FC236}">
                <a16:creationId xmlns:a16="http://schemas.microsoft.com/office/drawing/2014/main" id="{9A57BC58-EA17-6EDE-F262-5608266928AC}"/>
              </a:ext>
            </a:extLst>
          </p:cNvPr>
          <p:cNvSpPr/>
          <p:nvPr/>
        </p:nvSpPr>
        <p:spPr>
          <a:xfrm>
            <a:off x="388739" y="2270400"/>
            <a:ext cx="1842968" cy="230386"/>
          </a:xfrm>
          <a:prstGeom prst="rect">
            <a:avLst/>
          </a:prstGeom>
          <a:noFill/>
          <a:ln/>
        </p:spPr>
        <p:txBody>
          <a:bodyPr wrap="none" lIns="0" tIns="0" rIns="0" bIns="0" rtlCol="0" anchor="t"/>
          <a:lstStyle/>
          <a:p>
            <a:pPr marL="0" indent="0" algn="l">
              <a:lnSpc>
                <a:spcPts val="1800"/>
              </a:lnSpc>
              <a:buNone/>
            </a:pPr>
            <a:r>
              <a:rPr lang="en-US" sz="1400" b="1" dirty="0">
                <a:solidFill>
                  <a:srgbClr val="272525"/>
                </a:solidFill>
                <a:latin typeface="Inter Bold" pitchFamily="34" charset="0"/>
                <a:ea typeface="Inter Bold" pitchFamily="34" charset="-122"/>
                <a:cs typeface="Inter Bold" pitchFamily="34" charset="-120"/>
              </a:rPr>
              <a:t>Initial Dataset</a:t>
            </a:r>
            <a:endParaRPr lang="en-US" sz="1400" dirty="0"/>
          </a:p>
        </p:txBody>
      </p:sp>
      <p:sp>
        <p:nvSpPr>
          <p:cNvPr id="7" name="Text 2">
            <a:extLst>
              <a:ext uri="{FF2B5EF4-FFF2-40B4-BE49-F238E27FC236}">
                <a16:creationId xmlns:a16="http://schemas.microsoft.com/office/drawing/2014/main" id="{77B40F23-A811-92FF-1FD7-D917412684EC}"/>
              </a:ext>
            </a:extLst>
          </p:cNvPr>
          <p:cNvSpPr/>
          <p:nvPr/>
        </p:nvSpPr>
        <p:spPr>
          <a:xfrm>
            <a:off x="388739" y="2589130"/>
            <a:ext cx="6226612" cy="235744"/>
          </a:xfrm>
          <a:prstGeom prst="rect">
            <a:avLst/>
          </a:prstGeom>
          <a:noFill/>
          <a:ln/>
        </p:spPr>
        <p:txBody>
          <a:bodyPr wrap="none" lIns="0" tIns="0" rIns="0" bIns="0" rtlCol="0" anchor="t"/>
          <a:lstStyle/>
          <a:p>
            <a:pPr marL="0" indent="0" algn="l">
              <a:lnSpc>
                <a:spcPts val="1850"/>
              </a:lnSpc>
              <a:buNone/>
            </a:pPr>
            <a:r>
              <a:rPr lang="en-US" sz="1200" dirty="0">
                <a:solidFill>
                  <a:srgbClr val="272525"/>
                </a:solidFill>
                <a:latin typeface="Inter" pitchFamily="34" charset="0"/>
                <a:ea typeface="Inter" pitchFamily="34" charset="-122"/>
                <a:cs typeface="Inter" pitchFamily="34" charset="-120"/>
              </a:rPr>
              <a:t>60,000 Total CIFAR-10 Images</a:t>
            </a:r>
            <a:endParaRPr lang="en-US" sz="1200" dirty="0"/>
          </a:p>
        </p:txBody>
      </p:sp>
      <p:pic>
        <p:nvPicPr>
          <p:cNvPr id="8" name="Image 1" descr="preencoded.png">
            <a:extLst>
              <a:ext uri="{FF2B5EF4-FFF2-40B4-BE49-F238E27FC236}">
                <a16:creationId xmlns:a16="http://schemas.microsoft.com/office/drawing/2014/main" id="{CBD3FA73-247D-86A3-AFE6-79BD7A3515E6}"/>
              </a:ext>
            </a:extLst>
          </p:cNvPr>
          <p:cNvPicPr>
            <a:picLocks noChangeAspect="1"/>
          </p:cNvPicPr>
          <p:nvPr/>
        </p:nvPicPr>
        <p:blipFill>
          <a:blip r:embed="rId5"/>
          <a:stretch>
            <a:fillRect/>
          </a:stretch>
        </p:blipFill>
        <p:spPr>
          <a:xfrm>
            <a:off x="6248400" y="1533287"/>
            <a:ext cx="5943600" cy="537467"/>
          </a:xfrm>
          <a:prstGeom prst="rect">
            <a:avLst/>
          </a:prstGeom>
        </p:spPr>
      </p:pic>
      <p:sp>
        <p:nvSpPr>
          <p:cNvPr id="9" name="Text 3">
            <a:extLst>
              <a:ext uri="{FF2B5EF4-FFF2-40B4-BE49-F238E27FC236}">
                <a16:creationId xmlns:a16="http://schemas.microsoft.com/office/drawing/2014/main" id="{BDC3AF48-4506-2490-3859-C5FD0D529EEB}"/>
              </a:ext>
            </a:extLst>
          </p:cNvPr>
          <p:cNvSpPr/>
          <p:nvPr/>
        </p:nvSpPr>
        <p:spPr>
          <a:xfrm>
            <a:off x="6395799" y="2270403"/>
            <a:ext cx="1842968" cy="230386"/>
          </a:xfrm>
          <a:prstGeom prst="rect">
            <a:avLst/>
          </a:prstGeom>
          <a:noFill/>
          <a:ln/>
        </p:spPr>
        <p:txBody>
          <a:bodyPr wrap="none" lIns="0" tIns="0" rIns="0" bIns="0" rtlCol="0" anchor="t"/>
          <a:lstStyle/>
          <a:p>
            <a:pPr marL="0" indent="0" algn="l">
              <a:lnSpc>
                <a:spcPts val="1800"/>
              </a:lnSpc>
              <a:buNone/>
            </a:pPr>
            <a:r>
              <a:rPr lang="en-US" sz="1400" b="1" dirty="0">
                <a:solidFill>
                  <a:srgbClr val="272525"/>
                </a:solidFill>
                <a:latin typeface="Inter Bold" pitchFamily="34" charset="0"/>
                <a:ea typeface="Inter Bold" pitchFamily="34" charset="-122"/>
                <a:cs typeface="Inter Bold" pitchFamily="34" charset="-120"/>
              </a:rPr>
              <a:t>Training Set (45k)</a:t>
            </a:r>
            <a:endParaRPr lang="en-US" sz="1400" dirty="0"/>
          </a:p>
        </p:txBody>
      </p:sp>
      <p:sp>
        <p:nvSpPr>
          <p:cNvPr id="10" name="Text 4">
            <a:extLst>
              <a:ext uri="{FF2B5EF4-FFF2-40B4-BE49-F238E27FC236}">
                <a16:creationId xmlns:a16="http://schemas.microsoft.com/office/drawing/2014/main" id="{305BD6A2-912C-4A4A-D015-15D97E28C24B}"/>
              </a:ext>
            </a:extLst>
          </p:cNvPr>
          <p:cNvSpPr/>
          <p:nvPr/>
        </p:nvSpPr>
        <p:spPr>
          <a:xfrm>
            <a:off x="6395799" y="2589133"/>
            <a:ext cx="5407462" cy="235744"/>
          </a:xfrm>
          <a:prstGeom prst="rect">
            <a:avLst/>
          </a:prstGeom>
          <a:noFill/>
          <a:ln/>
        </p:spPr>
        <p:txBody>
          <a:bodyPr wrap="none" lIns="0" tIns="0" rIns="0" bIns="0" rtlCol="0" anchor="t"/>
          <a:lstStyle/>
          <a:p>
            <a:pPr marL="0" indent="0" algn="l">
              <a:lnSpc>
                <a:spcPts val="1850"/>
              </a:lnSpc>
              <a:buNone/>
            </a:pPr>
            <a:r>
              <a:rPr lang="en-US" sz="1200" dirty="0">
                <a:solidFill>
                  <a:srgbClr val="272525"/>
                </a:solidFill>
                <a:latin typeface="Inter" pitchFamily="34" charset="0"/>
                <a:ea typeface="Inter" pitchFamily="34" charset="-122"/>
                <a:cs typeface="Inter" pitchFamily="34" charset="-120"/>
              </a:rPr>
              <a:t>Used exclusively for model weight optimization.</a:t>
            </a:r>
            <a:endParaRPr lang="en-US" sz="1200" dirty="0"/>
          </a:p>
        </p:txBody>
      </p:sp>
      <p:pic>
        <p:nvPicPr>
          <p:cNvPr id="11" name="Image 2" descr="preencoded.png">
            <a:extLst>
              <a:ext uri="{FF2B5EF4-FFF2-40B4-BE49-F238E27FC236}">
                <a16:creationId xmlns:a16="http://schemas.microsoft.com/office/drawing/2014/main" id="{07706191-0826-2BC0-D3F0-77FD00700FC3}"/>
              </a:ext>
            </a:extLst>
          </p:cNvPr>
          <p:cNvPicPr>
            <a:picLocks noChangeAspect="1"/>
          </p:cNvPicPr>
          <p:nvPr/>
        </p:nvPicPr>
        <p:blipFill>
          <a:blip r:embed="rId6"/>
          <a:stretch>
            <a:fillRect/>
          </a:stretch>
        </p:blipFill>
        <p:spPr>
          <a:xfrm>
            <a:off x="241340" y="2972273"/>
            <a:ext cx="5943600" cy="537467"/>
          </a:xfrm>
          <a:prstGeom prst="rect">
            <a:avLst/>
          </a:prstGeom>
        </p:spPr>
      </p:pic>
      <p:sp>
        <p:nvSpPr>
          <p:cNvPr id="12" name="Text 5">
            <a:extLst>
              <a:ext uri="{FF2B5EF4-FFF2-40B4-BE49-F238E27FC236}">
                <a16:creationId xmlns:a16="http://schemas.microsoft.com/office/drawing/2014/main" id="{2A5CDB84-711D-060E-72AD-46B613AF9274}"/>
              </a:ext>
            </a:extLst>
          </p:cNvPr>
          <p:cNvSpPr/>
          <p:nvPr/>
        </p:nvSpPr>
        <p:spPr>
          <a:xfrm>
            <a:off x="388739" y="3709389"/>
            <a:ext cx="1842968" cy="230386"/>
          </a:xfrm>
          <a:prstGeom prst="rect">
            <a:avLst/>
          </a:prstGeom>
          <a:noFill/>
          <a:ln/>
        </p:spPr>
        <p:txBody>
          <a:bodyPr wrap="none" lIns="0" tIns="0" rIns="0" bIns="0" rtlCol="0" anchor="t"/>
          <a:lstStyle/>
          <a:p>
            <a:pPr marL="0" indent="0" algn="l">
              <a:lnSpc>
                <a:spcPts val="1800"/>
              </a:lnSpc>
              <a:buNone/>
            </a:pPr>
            <a:r>
              <a:rPr lang="en-US" sz="1400" b="1" dirty="0">
                <a:solidFill>
                  <a:srgbClr val="272525"/>
                </a:solidFill>
                <a:latin typeface="Inter Bold" pitchFamily="34" charset="0"/>
                <a:ea typeface="Inter Bold" pitchFamily="34" charset="-122"/>
                <a:cs typeface="Inter Bold" pitchFamily="34" charset="-120"/>
              </a:rPr>
              <a:t>Validation Set (5k)</a:t>
            </a:r>
            <a:endParaRPr lang="en-US" sz="1400" dirty="0"/>
          </a:p>
        </p:txBody>
      </p:sp>
      <p:sp>
        <p:nvSpPr>
          <p:cNvPr id="13" name="Text 6">
            <a:extLst>
              <a:ext uri="{FF2B5EF4-FFF2-40B4-BE49-F238E27FC236}">
                <a16:creationId xmlns:a16="http://schemas.microsoft.com/office/drawing/2014/main" id="{42920061-3F0B-AA8E-95E8-39D2F056F567}"/>
              </a:ext>
            </a:extLst>
          </p:cNvPr>
          <p:cNvSpPr/>
          <p:nvPr/>
        </p:nvSpPr>
        <p:spPr>
          <a:xfrm>
            <a:off x="388739" y="4028119"/>
            <a:ext cx="6226612" cy="235744"/>
          </a:xfrm>
          <a:prstGeom prst="rect">
            <a:avLst/>
          </a:prstGeom>
          <a:noFill/>
          <a:ln/>
        </p:spPr>
        <p:txBody>
          <a:bodyPr wrap="none" lIns="0" tIns="0" rIns="0" bIns="0" rtlCol="0" anchor="t"/>
          <a:lstStyle/>
          <a:p>
            <a:pPr marL="0" indent="0" algn="l">
              <a:lnSpc>
                <a:spcPts val="1850"/>
              </a:lnSpc>
              <a:buNone/>
            </a:pPr>
            <a:r>
              <a:rPr lang="en-US" sz="1200" dirty="0">
                <a:solidFill>
                  <a:srgbClr val="272525"/>
                </a:solidFill>
                <a:latin typeface="Inter" pitchFamily="34" charset="0"/>
                <a:ea typeface="Inter" pitchFamily="34" charset="-122"/>
                <a:cs typeface="Inter" pitchFamily="34" charset="-120"/>
              </a:rPr>
              <a:t>Held out for hyperparameter tuning and early stopping criteria.</a:t>
            </a:r>
            <a:endParaRPr lang="en-US" sz="1200" dirty="0"/>
          </a:p>
        </p:txBody>
      </p:sp>
      <p:pic>
        <p:nvPicPr>
          <p:cNvPr id="14" name="Image 3" descr="preencoded.png">
            <a:extLst>
              <a:ext uri="{FF2B5EF4-FFF2-40B4-BE49-F238E27FC236}">
                <a16:creationId xmlns:a16="http://schemas.microsoft.com/office/drawing/2014/main" id="{C2EA617E-6615-BB90-9C4B-317FFBA48497}"/>
              </a:ext>
            </a:extLst>
          </p:cNvPr>
          <p:cNvPicPr>
            <a:picLocks noChangeAspect="1"/>
          </p:cNvPicPr>
          <p:nvPr/>
        </p:nvPicPr>
        <p:blipFill>
          <a:blip r:embed="rId7"/>
          <a:stretch>
            <a:fillRect/>
          </a:stretch>
        </p:blipFill>
        <p:spPr>
          <a:xfrm>
            <a:off x="6248400" y="2972276"/>
            <a:ext cx="5943600" cy="537467"/>
          </a:xfrm>
          <a:prstGeom prst="rect">
            <a:avLst/>
          </a:prstGeom>
        </p:spPr>
      </p:pic>
      <p:sp>
        <p:nvSpPr>
          <p:cNvPr id="15" name="Text 7">
            <a:extLst>
              <a:ext uri="{FF2B5EF4-FFF2-40B4-BE49-F238E27FC236}">
                <a16:creationId xmlns:a16="http://schemas.microsoft.com/office/drawing/2014/main" id="{5126206B-B3C4-C459-41D1-AF13645AFE74}"/>
              </a:ext>
            </a:extLst>
          </p:cNvPr>
          <p:cNvSpPr/>
          <p:nvPr/>
        </p:nvSpPr>
        <p:spPr>
          <a:xfrm>
            <a:off x="6395799" y="3709392"/>
            <a:ext cx="1842968" cy="230386"/>
          </a:xfrm>
          <a:prstGeom prst="rect">
            <a:avLst/>
          </a:prstGeom>
          <a:noFill/>
          <a:ln/>
        </p:spPr>
        <p:txBody>
          <a:bodyPr wrap="none" lIns="0" tIns="0" rIns="0" bIns="0" rtlCol="0" anchor="t"/>
          <a:lstStyle/>
          <a:p>
            <a:pPr marL="0" indent="0" algn="l">
              <a:lnSpc>
                <a:spcPts val="1800"/>
              </a:lnSpc>
              <a:buNone/>
            </a:pPr>
            <a:r>
              <a:rPr lang="en-US" sz="1400" b="1" dirty="0">
                <a:solidFill>
                  <a:srgbClr val="272525"/>
                </a:solidFill>
                <a:latin typeface="Inter Bold" pitchFamily="34" charset="0"/>
                <a:ea typeface="Inter Bold" pitchFamily="34" charset="-122"/>
                <a:cs typeface="Inter Bold" pitchFamily="34" charset="-120"/>
              </a:rPr>
              <a:t>Test Set (10k)</a:t>
            </a:r>
            <a:endParaRPr lang="en-US" sz="1400" dirty="0"/>
          </a:p>
        </p:txBody>
      </p:sp>
      <p:sp>
        <p:nvSpPr>
          <p:cNvPr id="16" name="Text 8">
            <a:extLst>
              <a:ext uri="{FF2B5EF4-FFF2-40B4-BE49-F238E27FC236}">
                <a16:creationId xmlns:a16="http://schemas.microsoft.com/office/drawing/2014/main" id="{CAD43F70-83E7-EA73-3DBB-46694BDBB436}"/>
              </a:ext>
            </a:extLst>
          </p:cNvPr>
          <p:cNvSpPr/>
          <p:nvPr/>
        </p:nvSpPr>
        <p:spPr>
          <a:xfrm>
            <a:off x="6395799" y="4028122"/>
            <a:ext cx="5554861" cy="235744"/>
          </a:xfrm>
          <a:prstGeom prst="rect">
            <a:avLst/>
          </a:prstGeom>
          <a:noFill/>
          <a:ln/>
        </p:spPr>
        <p:txBody>
          <a:bodyPr wrap="none" lIns="0" tIns="0" rIns="0" bIns="0" rtlCol="0" anchor="t"/>
          <a:lstStyle/>
          <a:p>
            <a:pPr marL="0" indent="0" algn="l">
              <a:lnSpc>
                <a:spcPts val="1850"/>
              </a:lnSpc>
              <a:buNone/>
            </a:pPr>
            <a:r>
              <a:rPr lang="en-US" sz="1200" dirty="0">
                <a:solidFill>
                  <a:srgbClr val="272525"/>
                </a:solidFill>
                <a:latin typeface="Inter" pitchFamily="34" charset="0"/>
                <a:ea typeface="Inter" pitchFamily="34" charset="-122"/>
                <a:cs typeface="Inter" pitchFamily="34" charset="-120"/>
              </a:rPr>
              <a:t>Final, unbiased evaluation of the trained model's generalization ability.</a:t>
            </a:r>
            <a:endParaRPr lang="en-US" sz="1200" dirty="0"/>
          </a:p>
        </p:txBody>
      </p:sp>
      <p:sp>
        <p:nvSpPr>
          <p:cNvPr id="17" name="Text 9">
            <a:extLst>
              <a:ext uri="{FF2B5EF4-FFF2-40B4-BE49-F238E27FC236}">
                <a16:creationId xmlns:a16="http://schemas.microsoft.com/office/drawing/2014/main" id="{D8C68423-104E-A95A-0DFD-B44303D6E1BC}"/>
              </a:ext>
            </a:extLst>
          </p:cNvPr>
          <p:cNvSpPr/>
          <p:nvPr/>
        </p:nvSpPr>
        <p:spPr>
          <a:xfrm>
            <a:off x="462439" y="4816673"/>
            <a:ext cx="11488221" cy="471488"/>
          </a:xfrm>
          <a:prstGeom prst="rect">
            <a:avLst/>
          </a:prstGeom>
          <a:noFill/>
          <a:ln/>
        </p:spPr>
        <p:txBody>
          <a:bodyPr wrap="square" lIns="0" tIns="0" rIns="0" bIns="0" rtlCol="0" anchor="t"/>
          <a:lstStyle/>
          <a:p>
            <a:pPr marL="0" indent="0" algn="l">
              <a:lnSpc>
                <a:spcPts val="1850"/>
              </a:lnSpc>
              <a:buNone/>
            </a:pPr>
            <a:r>
              <a:rPr lang="en-US" sz="1200" dirty="0">
                <a:solidFill>
                  <a:srgbClr val="272525"/>
                </a:solidFill>
                <a:latin typeface="Inter" pitchFamily="34" charset="0"/>
                <a:ea typeface="Inter" pitchFamily="34" charset="-122"/>
                <a:cs typeface="Inter" pitchFamily="34" charset="-120"/>
              </a:rPr>
              <a:t>The 5,000 image hold-out validation set is crucial. It prevents overfitting to the training data and allows us to rigorously tune hyperparameters before final evaluation on the dedicated 10,000 image test set, ensuring reliable performance metrics.</a:t>
            </a:r>
            <a:endParaRPr lang="en-US" sz="1200" dirty="0"/>
          </a:p>
        </p:txBody>
      </p:sp>
      <p:sp>
        <p:nvSpPr>
          <p:cNvPr id="18" name="Shape 10">
            <a:extLst>
              <a:ext uri="{FF2B5EF4-FFF2-40B4-BE49-F238E27FC236}">
                <a16:creationId xmlns:a16="http://schemas.microsoft.com/office/drawing/2014/main" id="{1BB69832-C053-9F9F-2D98-640D3E957EFA}"/>
              </a:ext>
            </a:extLst>
          </p:cNvPr>
          <p:cNvSpPr/>
          <p:nvPr/>
        </p:nvSpPr>
        <p:spPr>
          <a:xfrm>
            <a:off x="373499" y="4650819"/>
            <a:ext cx="15240" cy="803196"/>
          </a:xfrm>
          <a:prstGeom prst="rect">
            <a:avLst/>
          </a:prstGeom>
          <a:solidFill>
            <a:srgbClr val="4950BC"/>
          </a:solidFill>
          <a:ln/>
        </p:spPr>
        <p:txBody>
          <a:bodyPr/>
          <a:lstStyle/>
          <a:p>
            <a:endParaRPr lang="en-US" dirty="0"/>
          </a:p>
        </p:txBody>
      </p:sp>
      <p:pic>
        <p:nvPicPr>
          <p:cNvPr id="23" name="Audio 22">
            <a:extLst>
              <a:ext uri="{FF2B5EF4-FFF2-40B4-BE49-F238E27FC236}">
                <a16:creationId xmlns:a16="http://schemas.microsoft.com/office/drawing/2014/main" id="{0AEFBA24-76F5-E392-BA55-327AC52890FE}"/>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252710194"/>
      </p:ext>
    </p:extLst>
  </p:cSld>
  <p:clrMapOvr>
    <a:masterClrMapping/>
  </p:clrMapOvr>
  <mc:AlternateContent xmlns:mc="http://schemas.openxmlformats.org/markup-compatibility/2006" xmlns:p14="http://schemas.microsoft.com/office/powerpoint/2010/main">
    <mc:Choice Requires="p14">
      <p:transition spd="slow" p14:dur="2000" advTm="39021"/>
    </mc:Choice>
    <mc:Fallback xmlns="">
      <p:transition spd="slow" advTm="3902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3"/>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FDF1F353-1AC5-8A51-6A65-22BD1A62FBFC}"/>
              </a:ext>
            </a:extLst>
          </p:cNvPr>
          <p:cNvSpPr/>
          <p:nvPr/>
        </p:nvSpPr>
        <p:spPr>
          <a:xfrm>
            <a:off x="174665" y="217051"/>
            <a:ext cx="8640366" cy="460772"/>
          </a:xfrm>
          <a:prstGeom prst="rect">
            <a:avLst/>
          </a:prstGeom>
          <a:noFill/>
          <a:ln/>
        </p:spPr>
        <p:txBody>
          <a:bodyPr wrap="none" lIns="0" tIns="0" rIns="0" bIns="0" rtlCol="0" anchor="t"/>
          <a:lstStyle/>
          <a:p>
            <a:pPr marL="0" indent="0" algn="l">
              <a:lnSpc>
                <a:spcPts val="3600"/>
              </a:lnSpc>
              <a:buNone/>
            </a:pPr>
            <a:r>
              <a:rPr lang="en-US" sz="2900" b="1" dirty="0">
                <a:solidFill>
                  <a:srgbClr val="000000"/>
                </a:solidFill>
                <a:latin typeface="Inter Bold" pitchFamily="34" charset="0"/>
                <a:ea typeface="Inter Bold" pitchFamily="34" charset="-122"/>
                <a:cs typeface="Inter Bold" pitchFamily="34" charset="-120"/>
              </a:rPr>
              <a:t>Pre-processing and Data Augmentation Pipeline</a:t>
            </a:r>
            <a:endParaRPr lang="en-US" sz="2900" dirty="0"/>
          </a:p>
        </p:txBody>
      </p:sp>
      <p:sp>
        <p:nvSpPr>
          <p:cNvPr id="5" name="Text 1">
            <a:extLst>
              <a:ext uri="{FF2B5EF4-FFF2-40B4-BE49-F238E27FC236}">
                <a16:creationId xmlns:a16="http://schemas.microsoft.com/office/drawing/2014/main" id="{21D37567-ECDB-4131-A083-D0F48E41C772}"/>
              </a:ext>
            </a:extLst>
          </p:cNvPr>
          <p:cNvSpPr/>
          <p:nvPr/>
        </p:nvSpPr>
        <p:spPr>
          <a:xfrm>
            <a:off x="174665" y="972622"/>
            <a:ext cx="11836943" cy="235744"/>
          </a:xfrm>
          <a:prstGeom prst="rect">
            <a:avLst/>
          </a:prstGeom>
          <a:noFill/>
          <a:ln/>
        </p:spPr>
        <p:txBody>
          <a:bodyPr wrap="none" lIns="0" tIns="0" rIns="0" bIns="0" rtlCol="0" anchor="t"/>
          <a:lstStyle/>
          <a:p>
            <a:pPr marL="0" indent="0" algn="l">
              <a:lnSpc>
                <a:spcPts val="1850"/>
              </a:lnSpc>
              <a:buNone/>
            </a:pPr>
            <a:r>
              <a:rPr lang="en-US" sz="1200" dirty="0">
                <a:solidFill>
                  <a:srgbClr val="272525"/>
                </a:solidFill>
                <a:latin typeface="Inter" pitchFamily="34" charset="0"/>
                <a:ea typeface="Inter" pitchFamily="34" charset="-122"/>
                <a:cs typeface="Inter" pitchFamily="34" charset="-120"/>
              </a:rPr>
              <a:t>To improve model robustness and generalization, a specific sequence of pre-processing and data augmentation steps is applied, strictly limited to the training subset.</a:t>
            </a:r>
            <a:endParaRPr lang="en-US" sz="1200" dirty="0"/>
          </a:p>
        </p:txBody>
      </p:sp>
      <p:sp>
        <p:nvSpPr>
          <p:cNvPr id="6" name="Shape 2">
            <a:extLst>
              <a:ext uri="{FF2B5EF4-FFF2-40B4-BE49-F238E27FC236}">
                <a16:creationId xmlns:a16="http://schemas.microsoft.com/office/drawing/2014/main" id="{2704A9BD-AC6F-4843-5F1E-525C6EBC7DE1}"/>
              </a:ext>
            </a:extLst>
          </p:cNvPr>
          <p:cNvSpPr/>
          <p:nvPr/>
        </p:nvSpPr>
        <p:spPr>
          <a:xfrm>
            <a:off x="174665" y="1374219"/>
            <a:ext cx="11842671" cy="1960364"/>
          </a:xfrm>
          <a:prstGeom prst="roundRect">
            <a:avLst>
              <a:gd name="adj" fmla="val 3940"/>
            </a:avLst>
          </a:prstGeom>
          <a:solidFill>
            <a:srgbClr val="DADBF1"/>
          </a:solidFill>
          <a:ln w="7620">
            <a:solidFill>
              <a:srgbClr val="C0C1D7"/>
            </a:solidFill>
            <a:prstDash val="solid"/>
          </a:ln>
        </p:spPr>
        <p:txBody>
          <a:bodyPr/>
          <a:lstStyle/>
          <a:p>
            <a:endParaRPr lang="en-US" dirty="0"/>
          </a:p>
        </p:txBody>
      </p:sp>
      <p:sp>
        <p:nvSpPr>
          <p:cNvPr id="7" name="Shape 3">
            <a:extLst>
              <a:ext uri="{FF2B5EF4-FFF2-40B4-BE49-F238E27FC236}">
                <a16:creationId xmlns:a16="http://schemas.microsoft.com/office/drawing/2014/main" id="{7D84A621-3823-7F9C-0537-100CE4214BDA}"/>
              </a:ext>
            </a:extLst>
          </p:cNvPr>
          <p:cNvSpPr/>
          <p:nvPr/>
        </p:nvSpPr>
        <p:spPr>
          <a:xfrm>
            <a:off x="182285" y="1381839"/>
            <a:ext cx="3149950" cy="1556504"/>
          </a:xfrm>
          <a:prstGeom prst="roundRect">
            <a:avLst>
              <a:gd name="adj" fmla="val 3978"/>
            </a:avLst>
          </a:prstGeom>
          <a:solidFill>
            <a:srgbClr val="DADBF1"/>
          </a:solidFill>
          <a:ln/>
        </p:spPr>
        <p:txBody>
          <a:bodyPr/>
          <a:lstStyle/>
          <a:p>
            <a:endParaRPr lang="en-US" dirty="0"/>
          </a:p>
        </p:txBody>
      </p:sp>
      <p:sp>
        <p:nvSpPr>
          <p:cNvPr id="8" name="Text 4">
            <a:extLst>
              <a:ext uri="{FF2B5EF4-FFF2-40B4-BE49-F238E27FC236}">
                <a16:creationId xmlns:a16="http://schemas.microsoft.com/office/drawing/2014/main" id="{D366CD60-3F27-815A-7525-62B975D6342E}"/>
              </a:ext>
            </a:extLst>
          </p:cNvPr>
          <p:cNvSpPr/>
          <p:nvPr/>
        </p:nvSpPr>
        <p:spPr>
          <a:xfrm>
            <a:off x="329684" y="1529239"/>
            <a:ext cx="1764203" cy="230386"/>
          </a:xfrm>
          <a:prstGeom prst="rect">
            <a:avLst/>
          </a:prstGeom>
          <a:noFill/>
          <a:ln/>
        </p:spPr>
        <p:txBody>
          <a:bodyPr wrap="none" lIns="0" tIns="0" rIns="0" bIns="0" rtlCol="0" anchor="t"/>
          <a:lstStyle/>
          <a:p>
            <a:pPr marL="0" indent="0" algn="l">
              <a:lnSpc>
                <a:spcPts val="1800"/>
              </a:lnSpc>
              <a:buNone/>
            </a:pPr>
            <a:r>
              <a:rPr lang="en-US" sz="1600" b="1" dirty="0">
                <a:solidFill>
                  <a:srgbClr val="272525"/>
                </a:solidFill>
                <a:latin typeface="Inter Bold" pitchFamily="34" charset="0"/>
                <a:ea typeface="Inter Bold" pitchFamily="34" charset="-122"/>
                <a:cs typeface="Inter Bold" pitchFamily="34" charset="-120"/>
              </a:rPr>
              <a:t>Per-Channel </a:t>
            </a:r>
            <a:r>
              <a:rPr lang="en-US" sz="1400" b="1" dirty="0">
                <a:solidFill>
                  <a:srgbClr val="272525"/>
                </a:solidFill>
                <a:latin typeface="Inter Bold" pitchFamily="34" charset="0"/>
                <a:ea typeface="Inter Bold" pitchFamily="34" charset="-122"/>
                <a:cs typeface="Inter Bold" pitchFamily="34" charset="-120"/>
              </a:rPr>
              <a:t>Normalisation</a:t>
            </a:r>
            <a:endParaRPr lang="en-US" sz="1600" dirty="0"/>
          </a:p>
        </p:txBody>
      </p:sp>
      <p:sp>
        <p:nvSpPr>
          <p:cNvPr id="9" name="Text 5">
            <a:extLst>
              <a:ext uri="{FF2B5EF4-FFF2-40B4-BE49-F238E27FC236}">
                <a16:creationId xmlns:a16="http://schemas.microsoft.com/office/drawing/2014/main" id="{6193333F-1932-27BE-3C74-136BE4630C1C}"/>
              </a:ext>
            </a:extLst>
          </p:cNvPr>
          <p:cNvSpPr/>
          <p:nvPr/>
        </p:nvSpPr>
        <p:spPr>
          <a:xfrm>
            <a:off x="329684" y="1847969"/>
            <a:ext cx="2775725" cy="942975"/>
          </a:xfrm>
          <a:prstGeom prst="rect">
            <a:avLst/>
          </a:prstGeom>
          <a:noFill/>
          <a:ln/>
        </p:spPr>
        <p:txBody>
          <a:bodyPr wrap="square" lIns="0" tIns="0" rIns="0" bIns="0" rtlCol="0" anchor="t"/>
          <a:lstStyle/>
          <a:p>
            <a:pPr marL="0" indent="0" algn="l">
              <a:lnSpc>
                <a:spcPts val="1850"/>
              </a:lnSpc>
              <a:buNone/>
            </a:pPr>
            <a:r>
              <a:rPr lang="en-US" sz="1200" dirty="0">
                <a:solidFill>
                  <a:srgbClr val="272525"/>
                </a:solidFill>
                <a:latin typeface="Inter" pitchFamily="34" charset="0"/>
                <a:ea typeface="Inter" pitchFamily="34" charset="-122"/>
                <a:cs typeface="Inter" pitchFamily="34" charset="-120"/>
              </a:rPr>
              <a:t>Images are normalized using the mean and standard deviation calculated across the entire training dataset for each color channel (RGB). This standardizes input distribution.</a:t>
            </a:r>
            <a:endParaRPr lang="en-US" sz="1200" dirty="0"/>
          </a:p>
        </p:txBody>
      </p:sp>
      <p:sp>
        <p:nvSpPr>
          <p:cNvPr id="10" name="Shape 6">
            <a:extLst>
              <a:ext uri="{FF2B5EF4-FFF2-40B4-BE49-F238E27FC236}">
                <a16:creationId xmlns:a16="http://schemas.microsoft.com/office/drawing/2014/main" id="{80AC7091-A72B-FF75-0041-F27EA12A3EF8}"/>
              </a:ext>
            </a:extLst>
          </p:cNvPr>
          <p:cNvSpPr/>
          <p:nvPr/>
        </p:nvSpPr>
        <p:spPr>
          <a:xfrm>
            <a:off x="4524733" y="1381839"/>
            <a:ext cx="3150036" cy="1556504"/>
          </a:xfrm>
          <a:prstGeom prst="rect">
            <a:avLst/>
          </a:prstGeom>
          <a:solidFill>
            <a:srgbClr val="DADBF1"/>
          </a:solidFill>
          <a:ln/>
        </p:spPr>
        <p:txBody>
          <a:bodyPr/>
          <a:lstStyle/>
          <a:p>
            <a:endParaRPr lang="en-US" dirty="0"/>
          </a:p>
        </p:txBody>
      </p:sp>
      <p:sp>
        <p:nvSpPr>
          <p:cNvPr id="11" name="Shape 7">
            <a:extLst>
              <a:ext uri="{FF2B5EF4-FFF2-40B4-BE49-F238E27FC236}">
                <a16:creationId xmlns:a16="http://schemas.microsoft.com/office/drawing/2014/main" id="{A6102825-9FDD-49DE-5EA5-2B26046EF79B}"/>
              </a:ext>
            </a:extLst>
          </p:cNvPr>
          <p:cNvSpPr/>
          <p:nvPr/>
        </p:nvSpPr>
        <p:spPr>
          <a:xfrm>
            <a:off x="4524732" y="1381839"/>
            <a:ext cx="15240" cy="1920240"/>
          </a:xfrm>
          <a:prstGeom prst="roundRect">
            <a:avLst>
              <a:gd name="adj" fmla="val 406325"/>
            </a:avLst>
          </a:prstGeom>
          <a:solidFill>
            <a:srgbClr val="C0C1D7"/>
          </a:solidFill>
          <a:ln/>
        </p:spPr>
        <p:txBody>
          <a:bodyPr/>
          <a:lstStyle/>
          <a:p>
            <a:endParaRPr lang="en-US" dirty="0"/>
          </a:p>
        </p:txBody>
      </p:sp>
      <p:sp>
        <p:nvSpPr>
          <p:cNvPr id="12" name="Text 8">
            <a:extLst>
              <a:ext uri="{FF2B5EF4-FFF2-40B4-BE49-F238E27FC236}">
                <a16:creationId xmlns:a16="http://schemas.microsoft.com/office/drawing/2014/main" id="{D683547B-2D0C-6DA9-3B9D-EF694E331BA3}"/>
              </a:ext>
            </a:extLst>
          </p:cNvPr>
          <p:cNvSpPr/>
          <p:nvPr/>
        </p:nvSpPr>
        <p:spPr>
          <a:xfrm>
            <a:off x="4893231" y="1529239"/>
            <a:ext cx="1336863" cy="230386"/>
          </a:xfrm>
          <a:prstGeom prst="rect">
            <a:avLst/>
          </a:prstGeom>
          <a:noFill/>
          <a:ln/>
        </p:spPr>
        <p:txBody>
          <a:bodyPr wrap="none" lIns="0" tIns="0" rIns="0" bIns="0" rtlCol="0" anchor="t"/>
          <a:lstStyle/>
          <a:p>
            <a:pPr marL="0" indent="0" algn="l">
              <a:lnSpc>
                <a:spcPts val="1800"/>
              </a:lnSpc>
              <a:buNone/>
            </a:pPr>
            <a:r>
              <a:rPr lang="en-US" sz="1400" b="1" dirty="0">
                <a:solidFill>
                  <a:srgbClr val="272525"/>
                </a:solidFill>
                <a:latin typeface="Inter Bold" pitchFamily="34" charset="0"/>
                <a:ea typeface="Inter Bold" pitchFamily="34" charset="-122"/>
                <a:cs typeface="Inter Bold" pitchFamily="34" charset="-120"/>
              </a:rPr>
              <a:t>Random Crop &amp; Flip</a:t>
            </a:r>
            <a:endParaRPr lang="en-US" sz="1400" dirty="0"/>
          </a:p>
        </p:txBody>
      </p:sp>
      <p:sp>
        <p:nvSpPr>
          <p:cNvPr id="13" name="Text 9">
            <a:extLst>
              <a:ext uri="{FF2B5EF4-FFF2-40B4-BE49-F238E27FC236}">
                <a16:creationId xmlns:a16="http://schemas.microsoft.com/office/drawing/2014/main" id="{4C4D61D4-445F-A7A5-2702-723BEFA70134}"/>
              </a:ext>
            </a:extLst>
          </p:cNvPr>
          <p:cNvSpPr/>
          <p:nvPr/>
        </p:nvSpPr>
        <p:spPr>
          <a:xfrm>
            <a:off x="4893231" y="1847969"/>
            <a:ext cx="2615429" cy="942975"/>
          </a:xfrm>
          <a:prstGeom prst="rect">
            <a:avLst/>
          </a:prstGeom>
          <a:noFill/>
          <a:ln/>
        </p:spPr>
        <p:txBody>
          <a:bodyPr wrap="square" lIns="0" tIns="0" rIns="0" bIns="0" rtlCol="0" anchor="t"/>
          <a:lstStyle/>
          <a:p>
            <a:pPr marL="0" indent="0" algn="l">
              <a:lnSpc>
                <a:spcPts val="1850"/>
              </a:lnSpc>
              <a:buNone/>
            </a:pPr>
            <a:r>
              <a:rPr lang="en-US" sz="1200" dirty="0">
                <a:solidFill>
                  <a:srgbClr val="272525"/>
                </a:solidFill>
                <a:latin typeface="Inter" pitchFamily="34" charset="0"/>
                <a:ea typeface="Inter" pitchFamily="34" charset="-122"/>
                <a:cs typeface="Inter" pitchFamily="34" charset="-120"/>
              </a:rPr>
              <a:t>Randomly sample a 32x32 crop from a padded image (e.g., 4 pixels on each side) and apply random horizontal flipping. This forces the model to learn features invariant to position and orientation.</a:t>
            </a:r>
            <a:endParaRPr lang="en-US" sz="1200" dirty="0"/>
          </a:p>
        </p:txBody>
      </p:sp>
      <p:sp>
        <p:nvSpPr>
          <p:cNvPr id="14" name="Shape 10">
            <a:extLst>
              <a:ext uri="{FF2B5EF4-FFF2-40B4-BE49-F238E27FC236}">
                <a16:creationId xmlns:a16="http://schemas.microsoft.com/office/drawing/2014/main" id="{DB0FFBD0-8AEC-154C-2590-5FC27946F784}"/>
              </a:ext>
            </a:extLst>
          </p:cNvPr>
          <p:cNvSpPr/>
          <p:nvPr/>
        </p:nvSpPr>
        <p:spPr>
          <a:xfrm>
            <a:off x="4340484" y="2159972"/>
            <a:ext cx="368498" cy="368498"/>
          </a:xfrm>
          <a:prstGeom prst="roundRect">
            <a:avLst>
              <a:gd name="adj" fmla="val 16804"/>
            </a:avLst>
          </a:prstGeom>
          <a:solidFill>
            <a:srgbClr val="FFFFFF"/>
          </a:solidFill>
          <a:ln w="15240">
            <a:solidFill>
              <a:srgbClr val="C0C1D7"/>
            </a:solidFill>
            <a:prstDash val="solid"/>
          </a:ln>
        </p:spPr>
        <p:txBody>
          <a:bodyPr/>
          <a:lstStyle/>
          <a:p>
            <a:endParaRPr lang="en-US" dirty="0"/>
          </a:p>
        </p:txBody>
      </p:sp>
      <p:pic>
        <p:nvPicPr>
          <p:cNvPr id="15" name="Image 0" descr="preencoded.png">
            <a:extLst>
              <a:ext uri="{FF2B5EF4-FFF2-40B4-BE49-F238E27FC236}">
                <a16:creationId xmlns:a16="http://schemas.microsoft.com/office/drawing/2014/main" id="{1E893289-9200-3D6B-B744-3EF5722D9E2A}"/>
              </a:ext>
            </a:extLst>
          </p:cNvPr>
          <p:cNvPicPr>
            <a:picLocks noChangeAspect="1"/>
          </p:cNvPicPr>
          <p:nvPr/>
        </p:nvPicPr>
        <p:blipFill>
          <a:blip r:embed="rId4"/>
          <a:stretch>
            <a:fillRect/>
          </a:stretch>
        </p:blipFill>
        <p:spPr>
          <a:xfrm>
            <a:off x="4432638" y="2229028"/>
            <a:ext cx="184190" cy="230267"/>
          </a:xfrm>
          <a:prstGeom prst="rect">
            <a:avLst/>
          </a:prstGeom>
        </p:spPr>
      </p:pic>
      <p:sp>
        <p:nvSpPr>
          <p:cNvPr id="16" name="Shape 11">
            <a:extLst>
              <a:ext uri="{FF2B5EF4-FFF2-40B4-BE49-F238E27FC236}">
                <a16:creationId xmlns:a16="http://schemas.microsoft.com/office/drawing/2014/main" id="{C318AFAA-08F9-E131-C7C3-C33FE1AC84C6}"/>
              </a:ext>
            </a:extLst>
          </p:cNvPr>
          <p:cNvSpPr/>
          <p:nvPr/>
        </p:nvSpPr>
        <p:spPr>
          <a:xfrm>
            <a:off x="8867300" y="1381839"/>
            <a:ext cx="3150036" cy="1556504"/>
          </a:xfrm>
          <a:prstGeom prst="rect">
            <a:avLst/>
          </a:prstGeom>
          <a:solidFill>
            <a:srgbClr val="DADBF1"/>
          </a:solidFill>
          <a:ln/>
        </p:spPr>
        <p:txBody>
          <a:bodyPr/>
          <a:lstStyle/>
          <a:p>
            <a:endParaRPr lang="en-US" dirty="0"/>
          </a:p>
        </p:txBody>
      </p:sp>
      <p:sp>
        <p:nvSpPr>
          <p:cNvPr id="17" name="Shape 12">
            <a:extLst>
              <a:ext uri="{FF2B5EF4-FFF2-40B4-BE49-F238E27FC236}">
                <a16:creationId xmlns:a16="http://schemas.microsoft.com/office/drawing/2014/main" id="{D883EB72-E43E-1A5D-0293-8C44D3AE599D}"/>
              </a:ext>
            </a:extLst>
          </p:cNvPr>
          <p:cNvSpPr/>
          <p:nvPr/>
        </p:nvSpPr>
        <p:spPr>
          <a:xfrm>
            <a:off x="8867299" y="1381839"/>
            <a:ext cx="15240" cy="1920240"/>
          </a:xfrm>
          <a:prstGeom prst="roundRect">
            <a:avLst>
              <a:gd name="adj" fmla="val 406325"/>
            </a:avLst>
          </a:prstGeom>
          <a:solidFill>
            <a:srgbClr val="C0C1D7"/>
          </a:solidFill>
          <a:ln/>
        </p:spPr>
        <p:txBody>
          <a:bodyPr/>
          <a:lstStyle/>
          <a:p>
            <a:endParaRPr lang="en-US" dirty="0"/>
          </a:p>
        </p:txBody>
      </p:sp>
      <p:sp>
        <p:nvSpPr>
          <p:cNvPr id="18" name="Text 13">
            <a:extLst>
              <a:ext uri="{FF2B5EF4-FFF2-40B4-BE49-F238E27FC236}">
                <a16:creationId xmlns:a16="http://schemas.microsoft.com/office/drawing/2014/main" id="{C2F26A24-4350-12EA-7A7B-9BA7C1E98250}"/>
              </a:ext>
            </a:extLst>
          </p:cNvPr>
          <p:cNvSpPr/>
          <p:nvPr/>
        </p:nvSpPr>
        <p:spPr>
          <a:xfrm>
            <a:off x="9235797" y="1529239"/>
            <a:ext cx="1336863" cy="230386"/>
          </a:xfrm>
          <a:prstGeom prst="rect">
            <a:avLst/>
          </a:prstGeom>
          <a:noFill/>
          <a:ln/>
        </p:spPr>
        <p:txBody>
          <a:bodyPr wrap="none" lIns="0" tIns="0" rIns="0" bIns="0" rtlCol="0" anchor="t"/>
          <a:lstStyle/>
          <a:p>
            <a:pPr marL="0" indent="0" algn="l">
              <a:lnSpc>
                <a:spcPts val="1800"/>
              </a:lnSpc>
              <a:buNone/>
            </a:pPr>
            <a:r>
              <a:rPr lang="en-US" sz="1400" b="1" dirty="0">
                <a:solidFill>
                  <a:srgbClr val="272525"/>
                </a:solidFill>
                <a:latin typeface="Inter Bold" pitchFamily="34" charset="0"/>
                <a:ea typeface="Inter Bold" pitchFamily="34" charset="-122"/>
                <a:cs typeface="Inter Bold" pitchFamily="34" charset="-120"/>
              </a:rPr>
              <a:t>Light Color </a:t>
            </a:r>
            <a:r>
              <a:rPr lang="en-US" sz="1200" b="1" dirty="0">
                <a:solidFill>
                  <a:srgbClr val="272525"/>
                </a:solidFill>
                <a:latin typeface="Inter Bold" pitchFamily="34" charset="0"/>
                <a:ea typeface="Inter Bold" pitchFamily="34" charset="-122"/>
                <a:cs typeface="Inter Bold" pitchFamily="34" charset="-120"/>
              </a:rPr>
              <a:t>Jitter</a:t>
            </a:r>
            <a:endParaRPr lang="en-US" sz="1400" dirty="0"/>
          </a:p>
        </p:txBody>
      </p:sp>
      <p:sp>
        <p:nvSpPr>
          <p:cNvPr id="19" name="Text 14">
            <a:extLst>
              <a:ext uri="{FF2B5EF4-FFF2-40B4-BE49-F238E27FC236}">
                <a16:creationId xmlns:a16="http://schemas.microsoft.com/office/drawing/2014/main" id="{67DC4D78-BDEE-F78E-9B96-DE57E5EF5149}"/>
              </a:ext>
            </a:extLst>
          </p:cNvPr>
          <p:cNvSpPr/>
          <p:nvPr/>
        </p:nvSpPr>
        <p:spPr>
          <a:xfrm>
            <a:off x="9235797" y="1847969"/>
            <a:ext cx="2775811" cy="942975"/>
          </a:xfrm>
          <a:prstGeom prst="rect">
            <a:avLst/>
          </a:prstGeom>
          <a:noFill/>
          <a:ln/>
        </p:spPr>
        <p:txBody>
          <a:bodyPr wrap="square" lIns="0" tIns="0" rIns="0" bIns="0" rtlCol="0" anchor="t"/>
          <a:lstStyle/>
          <a:p>
            <a:pPr marL="0" indent="0" algn="l">
              <a:lnSpc>
                <a:spcPts val="1850"/>
              </a:lnSpc>
              <a:buNone/>
            </a:pPr>
            <a:r>
              <a:rPr lang="en-US" sz="1200" dirty="0">
                <a:solidFill>
                  <a:srgbClr val="272525"/>
                </a:solidFill>
                <a:latin typeface="Inter" pitchFamily="34" charset="0"/>
                <a:ea typeface="Inter" pitchFamily="34" charset="-122"/>
                <a:cs typeface="Inter" pitchFamily="34" charset="-120"/>
              </a:rPr>
              <a:t>Subtle, random variations in brightness, contrast, and saturation are applied. This helps the model generalize better across different lighting conditions and camera sensors.</a:t>
            </a:r>
            <a:endParaRPr lang="en-US" sz="1200" dirty="0"/>
          </a:p>
        </p:txBody>
      </p:sp>
      <p:sp>
        <p:nvSpPr>
          <p:cNvPr id="20" name="Shape 15">
            <a:extLst>
              <a:ext uri="{FF2B5EF4-FFF2-40B4-BE49-F238E27FC236}">
                <a16:creationId xmlns:a16="http://schemas.microsoft.com/office/drawing/2014/main" id="{592B6349-4F2B-D978-C01B-A8E8FC61745B}"/>
              </a:ext>
            </a:extLst>
          </p:cNvPr>
          <p:cNvSpPr/>
          <p:nvPr/>
        </p:nvSpPr>
        <p:spPr>
          <a:xfrm>
            <a:off x="8683051" y="2159972"/>
            <a:ext cx="368498" cy="368498"/>
          </a:xfrm>
          <a:prstGeom prst="roundRect">
            <a:avLst>
              <a:gd name="adj" fmla="val 16804"/>
            </a:avLst>
          </a:prstGeom>
          <a:solidFill>
            <a:srgbClr val="FFFFFF"/>
          </a:solidFill>
          <a:ln w="15240">
            <a:solidFill>
              <a:srgbClr val="C0C1D7"/>
            </a:solidFill>
            <a:prstDash val="solid"/>
          </a:ln>
        </p:spPr>
        <p:txBody>
          <a:bodyPr/>
          <a:lstStyle/>
          <a:p>
            <a:endParaRPr lang="en-US" dirty="0"/>
          </a:p>
        </p:txBody>
      </p:sp>
      <p:pic>
        <p:nvPicPr>
          <p:cNvPr id="21" name="Image 1" descr="preencoded.png">
            <a:extLst>
              <a:ext uri="{FF2B5EF4-FFF2-40B4-BE49-F238E27FC236}">
                <a16:creationId xmlns:a16="http://schemas.microsoft.com/office/drawing/2014/main" id="{E2F28DE8-6F9F-9587-9BD1-8CAB984A7622}"/>
              </a:ext>
            </a:extLst>
          </p:cNvPr>
          <p:cNvPicPr>
            <a:picLocks noChangeAspect="1"/>
          </p:cNvPicPr>
          <p:nvPr/>
        </p:nvPicPr>
        <p:blipFill>
          <a:blip r:embed="rId5"/>
          <a:stretch>
            <a:fillRect/>
          </a:stretch>
        </p:blipFill>
        <p:spPr>
          <a:xfrm>
            <a:off x="8775205" y="2229028"/>
            <a:ext cx="184190" cy="230267"/>
          </a:xfrm>
          <a:prstGeom prst="rect">
            <a:avLst/>
          </a:prstGeom>
        </p:spPr>
      </p:pic>
      <p:sp>
        <p:nvSpPr>
          <p:cNvPr id="22" name="Shape 16">
            <a:extLst>
              <a:ext uri="{FF2B5EF4-FFF2-40B4-BE49-F238E27FC236}">
                <a16:creationId xmlns:a16="http://schemas.microsoft.com/office/drawing/2014/main" id="{3768B224-E9E9-C64D-0C30-70E725F419D3}"/>
              </a:ext>
            </a:extLst>
          </p:cNvPr>
          <p:cNvSpPr/>
          <p:nvPr/>
        </p:nvSpPr>
        <p:spPr>
          <a:xfrm>
            <a:off x="182285" y="3800713"/>
            <a:ext cx="11836943" cy="862013"/>
          </a:xfrm>
          <a:prstGeom prst="roundRect">
            <a:avLst>
              <a:gd name="adj" fmla="val 7184"/>
            </a:avLst>
          </a:prstGeom>
          <a:solidFill>
            <a:srgbClr val="C7C9EA"/>
          </a:solidFill>
          <a:ln/>
        </p:spPr>
        <p:txBody>
          <a:bodyPr/>
          <a:lstStyle/>
          <a:p>
            <a:endParaRPr lang="en-US" dirty="0"/>
          </a:p>
        </p:txBody>
      </p:sp>
      <p:pic>
        <p:nvPicPr>
          <p:cNvPr id="23" name="Image 2" descr="preencoded.png">
            <a:extLst>
              <a:ext uri="{FF2B5EF4-FFF2-40B4-BE49-F238E27FC236}">
                <a16:creationId xmlns:a16="http://schemas.microsoft.com/office/drawing/2014/main" id="{A498A6DF-3794-531E-2815-F07677803B06}"/>
              </a:ext>
            </a:extLst>
          </p:cNvPr>
          <p:cNvPicPr>
            <a:picLocks noChangeAspect="1"/>
          </p:cNvPicPr>
          <p:nvPr/>
        </p:nvPicPr>
        <p:blipFill>
          <a:blip r:embed="rId6"/>
          <a:stretch>
            <a:fillRect/>
          </a:stretch>
        </p:blipFill>
        <p:spPr>
          <a:xfrm>
            <a:off x="337304" y="4134088"/>
            <a:ext cx="168375" cy="147399"/>
          </a:xfrm>
          <a:prstGeom prst="rect">
            <a:avLst/>
          </a:prstGeom>
        </p:spPr>
      </p:pic>
      <p:sp>
        <p:nvSpPr>
          <p:cNvPr id="24" name="Text 17">
            <a:extLst>
              <a:ext uri="{FF2B5EF4-FFF2-40B4-BE49-F238E27FC236}">
                <a16:creationId xmlns:a16="http://schemas.microsoft.com/office/drawing/2014/main" id="{75643904-B800-981B-5E74-63F6E5642133}"/>
              </a:ext>
            </a:extLst>
          </p:cNvPr>
          <p:cNvSpPr/>
          <p:nvPr/>
        </p:nvSpPr>
        <p:spPr>
          <a:xfrm>
            <a:off x="668893" y="4095512"/>
            <a:ext cx="11350335" cy="471488"/>
          </a:xfrm>
          <a:prstGeom prst="rect">
            <a:avLst/>
          </a:prstGeom>
          <a:noFill/>
          <a:ln/>
        </p:spPr>
        <p:txBody>
          <a:bodyPr wrap="square" lIns="0" tIns="0" rIns="0" bIns="0" rtlCol="0" anchor="t"/>
          <a:lstStyle/>
          <a:p>
            <a:pPr marL="0" indent="0" algn="l">
              <a:lnSpc>
                <a:spcPts val="1850"/>
              </a:lnSpc>
              <a:buNone/>
            </a:pPr>
            <a:r>
              <a:rPr lang="en-US" sz="1200" b="1" dirty="0">
                <a:solidFill>
                  <a:srgbClr val="000000"/>
                </a:solidFill>
                <a:latin typeface="Inter" pitchFamily="34" charset="0"/>
                <a:ea typeface="Inter" pitchFamily="34" charset="-122"/>
                <a:cs typeface="Inter" pitchFamily="34" charset="-120"/>
              </a:rPr>
              <a:t>Critical Rule:</a:t>
            </a:r>
            <a:r>
              <a:rPr lang="en-US" sz="1200" dirty="0">
                <a:solidFill>
                  <a:srgbClr val="000000"/>
                </a:solidFill>
                <a:latin typeface="Inter" pitchFamily="34" charset="0"/>
                <a:ea typeface="Inter" pitchFamily="34" charset="-122"/>
                <a:cs typeface="Inter" pitchFamily="34" charset="-120"/>
              </a:rPr>
              <a:t> Augmentation is applied </a:t>
            </a:r>
            <a:r>
              <a:rPr lang="en-US" sz="1200" b="1" dirty="0">
                <a:solidFill>
                  <a:srgbClr val="000000"/>
                </a:solidFill>
                <a:latin typeface="Inter" pitchFamily="34" charset="0"/>
                <a:ea typeface="Inter" pitchFamily="34" charset="-122"/>
                <a:cs typeface="Inter" pitchFamily="34" charset="-120"/>
              </a:rPr>
              <a:t>only</a:t>
            </a:r>
            <a:r>
              <a:rPr lang="en-US" sz="1200" dirty="0">
                <a:solidFill>
                  <a:srgbClr val="000000"/>
                </a:solidFill>
                <a:latin typeface="Inter" pitchFamily="34" charset="0"/>
                <a:ea typeface="Inter" pitchFamily="34" charset="-122"/>
                <a:cs typeface="Inter" pitchFamily="34" charset="-120"/>
              </a:rPr>
              <a:t> to the training split. Validation and Test sets only receive the standard per-channel normalization to maintain clean, consistent evaluation criteria.</a:t>
            </a:r>
            <a:endParaRPr lang="en-US" sz="1200" dirty="0"/>
          </a:p>
        </p:txBody>
      </p:sp>
      <p:pic>
        <p:nvPicPr>
          <p:cNvPr id="30" name="Audio 29">
            <a:extLst>
              <a:ext uri="{FF2B5EF4-FFF2-40B4-BE49-F238E27FC236}">
                <a16:creationId xmlns:a16="http://schemas.microsoft.com/office/drawing/2014/main" id="{6A03FC2D-117A-7504-5252-1ECFB8F7156B}"/>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541829245"/>
      </p:ext>
    </p:extLst>
  </p:cSld>
  <p:clrMapOvr>
    <a:masterClrMapping/>
  </p:clrMapOvr>
  <mc:AlternateContent xmlns:mc="http://schemas.openxmlformats.org/markup-compatibility/2006" xmlns:p14="http://schemas.microsoft.com/office/powerpoint/2010/main">
    <mc:Choice Requires="p14">
      <p:transition spd="slow" p14:dur="2000" advTm="37709"/>
    </mc:Choice>
    <mc:Fallback xmlns="">
      <p:transition spd="slow" advTm="3770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0"/>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mage 0" descr="preencoded.png">
            <a:extLst>
              <a:ext uri="{FF2B5EF4-FFF2-40B4-BE49-F238E27FC236}">
                <a16:creationId xmlns:a16="http://schemas.microsoft.com/office/drawing/2014/main" id="{56AADC9A-C46A-49A0-E8AE-9F588CA7C06A}"/>
              </a:ext>
            </a:extLst>
          </p:cNvPr>
          <p:cNvPicPr>
            <a:picLocks noChangeAspect="1"/>
          </p:cNvPicPr>
          <p:nvPr/>
        </p:nvPicPr>
        <p:blipFill>
          <a:blip r:embed="rId4"/>
          <a:stretch>
            <a:fillRect/>
          </a:stretch>
        </p:blipFill>
        <p:spPr>
          <a:xfrm>
            <a:off x="1" y="0"/>
            <a:ext cx="3610452" cy="6858000"/>
          </a:xfrm>
          <a:prstGeom prst="rect">
            <a:avLst/>
          </a:prstGeom>
        </p:spPr>
      </p:pic>
      <p:sp>
        <p:nvSpPr>
          <p:cNvPr id="16" name="Text 0">
            <a:extLst>
              <a:ext uri="{FF2B5EF4-FFF2-40B4-BE49-F238E27FC236}">
                <a16:creationId xmlns:a16="http://schemas.microsoft.com/office/drawing/2014/main" id="{69B2E1D2-369F-9EC1-764B-C516BC4744D7}"/>
              </a:ext>
            </a:extLst>
          </p:cNvPr>
          <p:cNvSpPr/>
          <p:nvPr/>
        </p:nvSpPr>
        <p:spPr>
          <a:xfrm>
            <a:off x="4365665" y="1149964"/>
            <a:ext cx="6724650" cy="921544"/>
          </a:xfrm>
          <a:prstGeom prst="rect">
            <a:avLst/>
          </a:prstGeom>
          <a:noFill/>
          <a:ln/>
        </p:spPr>
        <p:txBody>
          <a:bodyPr wrap="square" lIns="0" tIns="0" rIns="0" bIns="0" rtlCol="0" anchor="t"/>
          <a:lstStyle/>
          <a:p>
            <a:pPr marL="0" indent="0" algn="l">
              <a:lnSpc>
                <a:spcPts val="3600"/>
              </a:lnSpc>
              <a:buNone/>
            </a:pPr>
            <a:r>
              <a:rPr lang="en-US" sz="2900" b="1" dirty="0">
                <a:solidFill>
                  <a:srgbClr val="000000"/>
                </a:solidFill>
                <a:latin typeface="Inter Bold" pitchFamily="34" charset="0"/>
                <a:ea typeface="Inter Bold" pitchFamily="34" charset="-122"/>
                <a:cs typeface="Inter Bold" pitchFamily="34" charset="-120"/>
              </a:rPr>
              <a:t>Architecture Choice: Compact Residual CNN</a:t>
            </a:r>
            <a:endParaRPr lang="en-US" sz="2900" dirty="0"/>
          </a:p>
        </p:txBody>
      </p:sp>
      <p:sp>
        <p:nvSpPr>
          <p:cNvPr id="17" name="Text 1">
            <a:extLst>
              <a:ext uri="{FF2B5EF4-FFF2-40B4-BE49-F238E27FC236}">
                <a16:creationId xmlns:a16="http://schemas.microsoft.com/office/drawing/2014/main" id="{D8BCD574-BFBB-059C-0074-5ED0FEA853C9}"/>
              </a:ext>
            </a:extLst>
          </p:cNvPr>
          <p:cNvSpPr/>
          <p:nvPr/>
        </p:nvSpPr>
        <p:spPr>
          <a:xfrm>
            <a:off x="4365665" y="2587526"/>
            <a:ext cx="3590925" cy="276344"/>
          </a:xfrm>
          <a:prstGeom prst="rect">
            <a:avLst/>
          </a:prstGeom>
          <a:noFill/>
          <a:ln/>
        </p:spPr>
        <p:txBody>
          <a:bodyPr wrap="none" lIns="0" tIns="0" rIns="0" bIns="0" rtlCol="0" anchor="t"/>
          <a:lstStyle/>
          <a:p>
            <a:pPr marL="0" indent="0" algn="l">
              <a:lnSpc>
                <a:spcPts val="2150"/>
              </a:lnSpc>
              <a:buNone/>
            </a:pPr>
            <a:r>
              <a:rPr lang="en-US" sz="1700" b="1" dirty="0">
                <a:solidFill>
                  <a:srgbClr val="000000"/>
                </a:solidFill>
                <a:latin typeface="Inter Bold" pitchFamily="34" charset="0"/>
                <a:ea typeface="Inter Bold" pitchFamily="34" charset="-122"/>
                <a:cs typeface="Inter Bold" pitchFamily="34" charset="-120"/>
              </a:rPr>
              <a:t>Focus on Efficiency and Capacity</a:t>
            </a:r>
            <a:endParaRPr lang="en-US" sz="1700" dirty="0"/>
          </a:p>
        </p:txBody>
      </p:sp>
      <p:sp>
        <p:nvSpPr>
          <p:cNvPr id="18" name="Text 2">
            <a:extLst>
              <a:ext uri="{FF2B5EF4-FFF2-40B4-BE49-F238E27FC236}">
                <a16:creationId xmlns:a16="http://schemas.microsoft.com/office/drawing/2014/main" id="{B32D642E-ED90-FAD8-FAE1-FBA6AF003C36}"/>
              </a:ext>
            </a:extLst>
          </p:cNvPr>
          <p:cNvSpPr/>
          <p:nvPr/>
        </p:nvSpPr>
        <p:spPr>
          <a:xfrm>
            <a:off x="4365665" y="3011269"/>
            <a:ext cx="3994190" cy="1414463"/>
          </a:xfrm>
          <a:prstGeom prst="rect">
            <a:avLst/>
          </a:prstGeom>
          <a:noFill/>
          <a:ln/>
        </p:spPr>
        <p:txBody>
          <a:bodyPr wrap="square" lIns="0" tIns="0" rIns="0" bIns="0" rtlCol="0" anchor="t"/>
          <a:lstStyle/>
          <a:p>
            <a:pPr marL="0" indent="0" algn="l">
              <a:lnSpc>
                <a:spcPts val="1850"/>
              </a:lnSpc>
              <a:buNone/>
            </a:pPr>
            <a:r>
              <a:rPr lang="en-US" sz="1200" dirty="0">
                <a:solidFill>
                  <a:srgbClr val="272525"/>
                </a:solidFill>
                <a:latin typeface="Inter" pitchFamily="34" charset="0"/>
                <a:ea typeface="Inter" pitchFamily="34" charset="-122"/>
                <a:cs typeface="Inter" pitchFamily="34" charset="-120"/>
              </a:rPr>
              <a:t>The assigned track focuses on a Compact CNN architecture utilizing Residual Blocks. This design choice aims to balance high representational capacity (achieved through deep layers and skip connections) with computational efficiency (achieved by limiting the number of parameters).</a:t>
            </a:r>
            <a:endParaRPr lang="en-US" sz="1200" dirty="0"/>
          </a:p>
        </p:txBody>
      </p:sp>
      <p:sp>
        <p:nvSpPr>
          <p:cNvPr id="19" name="Shape 3">
            <a:extLst>
              <a:ext uri="{FF2B5EF4-FFF2-40B4-BE49-F238E27FC236}">
                <a16:creationId xmlns:a16="http://schemas.microsoft.com/office/drawing/2014/main" id="{75FEDD77-AD92-98BA-6DD1-EFB345C0A812}"/>
              </a:ext>
            </a:extLst>
          </p:cNvPr>
          <p:cNvSpPr/>
          <p:nvPr/>
        </p:nvSpPr>
        <p:spPr>
          <a:xfrm>
            <a:off x="8727043" y="2605980"/>
            <a:ext cx="3202543" cy="1646039"/>
          </a:xfrm>
          <a:prstGeom prst="roundRect">
            <a:avLst>
              <a:gd name="adj" fmla="val 4444"/>
            </a:avLst>
          </a:prstGeom>
          <a:solidFill>
            <a:srgbClr val="FFFFFF"/>
          </a:solidFill>
          <a:ln w="15240">
            <a:solidFill>
              <a:srgbClr val="C0C1D7"/>
            </a:solidFill>
            <a:prstDash val="solid"/>
          </a:ln>
        </p:spPr>
        <p:txBody>
          <a:bodyPr/>
          <a:lstStyle/>
          <a:p>
            <a:endParaRPr lang="en-US" dirty="0"/>
          </a:p>
        </p:txBody>
      </p:sp>
      <p:sp>
        <p:nvSpPr>
          <p:cNvPr id="20" name="Shape 4">
            <a:extLst>
              <a:ext uri="{FF2B5EF4-FFF2-40B4-BE49-F238E27FC236}">
                <a16:creationId xmlns:a16="http://schemas.microsoft.com/office/drawing/2014/main" id="{0F37C71B-FBF8-62E6-E923-CCFA45273F54}"/>
              </a:ext>
            </a:extLst>
          </p:cNvPr>
          <p:cNvSpPr/>
          <p:nvPr/>
        </p:nvSpPr>
        <p:spPr>
          <a:xfrm>
            <a:off x="8711803" y="2605980"/>
            <a:ext cx="60960" cy="1646039"/>
          </a:xfrm>
          <a:prstGeom prst="roundRect">
            <a:avLst>
              <a:gd name="adj" fmla="val 101581"/>
            </a:avLst>
          </a:prstGeom>
          <a:solidFill>
            <a:srgbClr val="4950BC"/>
          </a:solidFill>
          <a:ln/>
        </p:spPr>
        <p:txBody>
          <a:bodyPr/>
          <a:lstStyle/>
          <a:p>
            <a:endParaRPr lang="en-US" dirty="0"/>
          </a:p>
        </p:txBody>
      </p:sp>
      <p:sp>
        <p:nvSpPr>
          <p:cNvPr id="21" name="Text 5">
            <a:extLst>
              <a:ext uri="{FF2B5EF4-FFF2-40B4-BE49-F238E27FC236}">
                <a16:creationId xmlns:a16="http://schemas.microsoft.com/office/drawing/2014/main" id="{461519EF-25BC-A802-F9D0-A55E4D7FB437}"/>
              </a:ext>
            </a:extLst>
          </p:cNvPr>
          <p:cNvSpPr/>
          <p:nvPr/>
        </p:nvSpPr>
        <p:spPr>
          <a:xfrm>
            <a:off x="8935403" y="2768620"/>
            <a:ext cx="1842968" cy="230386"/>
          </a:xfrm>
          <a:prstGeom prst="rect">
            <a:avLst/>
          </a:prstGeom>
          <a:noFill/>
          <a:ln/>
        </p:spPr>
        <p:txBody>
          <a:bodyPr wrap="none" lIns="0" tIns="0" rIns="0" bIns="0" rtlCol="0" anchor="t"/>
          <a:lstStyle/>
          <a:p>
            <a:pPr marL="0" indent="0" algn="l">
              <a:lnSpc>
                <a:spcPts val="1800"/>
              </a:lnSpc>
              <a:buNone/>
            </a:pPr>
            <a:r>
              <a:rPr lang="en-US" sz="1400" b="1" dirty="0">
                <a:solidFill>
                  <a:srgbClr val="272525"/>
                </a:solidFill>
                <a:latin typeface="Inter Bold" pitchFamily="34" charset="0"/>
                <a:ea typeface="Inter Bold" pitchFamily="34" charset="-122"/>
                <a:cs typeface="Inter Bold" pitchFamily="34" charset="-120"/>
              </a:rPr>
              <a:t>Residual Blocks</a:t>
            </a:r>
            <a:endParaRPr lang="en-US" sz="1400" dirty="0"/>
          </a:p>
        </p:txBody>
      </p:sp>
      <p:sp>
        <p:nvSpPr>
          <p:cNvPr id="22" name="Text 6">
            <a:extLst>
              <a:ext uri="{FF2B5EF4-FFF2-40B4-BE49-F238E27FC236}">
                <a16:creationId xmlns:a16="http://schemas.microsoft.com/office/drawing/2014/main" id="{2FE45DEA-8E62-2B24-F1BB-E580DF8E9828}"/>
              </a:ext>
            </a:extLst>
          </p:cNvPr>
          <p:cNvSpPr/>
          <p:nvPr/>
        </p:nvSpPr>
        <p:spPr>
          <a:xfrm>
            <a:off x="8935403" y="3146405"/>
            <a:ext cx="2831544" cy="942975"/>
          </a:xfrm>
          <a:prstGeom prst="rect">
            <a:avLst/>
          </a:prstGeom>
          <a:noFill/>
          <a:ln/>
        </p:spPr>
        <p:txBody>
          <a:bodyPr wrap="square" lIns="0" tIns="0" rIns="0" bIns="0" rtlCol="0" anchor="t"/>
          <a:lstStyle/>
          <a:p>
            <a:pPr marL="0" indent="0" algn="l">
              <a:lnSpc>
                <a:spcPts val="1850"/>
              </a:lnSpc>
              <a:buNone/>
            </a:pPr>
            <a:r>
              <a:rPr lang="en-US" sz="1200" dirty="0">
                <a:solidFill>
                  <a:srgbClr val="272525"/>
                </a:solidFill>
                <a:latin typeface="Inter" pitchFamily="34" charset="0"/>
                <a:ea typeface="Inter" pitchFamily="34" charset="-122"/>
                <a:cs typeface="Inter" pitchFamily="34" charset="-120"/>
              </a:rPr>
              <a:t>Enable training of deeper networks by providing direct identity mappings, mitigating the vanishing gradient problem and improving convergence.</a:t>
            </a:r>
            <a:endParaRPr lang="en-US" sz="1200" dirty="0"/>
          </a:p>
        </p:txBody>
      </p:sp>
      <p:sp>
        <p:nvSpPr>
          <p:cNvPr id="23" name="Shape 7">
            <a:extLst>
              <a:ext uri="{FF2B5EF4-FFF2-40B4-BE49-F238E27FC236}">
                <a16:creationId xmlns:a16="http://schemas.microsoft.com/office/drawing/2014/main" id="{17A7E998-9FF6-1D40-48C8-DA1BA7E6CE76}"/>
              </a:ext>
            </a:extLst>
          </p:cNvPr>
          <p:cNvSpPr/>
          <p:nvPr/>
        </p:nvSpPr>
        <p:spPr>
          <a:xfrm>
            <a:off x="8727043" y="4399419"/>
            <a:ext cx="3202543" cy="1881783"/>
          </a:xfrm>
          <a:prstGeom prst="roundRect">
            <a:avLst>
              <a:gd name="adj" fmla="val 3887"/>
            </a:avLst>
          </a:prstGeom>
          <a:solidFill>
            <a:srgbClr val="FFFFFF"/>
          </a:solidFill>
          <a:ln w="15240">
            <a:solidFill>
              <a:srgbClr val="C0C1D7"/>
            </a:solidFill>
            <a:prstDash val="solid"/>
          </a:ln>
        </p:spPr>
        <p:txBody>
          <a:bodyPr/>
          <a:lstStyle/>
          <a:p>
            <a:endParaRPr lang="en-US" dirty="0"/>
          </a:p>
        </p:txBody>
      </p:sp>
      <p:sp>
        <p:nvSpPr>
          <p:cNvPr id="24" name="Shape 8">
            <a:extLst>
              <a:ext uri="{FF2B5EF4-FFF2-40B4-BE49-F238E27FC236}">
                <a16:creationId xmlns:a16="http://schemas.microsoft.com/office/drawing/2014/main" id="{FD5772D0-8F3B-99D6-F77D-920BE5CB9B88}"/>
              </a:ext>
            </a:extLst>
          </p:cNvPr>
          <p:cNvSpPr/>
          <p:nvPr/>
        </p:nvSpPr>
        <p:spPr>
          <a:xfrm>
            <a:off x="8711803" y="4399419"/>
            <a:ext cx="60960" cy="1881783"/>
          </a:xfrm>
          <a:prstGeom prst="roundRect">
            <a:avLst>
              <a:gd name="adj" fmla="val 101581"/>
            </a:avLst>
          </a:prstGeom>
          <a:solidFill>
            <a:srgbClr val="4950BC"/>
          </a:solidFill>
          <a:ln/>
        </p:spPr>
        <p:txBody>
          <a:bodyPr/>
          <a:lstStyle/>
          <a:p>
            <a:endParaRPr lang="en-US" dirty="0"/>
          </a:p>
        </p:txBody>
      </p:sp>
      <p:sp>
        <p:nvSpPr>
          <p:cNvPr id="25" name="Text 9">
            <a:extLst>
              <a:ext uri="{FF2B5EF4-FFF2-40B4-BE49-F238E27FC236}">
                <a16:creationId xmlns:a16="http://schemas.microsoft.com/office/drawing/2014/main" id="{1492EAA0-E454-DEF9-A611-AAA11B53D8D9}"/>
              </a:ext>
            </a:extLst>
          </p:cNvPr>
          <p:cNvSpPr/>
          <p:nvPr/>
        </p:nvSpPr>
        <p:spPr>
          <a:xfrm>
            <a:off x="8935403" y="4562058"/>
            <a:ext cx="1842968" cy="230386"/>
          </a:xfrm>
          <a:prstGeom prst="rect">
            <a:avLst/>
          </a:prstGeom>
          <a:noFill/>
          <a:ln/>
        </p:spPr>
        <p:txBody>
          <a:bodyPr wrap="none" lIns="0" tIns="0" rIns="0" bIns="0" rtlCol="0" anchor="t"/>
          <a:lstStyle/>
          <a:p>
            <a:pPr marL="0" indent="0" algn="l">
              <a:lnSpc>
                <a:spcPts val="1800"/>
              </a:lnSpc>
              <a:buNone/>
            </a:pPr>
            <a:r>
              <a:rPr lang="en-US" sz="1400" b="1" dirty="0">
                <a:solidFill>
                  <a:srgbClr val="272525"/>
                </a:solidFill>
                <a:latin typeface="Inter Bold" pitchFamily="34" charset="0"/>
                <a:ea typeface="Inter Bold" pitchFamily="34" charset="-122"/>
                <a:cs typeface="Inter Bold" pitchFamily="34" charset="-120"/>
              </a:rPr>
              <a:t>Compact Design</a:t>
            </a:r>
            <a:endParaRPr lang="en-US" sz="1400" dirty="0"/>
          </a:p>
        </p:txBody>
      </p:sp>
      <p:sp>
        <p:nvSpPr>
          <p:cNvPr id="26" name="Text 10">
            <a:extLst>
              <a:ext uri="{FF2B5EF4-FFF2-40B4-BE49-F238E27FC236}">
                <a16:creationId xmlns:a16="http://schemas.microsoft.com/office/drawing/2014/main" id="{EC04DF1F-57B9-129B-30E6-B03EF1276D9B}"/>
              </a:ext>
            </a:extLst>
          </p:cNvPr>
          <p:cNvSpPr/>
          <p:nvPr/>
        </p:nvSpPr>
        <p:spPr>
          <a:xfrm>
            <a:off x="8935403" y="4939843"/>
            <a:ext cx="2831544" cy="1178719"/>
          </a:xfrm>
          <a:prstGeom prst="rect">
            <a:avLst/>
          </a:prstGeom>
          <a:noFill/>
          <a:ln/>
        </p:spPr>
        <p:txBody>
          <a:bodyPr wrap="square" lIns="0" tIns="0" rIns="0" bIns="0" rtlCol="0" anchor="t"/>
          <a:lstStyle/>
          <a:p>
            <a:pPr marL="0" indent="0" algn="l">
              <a:lnSpc>
                <a:spcPts val="1850"/>
              </a:lnSpc>
              <a:buNone/>
            </a:pPr>
            <a:r>
              <a:rPr lang="en-US" sz="1200" dirty="0">
                <a:solidFill>
                  <a:srgbClr val="272525"/>
                </a:solidFill>
                <a:latin typeface="Inter" pitchFamily="34" charset="0"/>
                <a:ea typeface="Inter" pitchFamily="34" charset="-122"/>
                <a:cs typeface="Inter" pitchFamily="34" charset="-120"/>
              </a:rPr>
              <a:t>Utilizing fewer filters or depth-wise separable convolutions to reduce model size and inference time, making it suitable for resource-constrained environments.</a:t>
            </a:r>
            <a:endParaRPr lang="en-US" sz="1200" dirty="0"/>
          </a:p>
        </p:txBody>
      </p:sp>
      <p:pic>
        <p:nvPicPr>
          <p:cNvPr id="9" name="Audio 8">
            <a:extLst>
              <a:ext uri="{FF2B5EF4-FFF2-40B4-BE49-F238E27FC236}">
                <a16:creationId xmlns:a16="http://schemas.microsoft.com/office/drawing/2014/main" id="{206401D3-F430-5706-AA1F-9C19406C87C4}"/>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765320054"/>
      </p:ext>
    </p:extLst>
  </p:cSld>
  <p:clrMapOvr>
    <a:masterClrMapping/>
  </p:clrMapOvr>
  <mc:AlternateContent xmlns:mc="http://schemas.openxmlformats.org/markup-compatibility/2006" xmlns:p14="http://schemas.microsoft.com/office/powerpoint/2010/main">
    <mc:Choice Requires="p14">
      <p:transition spd="slow" p14:dur="2000" advTm="41912"/>
    </mc:Choice>
    <mc:Fallback xmlns="">
      <p:transition spd="slow" advTm="4191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Text 0">
            <a:extLst>
              <a:ext uri="{FF2B5EF4-FFF2-40B4-BE49-F238E27FC236}">
                <a16:creationId xmlns:a16="http://schemas.microsoft.com/office/drawing/2014/main" id="{9916C281-8B25-1605-7E61-20B992215DA9}"/>
              </a:ext>
            </a:extLst>
          </p:cNvPr>
          <p:cNvSpPr/>
          <p:nvPr/>
        </p:nvSpPr>
        <p:spPr>
          <a:xfrm>
            <a:off x="3739812" y="130474"/>
            <a:ext cx="5436632" cy="396002"/>
          </a:xfrm>
          <a:prstGeom prst="rect">
            <a:avLst/>
          </a:prstGeom>
          <a:noFill/>
          <a:ln/>
        </p:spPr>
        <p:txBody>
          <a:bodyPr wrap="none" lIns="0" tIns="0" rIns="0" bIns="0" rtlCol="0" anchor="t"/>
          <a:lstStyle/>
          <a:p>
            <a:pPr marL="0" indent="0" algn="l">
              <a:lnSpc>
                <a:spcPts val="3100"/>
              </a:lnSpc>
              <a:buNone/>
            </a:pPr>
            <a:r>
              <a:rPr lang="en-US" sz="2900" b="1" dirty="0">
                <a:solidFill>
                  <a:srgbClr val="000000"/>
                </a:solidFill>
                <a:latin typeface="Inter Bold" pitchFamily="34" charset="0"/>
                <a:ea typeface="Inter Bold" pitchFamily="34" charset="-122"/>
                <a:cs typeface="Inter Bold" pitchFamily="34" charset="-120"/>
              </a:rPr>
              <a:t>Detailed Architectural Components</a:t>
            </a:r>
            <a:endParaRPr lang="en-US" sz="2900" dirty="0"/>
          </a:p>
        </p:txBody>
      </p:sp>
      <p:sp>
        <p:nvSpPr>
          <p:cNvPr id="66" name="Text 1">
            <a:extLst>
              <a:ext uri="{FF2B5EF4-FFF2-40B4-BE49-F238E27FC236}">
                <a16:creationId xmlns:a16="http://schemas.microsoft.com/office/drawing/2014/main" id="{CB2DDD8F-5CC3-DD44-97F8-E404A03FF984}"/>
              </a:ext>
            </a:extLst>
          </p:cNvPr>
          <p:cNvSpPr/>
          <p:nvPr/>
        </p:nvSpPr>
        <p:spPr>
          <a:xfrm>
            <a:off x="3739872" y="721995"/>
            <a:ext cx="7779306" cy="202644"/>
          </a:xfrm>
          <a:prstGeom prst="rect">
            <a:avLst/>
          </a:prstGeom>
          <a:noFill/>
          <a:ln/>
        </p:spPr>
        <p:txBody>
          <a:bodyPr wrap="none" lIns="0" tIns="0" rIns="0" bIns="0" rtlCol="0" anchor="t"/>
          <a:lstStyle/>
          <a:p>
            <a:pPr marL="0" indent="0" algn="l">
              <a:lnSpc>
                <a:spcPts val="1550"/>
              </a:lnSpc>
              <a:buNone/>
            </a:pPr>
            <a:r>
              <a:rPr lang="en-US" sz="1200" dirty="0">
                <a:solidFill>
                  <a:srgbClr val="272525"/>
                </a:solidFill>
                <a:latin typeface="Inter" pitchFamily="34" charset="0"/>
                <a:ea typeface="Inter" pitchFamily="34" charset="-122"/>
                <a:cs typeface="Inter" pitchFamily="34" charset="-120"/>
              </a:rPr>
              <a:t>The network structure follows standard deep learning principles adapted for efficiency and stability in residual architectures.</a:t>
            </a:r>
            <a:endParaRPr lang="en-US" sz="1200" dirty="0"/>
          </a:p>
        </p:txBody>
      </p:sp>
      <p:pic>
        <p:nvPicPr>
          <p:cNvPr id="67" name="Image 1" descr="preencoded.png">
            <a:extLst>
              <a:ext uri="{FF2B5EF4-FFF2-40B4-BE49-F238E27FC236}">
                <a16:creationId xmlns:a16="http://schemas.microsoft.com/office/drawing/2014/main" id="{EC78BE00-F11B-2883-8EA8-A06D27040FB4}"/>
              </a:ext>
            </a:extLst>
          </p:cNvPr>
          <p:cNvPicPr>
            <a:picLocks noChangeAspect="1"/>
          </p:cNvPicPr>
          <p:nvPr/>
        </p:nvPicPr>
        <p:blipFill>
          <a:blip r:embed="rId4"/>
          <a:stretch>
            <a:fillRect/>
          </a:stretch>
        </p:blipFill>
        <p:spPr>
          <a:xfrm>
            <a:off x="5101233" y="1067157"/>
            <a:ext cx="5056465" cy="1553209"/>
          </a:xfrm>
          <a:prstGeom prst="rect">
            <a:avLst/>
          </a:prstGeom>
        </p:spPr>
      </p:pic>
      <p:sp>
        <p:nvSpPr>
          <p:cNvPr id="69" name="Text 2">
            <a:extLst>
              <a:ext uri="{FF2B5EF4-FFF2-40B4-BE49-F238E27FC236}">
                <a16:creationId xmlns:a16="http://schemas.microsoft.com/office/drawing/2014/main" id="{4809F6D8-007A-0F4E-7275-3C03B952B5CF}"/>
              </a:ext>
            </a:extLst>
          </p:cNvPr>
          <p:cNvSpPr/>
          <p:nvPr/>
        </p:nvSpPr>
        <p:spPr>
          <a:xfrm>
            <a:off x="9216112" y="2228006"/>
            <a:ext cx="762651" cy="293830"/>
          </a:xfrm>
          <a:prstGeom prst="rect">
            <a:avLst/>
          </a:prstGeom>
          <a:noFill/>
          <a:ln/>
        </p:spPr>
        <p:txBody>
          <a:bodyPr wrap="square" lIns="0" tIns="0" rIns="0" bIns="0" rtlCol="0" anchor="t"/>
          <a:lstStyle/>
          <a:p>
            <a:pPr marL="0" indent="0" algn="ctr">
              <a:lnSpc>
                <a:spcPts val="1650"/>
              </a:lnSpc>
              <a:buNone/>
            </a:pPr>
            <a:r>
              <a:rPr lang="en-US" sz="1400" b="1" dirty="0">
                <a:solidFill>
                  <a:srgbClr val="272525"/>
                </a:solidFill>
                <a:latin typeface="Inter Bold" pitchFamily="34" charset="0"/>
                <a:ea typeface="Inter Bold" pitchFamily="34" charset="-122"/>
                <a:cs typeface="Inter Bold" pitchFamily="34" charset="-120"/>
              </a:rPr>
              <a:t>FC → Softmax</a:t>
            </a:r>
            <a:endParaRPr lang="en-US" sz="1400" dirty="0"/>
          </a:p>
        </p:txBody>
      </p:sp>
      <p:sp>
        <p:nvSpPr>
          <p:cNvPr id="71" name="Text 3">
            <a:extLst>
              <a:ext uri="{FF2B5EF4-FFF2-40B4-BE49-F238E27FC236}">
                <a16:creationId xmlns:a16="http://schemas.microsoft.com/office/drawing/2014/main" id="{79876CF2-5DF7-E053-B332-21933A26D0B3}"/>
              </a:ext>
            </a:extLst>
          </p:cNvPr>
          <p:cNvSpPr/>
          <p:nvPr/>
        </p:nvSpPr>
        <p:spPr>
          <a:xfrm>
            <a:off x="8221344" y="2228006"/>
            <a:ext cx="762651" cy="293830"/>
          </a:xfrm>
          <a:prstGeom prst="rect">
            <a:avLst/>
          </a:prstGeom>
          <a:noFill/>
          <a:ln/>
        </p:spPr>
        <p:txBody>
          <a:bodyPr wrap="square" lIns="0" tIns="0" rIns="0" bIns="0" rtlCol="0" anchor="t"/>
          <a:lstStyle/>
          <a:p>
            <a:pPr marL="0" indent="0" algn="ctr">
              <a:lnSpc>
                <a:spcPts val="1650"/>
              </a:lnSpc>
              <a:buNone/>
            </a:pPr>
            <a:r>
              <a:rPr lang="en-US" sz="1400" b="1" dirty="0">
                <a:solidFill>
                  <a:srgbClr val="272525"/>
                </a:solidFill>
                <a:latin typeface="Inter Bold" pitchFamily="34" charset="0"/>
                <a:ea typeface="Inter Bold" pitchFamily="34" charset="-122"/>
                <a:cs typeface="Inter Bold" pitchFamily="34" charset="-120"/>
              </a:rPr>
              <a:t>Global Avg Pool</a:t>
            </a:r>
            <a:endParaRPr lang="en-US" sz="1400" dirty="0"/>
          </a:p>
        </p:txBody>
      </p:sp>
      <p:sp>
        <p:nvSpPr>
          <p:cNvPr id="73" name="Text 4">
            <a:extLst>
              <a:ext uri="{FF2B5EF4-FFF2-40B4-BE49-F238E27FC236}">
                <a16:creationId xmlns:a16="http://schemas.microsoft.com/office/drawing/2014/main" id="{04C95FE9-3D91-A159-7B6F-EEABBB856F49}"/>
              </a:ext>
            </a:extLst>
          </p:cNvPr>
          <p:cNvSpPr/>
          <p:nvPr/>
        </p:nvSpPr>
        <p:spPr>
          <a:xfrm>
            <a:off x="7293550" y="2230035"/>
            <a:ext cx="762651" cy="293830"/>
          </a:xfrm>
          <a:prstGeom prst="rect">
            <a:avLst/>
          </a:prstGeom>
          <a:noFill/>
          <a:ln/>
        </p:spPr>
        <p:txBody>
          <a:bodyPr wrap="square" lIns="0" tIns="0" rIns="0" bIns="0" rtlCol="0" anchor="t"/>
          <a:lstStyle/>
          <a:p>
            <a:pPr marL="0" indent="0" algn="ctr">
              <a:lnSpc>
                <a:spcPts val="1650"/>
              </a:lnSpc>
              <a:buNone/>
            </a:pPr>
            <a:r>
              <a:rPr lang="en-US" sz="1400" b="1" dirty="0">
                <a:solidFill>
                  <a:srgbClr val="272525"/>
                </a:solidFill>
                <a:latin typeface="Inter Bold" pitchFamily="34" charset="0"/>
                <a:ea typeface="Inter Bold" pitchFamily="34" charset="-122"/>
                <a:cs typeface="Inter Bold" pitchFamily="34" charset="-120"/>
              </a:rPr>
              <a:t>Residual Blocks</a:t>
            </a:r>
            <a:endParaRPr lang="en-US" sz="1400" dirty="0"/>
          </a:p>
        </p:txBody>
      </p:sp>
      <p:sp>
        <p:nvSpPr>
          <p:cNvPr id="75" name="Text 5">
            <a:extLst>
              <a:ext uri="{FF2B5EF4-FFF2-40B4-BE49-F238E27FC236}">
                <a16:creationId xmlns:a16="http://schemas.microsoft.com/office/drawing/2014/main" id="{48191073-6EE2-E165-4275-40DCED3F9791}"/>
              </a:ext>
            </a:extLst>
          </p:cNvPr>
          <p:cNvSpPr/>
          <p:nvPr/>
        </p:nvSpPr>
        <p:spPr>
          <a:xfrm>
            <a:off x="6298783" y="2231590"/>
            <a:ext cx="762650" cy="293830"/>
          </a:xfrm>
          <a:prstGeom prst="rect">
            <a:avLst/>
          </a:prstGeom>
          <a:noFill/>
          <a:ln/>
        </p:spPr>
        <p:txBody>
          <a:bodyPr wrap="square" lIns="0" tIns="0" rIns="0" bIns="0" rtlCol="0" anchor="t"/>
          <a:lstStyle/>
          <a:p>
            <a:pPr marL="0" indent="0" algn="ctr">
              <a:lnSpc>
                <a:spcPts val="1650"/>
              </a:lnSpc>
              <a:buNone/>
            </a:pPr>
            <a:r>
              <a:rPr lang="en-US" sz="1400" b="1" dirty="0">
                <a:solidFill>
                  <a:srgbClr val="272525"/>
                </a:solidFill>
                <a:latin typeface="Inter Bold" pitchFamily="34" charset="0"/>
                <a:ea typeface="Inter Bold" pitchFamily="34" charset="-122"/>
                <a:cs typeface="Inter Bold" pitchFamily="34" charset="-120"/>
              </a:rPr>
              <a:t>Conv/BN/ReLU</a:t>
            </a:r>
            <a:endParaRPr lang="en-US" sz="1400" dirty="0"/>
          </a:p>
        </p:txBody>
      </p:sp>
      <p:sp>
        <p:nvSpPr>
          <p:cNvPr id="77" name="Text 6">
            <a:extLst>
              <a:ext uri="{FF2B5EF4-FFF2-40B4-BE49-F238E27FC236}">
                <a16:creationId xmlns:a16="http://schemas.microsoft.com/office/drawing/2014/main" id="{B7CE8B8B-0B9E-6067-FA97-6B7F8E797FB4}"/>
              </a:ext>
            </a:extLst>
          </p:cNvPr>
          <p:cNvSpPr/>
          <p:nvPr/>
        </p:nvSpPr>
        <p:spPr>
          <a:xfrm>
            <a:off x="5333349" y="2228006"/>
            <a:ext cx="762651" cy="146915"/>
          </a:xfrm>
          <a:prstGeom prst="rect">
            <a:avLst/>
          </a:prstGeom>
          <a:noFill/>
          <a:ln/>
        </p:spPr>
        <p:txBody>
          <a:bodyPr wrap="none" lIns="0" tIns="0" rIns="0" bIns="0" rtlCol="0" anchor="t"/>
          <a:lstStyle/>
          <a:p>
            <a:pPr marL="0" indent="0" algn="ctr">
              <a:lnSpc>
                <a:spcPts val="1650"/>
              </a:lnSpc>
              <a:buNone/>
            </a:pPr>
            <a:r>
              <a:rPr lang="en-US" sz="1400" b="1" dirty="0">
                <a:solidFill>
                  <a:srgbClr val="272525"/>
                </a:solidFill>
                <a:latin typeface="Inter Bold" pitchFamily="34" charset="0"/>
                <a:ea typeface="Inter Bold" pitchFamily="34" charset="-122"/>
                <a:cs typeface="Inter Bold" pitchFamily="34" charset="-120"/>
              </a:rPr>
              <a:t>Input</a:t>
            </a:r>
            <a:endParaRPr lang="en-US" sz="1400" dirty="0"/>
          </a:p>
        </p:txBody>
      </p:sp>
      <p:pic>
        <p:nvPicPr>
          <p:cNvPr id="78" name="Image 7" descr="preencoded.png">
            <a:extLst>
              <a:ext uri="{FF2B5EF4-FFF2-40B4-BE49-F238E27FC236}">
                <a16:creationId xmlns:a16="http://schemas.microsoft.com/office/drawing/2014/main" id="{ABEC4F93-31E7-AF72-8B82-6F01D64D01F8}"/>
              </a:ext>
            </a:extLst>
          </p:cNvPr>
          <p:cNvPicPr>
            <a:picLocks noChangeAspect="1"/>
          </p:cNvPicPr>
          <p:nvPr/>
        </p:nvPicPr>
        <p:blipFill>
          <a:blip r:embed="rId5"/>
          <a:stretch>
            <a:fillRect/>
          </a:stretch>
        </p:blipFill>
        <p:spPr>
          <a:xfrm>
            <a:off x="3739812" y="2620366"/>
            <a:ext cx="126683" cy="158353"/>
          </a:xfrm>
          <a:prstGeom prst="rect">
            <a:avLst/>
          </a:prstGeom>
        </p:spPr>
      </p:pic>
      <p:sp>
        <p:nvSpPr>
          <p:cNvPr id="79" name="Shape 7">
            <a:extLst>
              <a:ext uri="{FF2B5EF4-FFF2-40B4-BE49-F238E27FC236}">
                <a16:creationId xmlns:a16="http://schemas.microsoft.com/office/drawing/2014/main" id="{D662A8C5-B8B3-3D93-E469-021409B76D5F}"/>
              </a:ext>
            </a:extLst>
          </p:cNvPr>
          <p:cNvSpPr/>
          <p:nvPr/>
        </p:nvSpPr>
        <p:spPr>
          <a:xfrm>
            <a:off x="3739812" y="2820391"/>
            <a:ext cx="7779306" cy="9144"/>
          </a:xfrm>
          <a:prstGeom prst="rect">
            <a:avLst/>
          </a:prstGeom>
          <a:solidFill>
            <a:srgbClr val="4950BC"/>
          </a:solidFill>
          <a:ln/>
        </p:spPr>
        <p:txBody>
          <a:bodyPr/>
          <a:lstStyle/>
          <a:p>
            <a:endParaRPr lang="en-US" dirty="0"/>
          </a:p>
        </p:txBody>
      </p:sp>
      <p:sp>
        <p:nvSpPr>
          <p:cNvPr id="80" name="Text 8">
            <a:extLst>
              <a:ext uri="{FF2B5EF4-FFF2-40B4-BE49-F238E27FC236}">
                <a16:creationId xmlns:a16="http://schemas.microsoft.com/office/drawing/2014/main" id="{081391A3-1F0D-A812-3426-54C6F6103708}"/>
              </a:ext>
            </a:extLst>
          </p:cNvPr>
          <p:cNvSpPr/>
          <p:nvPr/>
        </p:nvSpPr>
        <p:spPr>
          <a:xfrm>
            <a:off x="3739812" y="2914212"/>
            <a:ext cx="1741527" cy="197882"/>
          </a:xfrm>
          <a:prstGeom prst="rect">
            <a:avLst/>
          </a:prstGeom>
          <a:noFill/>
          <a:ln/>
        </p:spPr>
        <p:txBody>
          <a:bodyPr wrap="none" lIns="0" tIns="0" rIns="0" bIns="0" rtlCol="0" anchor="t"/>
          <a:lstStyle/>
          <a:p>
            <a:pPr marL="0" indent="0" algn="l">
              <a:lnSpc>
                <a:spcPts val="1550"/>
              </a:lnSpc>
              <a:buNone/>
            </a:pPr>
            <a:r>
              <a:rPr lang="en-US" sz="1200" b="1" dirty="0">
                <a:solidFill>
                  <a:srgbClr val="272525"/>
                </a:solidFill>
                <a:latin typeface="Inter Bold" pitchFamily="34" charset="0"/>
                <a:ea typeface="Inter Bold" pitchFamily="34" charset="-122"/>
                <a:cs typeface="Inter Bold" pitchFamily="34" charset="-120"/>
              </a:rPr>
              <a:t>Input and Initial Layers</a:t>
            </a:r>
            <a:endParaRPr lang="en-US" sz="1200" dirty="0"/>
          </a:p>
        </p:txBody>
      </p:sp>
      <p:sp>
        <p:nvSpPr>
          <p:cNvPr id="81" name="Text 9">
            <a:extLst>
              <a:ext uri="{FF2B5EF4-FFF2-40B4-BE49-F238E27FC236}">
                <a16:creationId xmlns:a16="http://schemas.microsoft.com/office/drawing/2014/main" id="{3C71AB62-7B49-B701-AE7D-C941F1655F3D}"/>
              </a:ext>
            </a:extLst>
          </p:cNvPr>
          <p:cNvSpPr/>
          <p:nvPr/>
        </p:nvSpPr>
        <p:spPr>
          <a:xfrm>
            <a:off x="3739812" y="3188056"/>
            <a:ext cx="7779306" cy="202644"/>
          </a:xfrm>
          <a:prstGeom prst="rect">
            <a:avLst/>
          </a:prstGeom>
          <a:noFill/>
          <a:ln/>
        </p:spPr>
        <p:txBody>
          <a:bodyPr wrap="none" lIns="0" tIns="0" rIns="0" bIns="0" rtlCol="0" anchor="t"/>
          <a:lstStyle/>
          <a:p>
            <a:pPr marL="0" indent="0" algn="l">
              <a:lnSpc>
                <a:spcPts val="1550"/>
              </a:lnSpc>
              <a:buNone/>
            </a:pPr>
            <a:r>
              <a:rPr lang="en-US" sz="1200" dirty="0">
                <a:solidFill>
                  <a:srgbClr val="272525"/>
                </a:solidFill>
                <a:latin typeface="Inter" pitchFamily="34" charset="0"/>
                <a:ea typeface="Inter" pitchFamily="34" charset="-122"/>
                <a:cs typeface="Inter" pitchFamily="34" charset="-120"/>
              </a:rPr>
              <a:t>Starts with a standard Convolutional layer, followed by Batch Normalization (BN) and a ReLU activation function.</a:t>
            </a:r>
            <a:endParaRPr lang="en-US" sz="1200" dirty="0"/>
          </a:p>
        </p:txBody>
      </p:sp>
      <p:pic>
        <p:nvPicPr>
          <p:cNvPr id="82" name="Image 8" descr="preencoded.png">
            <a:extLst>
              <a:ext uri="{FF2B5EF4-FFF2-40B4-BE49-F238E27FC236}">
                <a16:creationId xmlns:a16="http://schemas.microsoft.com/office/drawing/2014/main" id="{36CA729D-371F-67F7-8C2B-13EB8B8A3C99}"/>
              </a:ext>
            </a:extLst>
          </p:cNvPr>
          <p:cNvPicPr>
            <a:picLocks noChangeAspect="1"/>
          </p:cNvPicPr>
          <p:nvPr/>
        </p:nvPicPr>
        <p:blipFill>
          <a:blip r:embed="rId6"/>
          <a:stretch>
            <a:fillRect/>
          </a:stretch>
        </p:blipFill>
        <p:spPr>
          <a:xfrm>
            <a:off x="3739812" y="3527860"/>
            <a:ext cx="126683" cy="158353"/>
          </a:xfrm>
          <a:prstGeom prst="rect">
            <a:avLst/>
          </a:prstGeom>
        </p:spPr>
      </p:pic>
      <p:sp>
        <p:nvSpPr>
          <p:cNvPr id="84" name="Text 11">
            <a:extLst>
              <a:ext uri="{FF2B5EF4-FFF2-40B4-BE49-F238E27FC236}">
                <a16:creationId xmlns:a16="http://schemas.microsoft.com/office/drawing/2014/main" id="{486A6980-652A-D0DC-8FBA-0D6F602B0DE4}"/>
              </a:ext>
            </a:extLst>
          </p:cNvPr>
          <p:cNvSpPr/>
          <p:nvPr/>
        </p:nvSpPr>
        <p:spPr>
          <a:xfrm>
            <a:off x="3739812" y="3821706"/>
            <a:ext cx="1584008" cy="197882"/>
          </a:xfrm>
          <a:prstGeom prst="rect">
            <a:avLst/>
          </a:prstGeom>
          <a:noFill/>
          <a:ln/>
        </p:spPr>
        <p:txBody>
          <a:bodyPr wrap="none" lIns="0" tIns="0" rIns="0" bIns="0" rtlCol="0" anchor="t"/>
          <a:lstStyle/>
          <a:p>
            <a:pPr marL="0" indent="0" algn="l">
              <a:lnSpc>
                <a:spcPts val="1550"/>
              </a:lnSpc>
              <a:buNone/>
            </a:pPr>
            <a:r>
              <a:rPr lang="en-US" sz="1200" b="1" dirty="0">
                <a:solidFill>
                  <a:srgbClr val="272525"/>
                </a:solidFill>
                <a:latin typeface="Inter Bold" pitchFamily="34" charset="0"/>
                <a:ea typeface="Inter Bold" pitchFamily="34" charset="-122"/>
                <a:cs typeface="Inter Bold" pitchFamily="34" charset="-120"/>
              </a:rPr>
              <a:t>Residual Blocks</a:t>
            </a:r>
            <a:endParaRPr lang="en-US" sz="1200" dirty="0"/>
          </a:p>
        </p:txBody>
      </p:sp>
      <p:sp>
        <p:nvSpPr>
          <p:cNvPr id="85" name="Text 12">
            <a:extLst>
              <a:ext uri="{FF2B5EF4-FFF2-40B4-BE49-F238E27FC236}">
                <a16:creationId xmlns:a16="http://schemas.microsoft.com/office/drawing/2014/main" id="{052000E3-FE71-74EB-44DD-6830EEE43F62}"/>
              </a:ext>
            </a:extLst>
          </p:cNvPr>
          <p:cNvSpPr/>
          <p:nvPr/>
        </p:nvSpPr>
        <p:spPr>
          <a:xfrm>
            <a:off x="3739812" y="4095550"/>
            <a:ext cx="7779306" cy="405289"/>
          </a:xfrm>
          <a:prstGeom prst="rect">
            <a:avLst/>
          </a:prstGeom>
          <a:noFill/>
          <a:ln/>
        </p:spPr>
        <p:txBody>
          <a:bodyPr wrap="square" lIns="0" tIns="0" rIns="0" bIns="0" rtlCol="0" anchor="t"/>
          <a:lstStyle/>
          <a:p>
            <a:pPr marL="0" indent="0" algn="l">
              <a:lnSpc>
                <a:spcPts val="1550"/>
              </a:lnSpc>
              <a:buNone/>
            </a:pPr>
            <a:r>
              <a:rPr lang="en-US" sz="1200" dirty="0">
                <a:solidFill>
                  <a:srgbClr val="272525"/>
                </a:solidFill>
                <a:latin typeface="Inter" pitchFamily="34" charset="0"/>
                <a:ea typeface="Inter" pitchFamily="34" charset="-122"/>
                <a:cs typeface="Inter" pitchFamily="34" charset="-120"/>
              </a:rPr>
              <a:t>Stacked blocks contain Conv-BN-ReLU sequences with skip connections, preserving gradient flow. Down-sampling is performed within specific blocks using strided convolutions.</a:t>
            </a:r>
            <a:endParaRPr lang="en-US" sz="1200" dirty="0"/>
          </a:p>
        </p:txBody>
      </p:sp>
      <p:pic>
        <p:nvPicPr>
          <p:cNvPr id="86" name="Image 9" descr="preencoded.png">
            <a:extLst>
              <a:ext uri="{FF2B5EF4-FFF2-40B4-BE49-F238E27FC236}">
                <a16:creationId xmlns:a16="http://schemas.microsoft.com/office/drawing/2014/main" id="{C3801C9B-5F17-CF68-7F1F-7F2136EA9ECD}"/>
              </a:ext>
            </a:extLst>
          </p:cNvPr>
          <p:cNvPicPr>
            <a:picLocks noChangeAspect="1"/>
          </p:cNvPicPr>
          <p:nvPr/>
        </p:nvPicPr>
        <p:blipFill>
          <a:blip r:embed="rId7"/>
          <a:stretch>
            <a:fillRect/>
          </a:stretch>
        </p:blipFill>
        <p:spPr>
          <a:xfrm>
            <a:off x="3739812" y="4722533"/>
            <a:ext cx="126683" cy="158353"/>
          </a:xfrm>
          <a:prstGeom prst="rect">
            <a:avLst/>
          </a:prstGeom>
        </p:spPr>
      </p:pic>
      <p:sp>
        <p:nvSpPr>
          <p:cNvPr id="87" name="Shape 13">
            <a:extLst>
              <a:ext uri="{FF2B5EF4-FFF2-40B4-BE49-F238E27FC236}">
                <a16:creationId xmlns:a16="http://schemas.microsoft.com/office/drawing/2014/main" id="{557DE184-D08D-88DF-C7D6-BB62E4B5C936}"/>
              </a:ext>
            </a:extLst>
          </p:cNvPr>
          <p:cNvSpPr/>
          <p:nvPr/>
        </p:nvSpPr>
        <p:spPr>
          <a:xfrm>
            <a:off x="3739812" y="4970778"/>
            <a:ext cx="7779306" cy="9144"/>
          </a:xfrm>
          <a:prstGeom prst="rect">
            <a:avLst/>
          </a:prstGeom>
          <a:solidFill>
            <a:srgbClr val="4950BC"/>
          </a:solidFill>
          <a:ln/>
        </p:spPr>
        <p:txBody>
          <a:bodyPr/>
          <a:lstStyle/>
          <a:p>
            <a:endParaRPr lang="en-US" dirty="0"/>
          </a:p>
        </p:txBody>
      </p:sp>
      <p:sp>
        <p:nvSpPr>
          <p:cNvPr id="88" name="Text 14">
            <a:extLst>
              <a:ext uri="{FF2B5EF4-FFF2-40B4-BE49-F238E27FC236}">
                <a16:creationId xmlns:a16="http://schemas.microsoft.com/office/drawing/2014/main" id="{EBFAFF9D-5FE6-87E4-9C12-714E5B5A443B}"/>
              </a:ext>
            </a:extLst>
          </p:cNvPr>
          <p:cNvSpPr/>
          <p:nvPr/>
        </p:nvSpPr>
        <p:spPr>
          <a:xfrm>
            <a:off x="3739812" y="5016379"/>
            <a:ext cx="2282547" cy="197882"/>
          </a:xfrm>
          <a:prstGeom prst="rect">
            <a:avLst/>
          </a:prstGeom>
          <a:noFill/>
          <a:ln/>
        </p:spPr>
        <p:txBody>
          <a:bodyPr wrap="none" lIns="0" tIns="0" rIns="0" bIns="0" rtlCol="0" anchor="t"/>
          <a:lstStyle/>
          <a:p>
            <a:pPr marL="0" indent="0" algn="l">
              <a:lnSpc>
                <a:spcPts val="1550"/>
              </a:lnSpc>
              <a:buNone/>
            </a:pPr>
            <a:r>
              <a:rPr lang="en-US" sz="1200" b="1" dirty="0">
                <a:solidFill>
                  <a:srgbClr val="272525"/>
                </a:solidFill>
                <a:latin typeface="Inter Bold" pitchFamily="34" charset="0"/>
                <a:ea typeface="Inter Bold" pitchFamily="34" charset="-122"/>
                <a:cs typeface="Inter Bold" pitchFamily="34" charset="-120"/>
              </a:rPr>
              <a:t>Global Average Pooling (GAP)</a:t>
            </a:r>
            <a:endParaRPr lang="en-US" sz="1200" dirty="0"/>
          </a:p>
        </p:txBody>
      </p:sp>
      <p:sp>
        <p:nvSpPr>
          <p:cNvPr id="89" name="Text 15">
            <a:extLst>
              <a:ext uri="{FF2B5EF4-FFF2-40B4-BE49-F238E27FC236}">
                <a16:creationId xmlns:a16="http://schemas.microsoft.com/office/drawing/2014/main" id="{D749E21D-C4A5-9800-5916-C75B935F376A}"/>
              </a:ext>
            </a:extLst>
          </p:cNvPr>
          <p:cNvSpPr/>
          <p:nvPr/>
        </p:nvSpPr>
        <p:spPr>
          <a:xfrm>
            <a:off x="3739812" y="5290223"/>
            <a:ext cx="7779306" cy="202644"/>
          </a:xfrm>
          <a:prstGeom prst="rect">
            <a:avLst/>
          </a:prstGeom>
          <a:noFill/>
          <a:ln/>
        </p:spPr>
        <p:txBody>
          <a:bodyPr wrap="none" lIns="0" tIns="0" rIns="0" bIns="0" rtlCol="0" anchor="t"/>
          <a:lstStyle/>
          <a:p>
            <a:pPr marL="0" indent="0" algn="l">
              <a:lnSpc>
                <a:spcPts val="1550"/>
              </a:lnSpc>
              <a:buNone/>
            </a:pPr>
            <a:r>
              <a:rPr lang="en-US" sz="1200" dirty="0">
                <a:solidFill>
                  <a:srgbClr val="272525"/>
                </a:solidFill>
                <a:latin typeface="Inter" pitchFamily="34" charset="0"/>
                <a:ea typeface="Inter" pitchFamily="34" charset="-122"/>
                <a:cs typeface="Inter" pitchFamily="34" charset="-120"/>
              </a:rPr>
              <a:t>Replaces large fully connected layers, reducing parameters and improving spatial robustness before the final classification.</a:t>
            </a:r>
            <a:endParaRPr lang="en-US" sz="1200" dirty="0"/>
          </a:p>
        </p:txBody>
      </p:sp>
      <p:pic>
        <p:nvPicPr>
          <p:cNvPr id="90" name="Image 10" descr="preencoded.png">
            <a:extLst>
              <a:ext uri="{FF2B5EF4-FFF2-40B4-BE49-F238E27FC236}">
                <a16:creationId xmlns:a16="http://schemas.microsoft.com/office/drawing/2014/main" id="{6162913A-CE7B-41D3-F61E-16C548F009BB}"/>
              </a:ext>
            </a:extLst>
          </p:cNvPr>
          <p:cNvPicPr>
            <a:picLocks noChangeAspect="1"/>
          </p:cNvPicPr>
          <p:nvPr/>
        </p:nvPicPr>
        <p:blipFill>
          <a:blip r:embed="rId8"/>
          <a:stretch>
            <a:fillRect/>
          </a:stretch>
        </p:blipFill>
        <p:spPr>
          <a:xfrm>
            <a:off x="3739812" y="5714562"/>
            <a:ext cx="126683" cy="158353"/>
          </a:xfrm>
          <a:prstGeom prst="rect">
            <a:avLst/>
          </a:prstGeom>
        </p:spPr>
      </p:pic>
      <p:sp>
        <p:nvSpPr>
          <p:cNvPr id="92" name="Text 17">
            <a:extLst>
              <a:ext uri="{FF2B5EF4-FFF2-40B4-BE49-F238E27FC236}">
                <a16:creationId xmlns:a16="http://schemas.microsoft.com/office/drawing/2014/main" id="{32BEBF09-EAC0-B79D-D67D-77D02D7BEABF}"/>
              </a:ext>
            </a:extLst>
          </p:cNvPr>
          <p:cNvSpPr/>
          <p:nvPr/>
        </p:nvSpPr>
        <p:spPr>
          <a:xfrm>
            <a:off x="3739812" y="6008408"/>
            <a:ext cx="2016085" cy="197882"/>
          </a:xfrm>
          <a:prstGeom prst="rect">
            <a:avLst/>
          </a:prstGeom>
          <a:noFill/>
          <a:ln/>
        </p:spPr>
        <p:txBody>
          <a:bodyPr wrap="none" lIns="0" tIns="0" rIns="0" bIns="0" rtlCol="0" anchor="t"/>
          <a:lstStyle/>
          <a:p>
            <a:pPr marL="0" indent="0" algn="l">
              <a:lnSpc>
                <a:spcPts val="1550"/>
              </a:lnSpc>
              <a:buNone/>
            </a:pPr>
            <a:r>
              <a:rPr lang="en-US" sz="1200" b="1" dirty="0">
                <a:solidFill>
                  <a:srgbClr val="272525"/>
                </a:solidFill>
                <a:latin typeface="Inter Bold" pitchFamily="34" charset="0"/>
                <a:ea typeface="Inter Bold" pitchFamily="34" charset="-122"/>
                <a:cs typeface="Inter Bold" pitchFamily="34" charset="-120"/>
              </a:rPr>
              <a:t>Output and Regularization</a:t>
            </a:r>
            <a:endParaRPr lang="en-US" sz="1200" dirty="0"/>
          </a:p>
        </p:txBody>
      </p:sp>
      <p:sp>
        <p:nvSpPr>
          <p:cNvPr id="93" name="Text 18">
            <a:extLst>
              <a:ext uri="{FF2B5EF4-FFF2-40B4-BE49-F238E27FC236}">
                <a16:creationId xmlns:a16="http://schemas.microsoft.com/office/drawing/2014/main" id="{D968F3FA-8760-3B5C-F307-08C07CC54E2E}"/>
              </a:ext>
            </a:extLst>
          </p:cNvPr>
          <p:cNvSpPr/>
          <p:nvPr/>
        </p:nvSpPr>
        <p:spPr>
          <a:xfrm>
            <a:off x="3739812" y="6251496"/>
            <a:ext cx="7779306" cy="405289"/>
          </a:xfrm>
          <a:prstGeom prst="rect">
            <a:avLst/>
          </a:prstGeom>
          <a:noFill/>
          <a:ln/>
        </p:spPr>
        <p:txBody>
          <a:bodyPr wrap="square" lIns="0" tIns="0" rIns="0" bIns="0" rtlCol="0" anchor="t"/>
          <a:lstStyle/>
          <a:p>
            <a:pPr marL="0" indent="0" algn="l">
              <a:lnSpc>
                <a:spcPts val="1550"/>
              </a:lnSpc>
              <a:buNone/>
            </a:pPr>
            <a:r>
              <a:rPr lang="en-US" sz="1200" dirty="0">
                <a:solidFill>
                  <a:srgbClr val="272525"/>
                </a:solidFill>
                <a:latin typeface="Inter" pitchFamily="34" charset="0"/>
                <a:ea typeface="Inter" pitchFamily="34" charset="-122"/>
                <a:cs typeface="Inter" pitchFamily="34" charset="-120"/>
              </a:rPr>
              <a:t>A final Fully Connected layer with Softmax activation produces class probabilities. Regularization includes Dropout (on FC layers) and L2 Weight Decay (WD).</a:t>
            </a:r>
            <a:endParaRPr lang="en-US" sz="1200" dirty="0"/>
          </a:p>
        </p:txBody>
      </p:sp>
      <p:pic>
        <p:nvPicPr>
          <p:cNvPr id="94" name="Image 0" descr="preencoded.png">
            <a:extLst>
              <a:ext uri="{FF2B5EF4-FFF2-40B4-BE49-F238E27FC236}">
                <a16:creationId xmlns:a16="http://schemas.microsoft.com/office/drawing/2014/main" id="{4AA6D385-2F57-AAA5-5BA1-3F3E842B9B2F}"/>
              </a:ext>
            </a:extLst>
          </p:cNvPr>
          <p:cNvPicPr>
            <a:picLocks noChangeAspect="1"/>
          </p:cNvPicPr>
          <p:nvPr/>
        </p:nvPicPr>
        <p:blipFill>
          <a:blip r:embed="rId9"/>
          <a:stretch>
            <a:fillRect/>
          </a:stretch>
        </p:blipFill>
        <p:spPr>
          <a:xfrm>
            <a:off x="-1" y="0"/>
            <a:ext cx="3574670" cy="6844189"/>
          </a:xfrm>
          <a:prstGeom prst="rect">
            <a:avLst/>
          </a:prstGeom>
        </p:spPr>
      </p:pic>
      <p:sp>
        <p:nvSpPr>
          <p:cNvPr id="95" name="Shape 16">
            <a:extLst>
              <a:ext uri="{FF2B5EF4-FFF2-40B4-BE49-F238E27FC236}">
                <a16:creationId xmlns:a16="http://schemas.microsoft.com/office/drawing/2014/main" id="{4511C9AF-0375-4A52-2424-7E6272E1409D}"/>
              </a:ext>
            </a:extLst>
          </p:cNvPr>
          <p:cNvSpPr/>
          <p:nvPr/>
        </p:nvSpPr>
        <p:spPr>
          <a:xfrm>
            <a:off x="3739812" y="5979871"/>
            <a:ext cx="7779306" cy="9144"/>
          </a:xfrm>
          <a:prstGeom prst="rect">
            <a:avLst/>
          </a:prstGeom>
          <a:solidFill>
            <a:srgbClr val="4950BC"/>
          </a:solidFill>
          <a:ln/>
        </p:spPr>
        <p:txBody>
          <a:bodyPr/>
          <a:lstStyle/>
          <a:p>
            <a:endParaRPr lang="en-US" dirty="0"/>
          </a:p>
        </p:txBody>
      </p:sp>
      <p:sp>
        <p:nvSpPr>
          <p:cNvPr id="96" name="Shape 13">
            <a:extLst>
              <a:ext uri="{FF2B5EF4-FFF2-40B4-BE49-F238E27FC236}">
                <a16:creationId xmlns:a16="http://schemas.microsoft.com/office/drawing/2014/main" id="{FCE5A91D-1A14-7CFE-6C04-6D46B5DB7081}"/>
              </a:ext>
            </a:extLst>
          </p:cNvPr>
          <p:cNvSpPr/>
          <p:nvPr/>
        </p:nvSpPr>
        <p:spPr>
          <a:xfrm>
            <a:off x="3739812" y="3781739"/>
            <a:ext cx="7779306" cy="9144"/>
          </a:xfrm>
          <a:prstGeom prst="rect">
            <a:avLst/>
          </a:prstGeom>
          <a:solidFill>
            <a:srgbClr val="4950BC"/>
          </a:solidFill>
          <a:ln/>
        </p:spPr>
        <p:txBody>
          <a:bodyPr/>
          <a:lstStyle/>
          <a:p>
            <a:endParaRPr lang="en-US" dirty="0"/>
          </a:p>
        </p:txBody>
      </p:sp>
      <p:pic>
        <p:nvPicPr>
          <p:cNvPr id="9" name="Audio 8">
            <a:extLst>
              <a:ext uri="{FF2B5EF4-FFF2-40B4-BE49-F238E27FC236}">
                <a16:creationId xmlns:a16="http://schemas.microsoft.com/office/drawing/2014/main" id="{D5756EB8-1D33-CAE9-6926-893FDFD91BA5}"/>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4075208758"/>
      </p:ext>
    </p:extLst>
  </p:cSld>
  <p:clrMapOvr>
    <a:masterClrMapping/>
  </p:clrMapOvr>
  <mc:AlternateContent xmlns:mc="http://schemas.openxmlformats.org/markup-compatibility/2006" xmlns:p14="http://schemas.microsoft.com/office/powerpoint/2010/main">
    <mc:Choice Requires="p14">
      <p:transition spd="slow" p14:dur="2000" advTm="45685"/>
    </mc:Choice>
    <mc:Fallback xmlns="">
      <p:transition spd="slow" advTm="4568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 0">
            <a:extLst>
              <a:ext uri="{FF2B5EF4-FFF2-40B4-BE49-F238E27FC236}">
                <a16:creationId xmlns:a16="http://schemas.microsoft.com/office/drawing/2014/main" id="{0F71D33A-A7E1-CCA4-2D89-E7BD6FC32F24}"/>
              </a:ext>
            </a:extLst>
          </p:cNvPr>
          <p:cNvSpPr/>
          <p:nvPr/>
        </p:nvSpPr>
        <p:spPr>
          <a:xfrm>
            <a:off x="355640" y="1145738"/>
            <a:ext cx="5397460" cy="496133"/>
          </a:xfrm>
          <a:prstGeom prst="rect">
            <a:avLst/>
          </a:prstGeom>
          <a:noFill/>
          <a:ln/>
        </p:spPr>
        <p:txBody>
          <a:bodyPr wrap="none" lIns="0" tIns="0" rIns="0" bIns="0" rtlCol="0" anchor="t"/>
          <a:lstStyle/>
          <a:p>
            <a:pPr marL="0" indent="0" algn="l">
              <a:lnSpc>
                <a:spcPts val="3900"/>
              </a:lnSpc>
              <a:buNone/>
            </a:pPr>
            <a:r>
              <a:rPr lang="en-US" sz="2900" b="1" dirty="0">
                <a:solidFill>
                  <a:srgbClr val="000000"/>
                </a:solidFill>
                <a:latin typeface="Inter Bold" pitchFamily="34" charset="0"/>
                <a:ea typeface="Inter Bold" pitchFamily="34" charset="-122"/>
                <a:cs typeface="Inter Bold" pitchFamily="34" charset="-120"/>
              </a:rPr>
              <a:t>Hyperparameter</a:t>
            </a:r>
            <a:r>
              <a:rPr lang="en-US" sz="3100" b="1" dirty="0">
                <a:solidFill>
                  <a:srgbClr val="000000"/>
                </a:solidFill>
                <a:latin typeface="Inter Bold" pitchFamily="34" charset="0"/>
                <a:ea typeface="Inter Bold" pitchFamily="34" charset="-122"/>
                <a:cs typeface="Inter Bold" pitchFamily="34" charset="-120"/>
              </a:rPr>
              <a:t> Configuration</a:t>
            </a:r>
            <a:endParaRPr lang="en-US" sz="3100" dirty="0"/>
          </a:p>
        </p:txBody>
      </p:sp>
      <p:sp>
        <p:nvSpPr>
          <p:cNvPr id="35" name="Text 1">
            <a:extLst>
              <a:ext uri="{FF2B5EF4-FFF2-40B4-BE49-F238E27FC236}">
                <a16:creationId xmlns:a16="http://schemas.microsoft.com/office/drawing/2014/main" id="{513EAC1A-5A08-AA76-1904-F27A5D38D21F}"/>
              </a:ext>
            </a:extLst>
          </p:cNvPr>
          <p:cNvSpPr/>
          <p:nvPr/>
        </p:nvSpPr>
        <p:spPr>
          <a:xfrm>
            <a:off x="355640" y="1959412"/>
            <a:ext cx="9746177" cy="254079"/>
          </a:xfrm>
          <a:prstGeom prst="rect">
            <a:avLst/>
          </a:prstGeom>
          <a:noFill/>
          <a:ln/>
        </p:spPr>
        <p:txBody>
          <a:bodyPr wrap="none" lIns="0" tIns="0" rIns="0" bIns="0" rtlCol="0" anchor="t"/>
          <a:lstStyle/>
          <a:p>
            <a:pPr marL="0" indent="0" algn="l">
              <a:lnSpc>
                <a:spcPts val="2000"/>
              </a:lnSpc>
              <a:buNone/>
            </a:pPr>
            <a:r>
              <a:rPr lang="en-US" sz="1200" dirty="0">
                <a:solidFill>
                  <a:srgbClr val="272525"/>
                </a:solidFill>
                <a:latin typeface="Inter" pitchFamily="34" charset="0"/>
                <a:ea typeface="Inter" pitchFamily="34" charset="-122"/>
                <a:cs typeface="Inter" pitchFamily="34" charset="-120"/>
              </a:rPr>
              <a:t>Optimal hyperparameter tuning is essential for achieving peak performance and reliable training dynamics on the CIFAR-10 task.</a:t>
            </a:r>
            <a:endParaRPr lang="en-US" sz="1200" dirty="0"/>
          </a:p>
        </p:txBody>
      </p:sp>
      <p:pic>
        <p:nvPicPr>
          <p:cNvPr id="36" name="Image 0" descr="preencoded.png">
            <a:extLst>
              <a:ext uri="{FF2B5EF4-FFF2-40B4-BE49-F238E27FC236}">
                <a16:creationId xmlns:a16="http://schemas.microsoft.com/office/drawing/2014/main" id="{52519134-33FE-A877-605B-1B9CE73CF3BE}"/>
              </a:ext>
            </a:extLst>
          </p:cNvPr>
          <p:cNvPicPr>
            <a:picLocks noChangeAspect="1"/>
          </p:cNvPicPr>
          <p:nvPr/>
        </p:nvPicPr>
        <p:blipFill>
          <a:blip r:embed="rId5"/>
          <a:stretch>
            <a:fillRect/>
          </a:stretch>
        </p:blipFill>
        <p:spPr>
          <a:xfrm>
            <a:off x="355640" y="2392085"/>
            <a:ext cx="296532" cy="396835"/>
          </a:xfrm>
          <a:prstGeom prst="rect">
            <a:avLst/>
          </a:prstGeom>
        </p:spPr>
      </p:pic>
      <p:sp>
        <p:nvSpPr>
          <p:cNvPr id="37" name="Text 2">
            <a:extLst>
              <a:ext uri="{FF2B5EF4-FFF2-40B4-BE49-F238E27FC236}">
                <a16:creationId xmlns:a16="http://schemas.microsoft.com/office/drawing/2014/main" id="{08DFCBE8-D011-C844-B299-F8ED679D623A}"/>
              </a:ext>
            </a:extLst>
          </p:cNvPr>
          <p:cNvSpPr/>
          <p:nvPr/>
        </p:nvSpPr>
        <p:spPr>
          <a:xfrm>
            <a:off x="950833" y="2486263"/>
            <a:ext cx="1483021" cy="248007"/>
          </a:xfrm>
          <a:prstGeom prst="rect">
            <a:avLst/>
          </a:prstGeom>
          <a:noFill/>
          <a:ln/>
        </p:spPr>
        <p:txBody>
          <a:bodyPr wrap="none" lIns="0" tIns="0" rIns="0" bIns="0" rtlCol="0" anchor="t"/>
          <a:lstStyle/>
          <a:p>
            <a:pPr marL="0" indent="0" algn="l">
              <a:lnSpc>
                <a:spcPts val="1950"/>
              </a:lnSpc>
              <a:buNone/>
            </a:pPr>
            <a:r>
              <a:rPr lang="en-US" sz="1400" b="1" dirty="0">
                <a:solidFill>
                  <a:srgbClr val="272525"/>
                </a:solidFill>
                <a:latin typeface="Inter Bold" pitchFamily="34" charset="0"/>
                <a:ea typeface="Inter Bold" pitchFamily="34" charset="-122"/>
                <a:cs typeface="Inter Bold" pitchFamily="34" charset="-120"/>
              </a:rPr>
              <a:t>Training Duration</a:t>
            </a:r>
            <a:endParaRPr lang="en-US" sz="1400" dirty="0"/>
          </a:p>
        </p:txBody>
      </p:sp>
      <p:sp>
        <p:nvSpPr>
          <p:cNvPr id="38" name="Text 3">
            <a:extLst>
              <a:ext uri="{FF2B5EF4-FFF2-40B4-BE49-F238E27FC236}">
                <a16:creationId xmlns:a16="http://schemas.microsoft.com/office/drawing/2014/main" id="{048CBA2C-1F86-F0C4-4256-0BAC801D3A84}"/>
              </a:ext>
            </a:extLst>
          </p:cNvPr>
          <p:cNvSpPr/>
          <p:nvPr/>
        </p:nvSpPr>
        <p:spPr>
          <a:xfrm>
            <a:off x="950832" y="2829520"/>
            <a:ext cx="4354223" cy="762238"/>
          </a:xfrm>
          <a:prstGeom prst="rect">
            <a:avLst/>
          </a:prstGeom>
          <a:noFill/>
          <a:ln/>
        </p:spPr>
        <p:txBody>
          <a:bodyPr wrap="square" lIns="0" tIns="0" rIns="0" bIns="0" rtlCol="0" anchor="t"/>
          <a:lstStyle/>
          <a:p>
            <a:pPr marL="0" indent="0">
              <a:lnSpc>
                <a:spcPts val="2000"/>
              </a:lnSpc>
              <a:buNone/>
            </a:pPr>
            <a:r>
              <a:rPr lang="en-US" sz="1200" dirty="0">
                <a:solidFill>
                  <a:srgbClr val="272525"/>
                </a:solidFill>
                <a:latin typeface="Inter" pitchFamily="34" charset="0"/>
                <a:ea typeface="Inter" pitchFamily="34" charset="-122"/>
                <a:cs typeface="Arial" panose="020B0604020202020204" pitchFamily="34" charset="0"/>
              </a:rPr>
              <a:t>Approximately 100 epochs are scheduled, allowing the model sufficient time to converge. Batch size is set to 128 for a balance between gradient stability and memory usage.</a:t>
            </a:r>
            <a:endParaRPr lang="en-US" sz="1200" dirty="0"/>
          </a:p>
        </p:txBody>
      </p:sp>
      <p:pic>
        <p:nvPicPr>
          <p:cNvPr id="39" name="Image 1" descr="preencoded.png">
            <a:extLst>
              <a:ext uri="{FF2B5EF4-FFF2-40B4-BE49-F238E27FC236}">
                <a16:creationId xmlns:a16="http://schemas.microsoft.com/office/drawing/2014/main" id="{58E83F91-C107-A83C-27D6-AC19D0F7BB8D}"/>
              </a:ext>
            </a:extLst>
          </p:cNvPr>
          <p:cNvPicPr>
            <a:picLocks noChangeAspect="1"/>
          </p:cNvPicPr>
          <p:nvPr/>
        </p:nvPicPr>
        <p:blipFill>
          <a:blip r:embed="rId6"/>
          <a:stretch>
            <a:fillRect/>
          </a:stretch>
        </p:blipFill>
        <p:spPr>
          <a:xfrm>
            <a:off x="6976229" y="2392085"/>
            <a:ext cx="296532" cy="396835"/>
          </a:xfrm>
          <a:prstGeom prst="rect">
            <a:avLst/>
          </a:prstGeom>
        </p:spPr>
      </p:pic>
      <p:sp>
        <p:nvSpPr>
          <p:cNvPr id="40" name="Text 4">
            <a:extLst>
              <a:ext uri="{FF2B5EF4-FFF2-40B4-BE49-F238E27FC236}">
                <a16:creationId xmlns:a16="http://schemas.microsoft.com/office/drawing/2014/main" id="{280ED054-81D8-207B-6847-70C8297E53C5}"/>
              </a:ext>
            </a:extLst>
          </p:cNvPr>
          <p:cNvSpPr/>
          <p:nvPr/>
        </p:nvSpPr>
        <p:spPr>
          <a:xfrm>
            <a:off x="7571423" y="2486263"/>
            <a:ext cx="1483021" cy="248007"/>
          </a:xfrm>
          <a:prstGeom prst="rect">
            <a:avLst/>
          </a:prstGeom>
          <a:noFill/>
          <a:ln/>
        </p:spPr>
        <p:txBody>
          <a:bodyPr wrap="none" lIns="0" tIns="0" rIns="0" bIns="0" rtlCol="0" anchor="t"/>
          <a:lstStyle/>
          <a:p>
            <a:pPr marL="0" indent="0" algn="l">
              <a:lnSpc>
                <a:spcPts val="1950"/>
              </a:lnSpc>
              <a:buNone/>
            </a:pPr>
            <a:r>
              <a:rPr lang="en-US" sz="1400" b="1" dirty="0">
                <a:solidFill>
                  <a:srgbClr val="272525"/>
                </a:solidFill>
                <a:latin typeface="Inter Bold" pitchFamily="34" charset="0"/>
                <a:ea typeface="Inter Bold" pitchFamily="34" charset="-122"/>
                <a:cs typeface="Inter Bold" pitchFamily="34" charset="-120"/>
              </a:rPr>
              <a:t>Optimizer Choice</a:t>
            </a:r>
            <a:endParaRPr lang="en-US" sz="1400" dirty="0"/>
          </a:p>
        </p:txBody>
      </p:sp>
      <p:sp>
        <p:nvSpPr>
          <p:cNvPr id="41" name="Text 5">
            <a:extLst>
              <a:ext uri="{FF2B5EF4-FFF2-40B4-BE49-F238E27FC236}">
                <a16:creationId xmlns:a16="http://schemas.microsoft.com/office/drawing/2014/main" id="{B0ED1899-D5A6-6F98-702D-748426F3C657}"/>
              </a:ext>
            </a:extLst>
          </p:cNvPr>
          <p:cNvSpPr/>
          <p:nvPr/>
        </p:nvSpPr>
        <p:spPr>
          <a:xfrm>
            <a:off x="7571422" y="2829520"/>
            <a:ext cx="4354223" cy="762238"/>
          </a:xfrm>
          <a:prstGeom prst="rect">
            <a:avLst/>
          </a:prstGeom>
          <a:noFill/>
          <a:ln/>
        </p:spPr>
        <p:txBody>
          <a:bodyPr wrap="square" lIns="0" tIns="0" rIns="0" bIns="0" rtlCol="0" anchor="t"/>
          <a:lstStyle/>
          <a:p>
            <a:pPr marL="0" indent="0" algn="l">
              <a:lnSpc>
                <a:spcPts val="2000"/>
              </a:lnSpc>
              <a:buNone/>
            </a:pPr>
            <a:r>
              <a:rPr lang="en-US" sz="1200" dirty="0">
                <a:solidFill>
                  <a:srgbClr val="272525"/>
                </a:solidFill>
                <a:latin typeface="Inter" pitchFamily="34" charset="0"/>
                <a:ea typeface="Inter" pitchFamily="34" charset="-122"/>
                <a:cs typeface="Arial" panose="020B0604020202020204" pitchFamily="34" charset="0"/>
              </a:rPr>
              <a:t>Adam or SGD with Nesterov momentum is selected. SGD-momentum often yields better final generalization for image tasks, but Adam provides faster initial convergence.</a:t>
            </a:r>
            <a:endParaRPr lang="en-US" sz="1200" dirty="0"/>
          </a:p>
        </p:txBody>
      </p:sp>
      <p:pic>
        <p:nvPicPr>
          <p:cNvPr id="42" name="Image 2" descr="preencoded.png">
            <a:extLst>
              <a:ext uri="{FF2B5EF4-FFF2-40B4-BE49-F238E27FC236}">
                <a16:creationId xmlns:a16="http://schemas.microsoft.com/office/drawing/2014/main" id="{0D737310-A501-9C31-BABF-9DC6AE858F74}"/>
              </a:ext>
            </a:extLst>
          </p:cNvPr>
          <p:cNvPicPr>
            <a:picLocks noChangeAspect="1"/>
          </p:cNvPicPr>
          <p:nvPr/>
        </p:nvPicPr>
        <p:blipFill>
          <a:blip r:embed="rId7"/>
          <a:stretch>
            <a:fillRect/>
          </a:stretch>
        </p:blipFill>
        <p:spPr>
          <a:xfrm>
            <a:off x="355640" y="3909298"/>
            <a:ext cx="296532" cy="396835"/>
          </a:xfrm>
          <a:prstGeom prst="rect">
            <a:avLst/>
          </a:prstGeom>
        </p:spPr>
      </p:pic>
      <p:sp>
        <p:nvSpPr>
          <p:cNvPr id="43" name="Text 6">
            <a:extLst>
              <a:ext uri="{FF2B5EF4-FFF2-40B4-BE49-F238E27FC236}">
                <a16:creationId xmlns:a16="http://schemas.microsoft.com/office/drawing/2014/main" id="{13B0BE89-DF65-1B4D-8918-8DCD34E45AAC}"/>
              </a:ext>
            </a:extLst>
          </p:cNvPr>
          <p:cNvSpPr/>
          <p:nvPr/>
        </p:nvSpPr>
        <p:spPr>
          <a:xfrm>
            <a:off x="950834" y="4003477"/>
            <a:ext cx="1712472" cy="248007"/>
          </a:xfrm>
          <a:prstGeom prst="rect">
            <a:avLst/>
          </a:prstGeom>
          <a:noFill/>
          <a:ln/>
        </p:spPr>
        <p:txBody>
          <a:bodyPr wrap="none" lIns="0" tIns="0" rIns="0" bIns="0" rtlCol="0" anchor="t"/>
          <a:lstStyle/>
          <a:p>
            <a:pPr marL="0" indent="0" algn="l">
              <a:lnSpc>
                <a:spcPts val="1950"/>
              </a:lnSpc>
              <a:buNone/>
            </a:pPr>
            <a:r>
              <a:rPr lang="en-US" sz="1400" b="1" dirty="0">
                <a:solidFill>
                  <a:srgbClr val="272525"/>
                </a:solidFill>
                <a:latin typeface="Inter Bold" pitchFamily="34" charset="0"/>
                <a:ea typeface="Inter Bold" pitchFamily="34" charset="-122"/>
                <a:cs typeface="Inter Bold" pitchFamily="34" charset="-120"/>
              </a:rPr>
              <a:t>Learning Rate Schedule</a:t>
            </a:r>
            <a:endParaRPr lang="en-US" sz="1400" dirty="0"/>
          </a:p>
        </p:txBody>
      </p:sp>
      <p:sp>
        <p:nvSpPr>
          <p:cNvPr id="44" name="Text 7">
            <a:extLst>
              <a:ext uri="{FF2B5EF4-FFF2-40B4-BE49-F238E27FC236}">
                <a16:creationId xmlns:a16="http://schemas.microsoft.com/office/drawing/2014/main" id="{4C7949E7-6B49-D019-3FA7-8AC0BB020F8C}"/>
              </a:ext>
            </a:extLst>
          </p:cNvPr>
          <p:cNvSpPr/>
          <p:nvPr/>
        </p:nvSpPr>
        <p:spPr>
          <a:xfrm>
            <a:off x="950832" y="4346734"/>
            <a:ext cx="4354223" cy="508159"/>
          </a:xfrm>
          <a:prstGeom prst="rect">
            <a:avLst/>
          </a:prstGeom>
          <a:noFill/>
          <a:ln/>
        </p:spPr>
        <p:txBody>
          <a:bodyPr wrap="square" lIns="0" tIns="0" rIns="0" bIns="0" rtlCol="0" anchor="t"/>
          <a:lstStyle/>
          <a:p>
            <a:pPr marL="0" indent="0" algn="l">
              <a:lnSpc>
                <a:spcPts val="2000"/>
              </a:lnSpc>
              <a:buNone/>
            </a:pPr>
            <a:r>
              <a:rPr lang="en-US" sz="1200" dirty="0">
                <a:solidFill>
                  <a:srgbClr val="272525"/>
                </a:solidFill>
                <a:latin typeface="Inter" pitchFamily="34" charset="0"/>
                <a:ea typeface="Inter" pitchFamily="34" charset="-122"/>
                <a:cs typeface="Arial" panose="020B0604020202020204" pitchFamily="34" charset="0"/>
              </a:rPr>
              <a:t>A Cosine Decay schedule is used to smoothly reduce the Learning Rate (LR) throughout training, ensuring stable fine-tuning in later epochs.</a:t>
            </a:r>
            <a:endParaRPr lang="en-US" sz="1200" dirty="0"/>
          </a:p>
        </p:txBody>
      </p:sp>
      <p:pic>
        <p:nvPicPr>
          <p:cNvPr id="45" name="Image 3" descr="preencoded.png">
            <a:extLst>
              <a:ext uri="{FF2B5EF4-FFF2-40B4-BE49-F238E27FC236}">
                <a16:creationId xmlns:a16="http://schemas.microsoft.com/office/drawing/2014/main" id="{B5E4AEB0-F6DE-68FE-B873-CA150C7A31CF}"/>
              </a:ext>
            </a:extLst>
          </p:cNvPr>
          <p:cNvPicPr>
            <a:picLocks noChangeAspect="1"/>
          </p:cNvPicPr>
          <p:nvPr/>
        </p:nvPicPr>
        <p:blipFill>
          <a:blip r:embed="rId8"/>
          <a:stretch>
            <a:fillRect/>
          </a:stretch>
        </p:blipFill>
        <p:spPr>
          <a:xfrm>
            <a:off x="6976229" y="3909298"/>
            <a:ext cx="296532" cy="396835"/>
          </a:xfrm>
          <a:prstGeom prst="rect">
            <a:avLst/>
          </a:prstGeom>
        </p:spPr>
      </p:pic>
      <p:sp>
        <p:nvSpPr>
          <p:cNvPr id="46" name="Text 8">
            <a:extLst>
              <a:ext uri="{FF2B5EF4-FFF2-40B4-BE49-F238E27FC236}">
                <a16:creationId xmlns:a16="http://schemas.microsoft.com/office/drawing/2014/main" id="{61AC74BF-4D4C-C76D-E00F-D28A14D5222B}"/>
              </a:ext>
            </a:extLst>
          </p:cNvPr>
          <p:cNvSpPr/>
          <p:nvPr/>
        </p:nvSpPr>
        <p:spPr>
          <a:xfrm>
            <a:off x="7571423" y="4003477"/>
            <a:ext cx="1572613" cy="248007"/>
          </a:xfrm>
          <a:prstGeom prst="rect">
            <a:avLst/>
          </a:prstGeom>
          <a:noFill/>
          <a:ln/>
        </p:spPr>
        <p:txBody>
          <a:bodyPr wrap="none" lIns="0" tIns="0" rIns="0" bIns="0" rtlCol="0" anchor="t"/>
          <a:lstStyle/>
          <a:p>
            <a:pPr marL="0" indent="0" algn="l">
              <a:lnSpc>
                <a:spcPts val="1950"/>
              </a:lnSpc>
              <a:buNone/>
            </a:pPr>
            <a:r>
              <a:rPr lang="en-US" sz="1400" b="1" dirty="0">
                <a:solidFill>
                  <a:srgbClr val="272525"/>
                </a:solidFill>
                <a:latin typeface="Inter Bold" pitchFamily="34" charset="0"/>
                <a:ea typeface="Inter Bold" pitchFamily="34" charset="-122"/>
                <a:cs typeface="Inter Bold" pitchFamily="34" charset="-120"/>
              </a:rPr>
              <a:t>Regularization Values</a:t>
            </a:r>
            <a:endParaRPr lang="en-US" sz="1400" dirty="0"/>
          </a:p>
        </p:txBody>
      </p:sp>
      <p:sp>
        <p:nvSpPr>
          <p:cNvPr id="47" name="Text 9">
            <a:extLst>
              <a:ext uri="{FF2B5EF4-FFF2-40B4-BE49-F238E27FC236}">
                <a16:creationId xmlns:a16="http://schemas.microsoft.com/office/drawing/2014/main" id="{16A6BD97-65E8-3530-EF31-B3563CCCBCAF}"/>
              </a:ext>
            </a:extLst>
          </p:cNvPr>
          <p:cNvSpPr/>
          <p:nvPr/>
        </p:nvSpPr>
        <p:spPr>
          <a:xfrm>
            <a:off x="7571422" y="4346734"/>
            <a:ext cx="4354223" cy="508159"/>
          </a:xfrm>
          <a:prstGeom prst="rect">
            <a:avLst/>
          </a:prstGeom>
          <a:noFill/>
          <a:ln/>
        </p:spPr>
        <p:txBody>
          <a:bodyPr wrap="square" lIns="0" tIns="0" rIns="0" bIns="0" rtlCol="0" anchor="t"/>
          <a:lstStyle/>
          <a:p>
            <a:pPr marL="0" indent="0" algn="l">
              <a:lnSpc>
                <a:spcPts val="2000"/>
              </a:lnSpc>
              <a:buNone/>
            </a:pPr>
            <a:r>
              <a:rPr lang="en-US" sz="1200" dirty="0">
                <a:solidFill>
                  <a:srgbClr val="272525"/>
                </a:solidFill>
                <a:latin typeface="Inter" pitchFamily="34" charset="0"/>
                <a:ea typeface="Inter" pitchFamily="34" charset="-122"/>
                <a:cs typeface="Arial" panose="020B0604020202020204" pitchFamily="34" charset="0"/>
              </a:rPr>
              <a:t>Weight Decay (L2 penalty) is set at </a:t>
            </a:r>
            <a:r>
              <a:rPr lang="en-US" sz="1200" dirty="0">
                <a:solidFill>
                  <a:srgbClr val="272525"/>
                </a:solidFill>
                <a:highlight>
                  <a:srgbClr val="F2F2F2"/>
                </a:highlight>
                <a:latin typeface="Consolas" pitchFamily="34" charset="0"/>
                <a:ea typeface="Consolas" pitchFamily="34" charset="-122"/>
                <a:cs typeface="Arial" panose="020B0604020202020204" pitchFamily="34" charset="0"/>
              </a:rPr>
              <a:t>5e-4</a:t>
            </a:r>
            <a:r>
              <a:rPr lang="en-US" sz="1200" dirty="0">
                <a:solidFill>
                  <a:srgbClr val="272525"/>
                </a:solidFill>
                <a:latin typeface="Inter" pitchFamily="34" charset="0"/>
                <a:ea typeface="Inter" pitchFamily="34" charset="-122"/>
                <a:cs typeface="Arial" panose="020B0604020202020204" pitchFamily="34" charset="0"/>
              </a:rPr>
              <a:t> to prevent large weights. Dropout rate is </a:t>
            </a:r>
            <a:r>
              <a:rPr lang="en-US" sz="1200" dirty="0">
                <a:solidFill>
                  <a:srgbClr val="272525"/>
                </a:solidFill>
                <a:highlight>
                  <a:srgbClr val="F2F2F2"/>
                </a:highlight>
                <a:latin typeface="Consolas" pitchFamily="34" charset="0"/>
                <a:ea typeface="Consolas" pitchFamily="34" charset="-122"/>
                <a:cs typeface="Arial" panose="020B0604020202020204" pitchFamily="34" charset="0"/>
              </a:rPr>
              <a:t>0.3</a:t>
            </a:r>
            <a:r>
              <a:rPr lang="en-US" sz="1200" dirty="0">
                <a:solidFill>
                  <a:srgbClr val="272525"/>
                </a:solidFill>
                <a:latin typeface="Inter" pitchFamily="34" charset="0"/>
                <a:ea typeface="Inter" pitchFamily="34" charset="-122"/>
                <a:cs typeface="Arial" panose="020B0604020202020204" pitchFamily="34" charset="0"/>
              </a:rPr>
              <a:t>, primarily applied to the pre-Softmax fully connected layers.</a:t>
            </a:r>
            <a:endParaRPr lang="en-US" sz="1200" dirty="0"/>
          </a:p>
        </p:txBody>
      </p:sp>
      <p:pic>
        <p:nvPicPr>
          <p:cNvPr id="9" name="Audio 8">
            <a:extLst>
              <a:ext uri="{FF2B5EF4-FFF2-40B4-BE49-F238E27FC236}">
                <a16:creationId xmlns:a16="http://schemas.microsoft.com/office/drawing/2014/main" id="{5282A05E-B3C6-6AC4-C48D-1EF69F1CC11B}"/>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989387997"/>
      </p:ext>
    </p:extLst>
  </p:cSld>
  <p:clrMapOvr>
    <a:masterClrMapping/>
  </p:clrMapOvr>
  <mc:AlternateContent xmlns:mc="http://schemas.openxmlformats.org/markup-compatibility/2006" xmlns:p14="http://schemas.microsoft.com/office/powerpoint/2010/main">
    <mc:Choice Requires="p14">
      <p:transition spd="slow" p14:dur="2000" advTm="49969"/>
    </mc:Choice>
    <mc:Fallback xmlns="">
      <p:transition spd="slow" advTm="4996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 0">
            <a:extLst>
              <a:ext uri="{FF2B5EF4-FFF2-40B4-BE49-F238E27FC236}">
                <a16:creationId xmlns:a16="http://schemas.microsoft.com/office/drawing/2014/main" id="{4FFB8968-E7F3-D4D2-F358-00968119F0CE}"/>
              </a:ext>
            </a:extLst>
          </p:cNvPr>
          <p:cNvSpPr/>
          <p:nvPr/>
        </p:nvSpPr>
        <p:spPr>
          <a:xfrm>
            <a:off x="576434" y="353734"/>
            <a:ext cx="8355806" cy="460772"/>
          </a:xfrm>
          <a:prstGeom prst="rect">
            <a:avLst/>
          </a:prstGeom>
          <a:noFill/>
          <a:ln/>
        </p:spPr>
        <p:txBody>
          <a:bodyPr wrap="none" lIns="0" tIns="0" rIns="0" bIns="0" rtlCol="0" anchor="t"/>
          <a:lstStyle/>
          <a:p>
            <a:pPr marL="0" indent="0" algn="l">
              <a:lnSpc>
                <a:spcPts val="3600"/>
              </a:lnSpc>
              <a:buNone/>
            </a:pPr>
            <a:r>
              <a:rPr lang="en-US" sz="2900" b="1" dirty="0">
                <a:solidFill>
                  <a:srgbClr val="000000"/>
                </a:solidFill>
                <a:latin typeface="Inter Bold" pitchFamily="34" charset="0"/>
                <a:ea typeface="Inter Bold" pitchFamily="34" charset="-122"/>
                <a:cs typeface="Inter Bold" pitchFamily="34" charset="-120"/>
              </a:rPr>
              <a:t>Rigorous Training Strategy and Quality Control</a:t>
            </a:r>
            <a:endParaRPr lang="en-US" sz="2900" dirty="0"/>
          </a:p>
        </p:txBody>
      </p:sp>
      <p:sp>
        <p:nvSpPr>
          <p:cNvPr id="28" name="Text 1">
            <a:extLst>
              <a:ext uri="{FF2B5EF4-FFF2-40B4-BE49-F238E27FC236}">
                <a16:creationId xmlns:a16="http://schemas.microsoft.com/office/drawing/2014/main" id="{A3AA733F-0E2C-9D14-3975-0BB26ABCBC8B}"/>
              </a:ext>
            </a:extLst>
          </p:cNvPr>
          <p:cNvSpPr/>
          <p:nvPr/>
        </p:nvSpPr>
        <p:spPr>
          <a:xfrm>
            <a:off x="584239" y="1118592"/>
            <a:ext cx="9708356" cy="235744"/>
          </a:xfrm>
          <a:prstGeom prst="rect">
            <a:avLst/>
          </a:prstGeom>
          <a:noFill/>
          <a:ln/>
        </p:spPr>
        <p:txBody>
          <a:bodyPr wrap="none" lIns="0" tIns="0" rIns="0" bIns="0" rtlCol="0" anchor="t"/>
          <a:lstStyle/>
          <a:p>
            <a:pPr marL="0" indent="0" algn="l">
              <a:lnSpc>
                <a:spcPts val="1850"/>
              </a:lnSpc>
              <a:buNone/>
            </a:pPr>
            <a:r>
              <a:rPr lang="en-US" sz="1200" dirty="0">
                <a:solidFill>
                  <a:srgbClr val="272525"/>
                </a:solidFill>
                <a:latin typeface="Inter" pitchFamily="34" charset="0"/>
                <a:ea typeface="Inter" pitchFamily="34" charset="-122"/>
                <a:cs typeface="Inter" pitchFamily="34" charset="-120"/>
              </a:rPr>
              <a:t>Controlling the experimental environment and utilizing robust techniques ensures reproducibility and early detection of potential issues.</a:t>
            </a:r>
            <a:endParaRPr lang="en-US" sz="1200" dirty="0"/>
          </a:p>
        </p:txBody>
      </p:sp>
      <p:sp>
        <p:nvSpPr>
          <p:cNvPr id="29" name="Shape 2">
            <a:extLst>
              <a:ext uri="{FF2B5EF4-FFF2-40B4-BE49-F238E27FC236}">
                <a16:creationId xmlns:a16="http://schemas.microsoft.com/office/drawing/2014/main" id="{7D90CC05-4BAA-B415-D5CD-E7A82FBEA745}"/>
              </a:ext>
            </a:extLst>
          </p:cNvPr>
          <p:cNvSpPr/>
          <p:nvPr/>
        </p:nvSpPr>
        <p:spPr>
          <a:xfrm>
            <a:off x="584241" y="1511737"/>
            <a:ext cx="4907992" cy="1793438"/>
          </a:xfrm>
          <a:prstGeom prst="roundRect">
            <a:avLst>
              <a:gd name="adj" fmla="val 3453"/>
            </a:avLst>
          </a:prstGeom>
          <a:solidFill>
            <a:srgbClr val="FFFFFF"/>
          </a:solidFill>
          <a:ln w="15240">
            <a:solidFill>
              <a:srgbClr val="C0C1D7"/>
            </a:solidFill>
            <a:prstDash val="solid"/>
          </a:ln>
        </p:spPr>
        <p:txBody>
          <a:bodyPr/>
          <a:lstStyle/>
          <a:p>
            <a:endParaRPr lang="en-US" dirty="0"/>
          </a:p>
        </p:txBody>
      </p:sp>
      <p:sp>
        <p:nvSpPr>
          <p:cNvPr id="30" name="Shape 3">
            <a:extLst>
              <a:ext uri="{FF2B5EF4-FFF2-40B4-BE49-F238E27FC236}">
                <a16:creationId xmlns:a16="http://schemas.microsoft.com/office/drawing/2014/main" id="{C4A3F3FA-DC37-A33A-BFEF-A4E19A23176F}"/>
              </a:ext>
            </a:extLst>
          </p:cNvPr>
          <p:cNvSpPr/>
          <p:nvPr/>
        </p:nvSpPr>
        <p:spPr>
          <a:xfrm>
            <a:off x="584239" y="1517808"/>
            <a:ext cx="4907993" cy="442198"/>
          </a:xfrm>
          <a:prstGeom prst="roundRect">
            <a:avLst>
              <a:gd name="adj" fmla="val 9868"/>
            </a:avLst>
          </a:prstGeom>
          <a:solidFill>
            <a:srgbClr val="DADBF1"/>
          </a:solidFill>
          <a:ln/>
        </p:spPr>
        <p:txBody>
          <a:bodyPr/>
          <a:lstStyle/>
          <a:p>
            <a:endParaRPr lang="en-US" dirty="0"/>
          </a:p>
        </p:txBody>
      </p:sp>
      <p:pic>
        <p:nvPicPr>
          <p:cNvPr id="31" name="Image 0" descr="preencoded.png">
            <a:extLst>
              <a:ext uri="{FF2B5EF4-FFF2-40B4-BE49-F238E27FC236}">
                <a16:creationId xmlns:a16="http://schemas.microsoft.com/office/drawing/2014/main" id="{9FC66ED7-C733-4439-E220-0D549D6BFF4C}"/>
              </a:ext>
            </a:extLst>
          </p:cNvPr>
          <p:cNvPicPr>
            <a:picLocks noChangeAspect="1"/>
          </p:cNvPicPr>
          <p:nvPr/>
        </p:nvPicPr>
        <p:blipFill>
          <a:blip r:embed="rId4"/>
          <a:stretch>
            <a:fillRect/>
          </a:stretch>
        </p:blipFill>
        <p:spPr>
          <a:xfrm>
            <a:off x="3392686" y="1606034"/>
            <a:ext cx="221099" cy="276344"/>
          </a:xfrm>
          <a:prstGeom prst="rect">
            <a:avLst/>
          </a:prstGeom>
        </p:spPr>
      </p:pic>
      <p:sp>
        <p:nvSpPr>
          <p:cNvPr id="32" name="Text 4">
            <a:extLst>
              <a:ext uri="{FF2B5EF4-FFF2-40B4-BE49-F238E27FC236}">
                <a16:creationId xmlns:a16="http://schemas.microsoft.com/office/drawing/2014/main" id="{8DD1B37D-A243-5D3E-37DE-4693E13C64E9}"/>
              </a:ext>
            </a:extLst>
          </p:cNvPr>
          <p:cNvSpPr/>
          <p:nvPr/>
        </p:nvSpPr>
        <p:spPr>
          <a:xfrm>
            <a:off x="746879" y="2116574"/>
            <a:ext cx="1842968" cy="230386"/>
          </a:xfrm>
          <a:prstGeom prst="rect">
            <a:avLst/>
          </a:prstGeom>
          <a:noFill/>
          <a:ln/>
        </p:spPr>
        <p:txBody>
          <a:bodyPr wrap="none" lIns="0" tIns="0" rIns="0" bIns="0" rtlCol="0" anchor="t"/>
          <a:lstStyle/>
          <a:p>
            <a:pPr marL="0" indent="0" algn="l">
              <a:lnSpc>
                <a:spcPts val="1800"/>
              </a:lnSpc>
              <a:buNone/>
            </a:pPr>
            <a:r>
              <a:rPr lang="en-US" sz="1400" b="1" dirty="0">
                <a:solidFill>
                  <a:srgbClr val="272525"/>
                </a:solidFill>
                <a:latin typeface="Inter Bold" pitchFamily="34" charset="0"/>
                <a:ea typeface="Inter Bold" pitchFamily="34" charset="-122"/>
                <a:cs typeface="Inter Bold" pitchFamily="34" charset="-120"/>
              </a:rPr>
              <a:t>Seed Control</a:t>
            </a:r>
            <a:endParaRPr lang="en-US" sz="1400" dirty="0"/>
          </a:p>
        </p:txBody>
      </p:sp>
      <p:sp>
        <p:nvSpPr>
          <p:cNvPr id="33" name="Text 5">
            <a:extLst>
              <a:ext uri="{FF2B5EF4-FFF2-40B4-BE49-F238E27FC236}">
                <a16:creationId xmlns:a16="http://schemas.microsoft.com/office/drawing/2014/main" id="{81F21A7E-D3A2-EF84-6446-8854756EC5DD}"/>
              </a:ext>
            </a:extLst>
          </p:cNvPr>
          <p:cNvSpPr/>
          <p:nvPr/>
        </p:nvSpPr>
        <p:spPr>
          <a:xfrm>
            <a:off x="746879" y="2435304"/>
            <a:ext cx="4539496" cy="471488"/>
          </a:xfrm>
          <a:prstGeom prst="rect">
            <a:avLst/>
          </a:prstGeom>
          <a:noFill/>
          <a:ln/>
        </p:spPr>
        <p:txBody>
          <a:bodyPr wrap="square" lIns="0" tIns="0" rIns="0" bIns="0" rtlCol="0" anchor="t"/>
          <a:lstStyle/>
          <a:p>
            <a:pPr marL="0" indent="0">
              <a:lnSpc>
                <a:spcPts val="1850"/>
              </a:lnSpc>
              <a:buNone/>
            </a:pPr>
            <a:r>
              <a:rPr lang="en-US" sz="1200" dirty="0">
                <a:solidFill>
                  <a:srgbClr val="272525"/>
                </a:solidFill>
                <a:latin typeface="Inter" pitchFamily="34" charset="0"/>
                <a:ea typeface="Inter" pitchFamily="34" charset="-122"/>
                <a:cs typeface="Arial" panose="020B0604020202020204" pitchFamily="34" charset="0"/>
              </a:rPr>
              <a:t>All random number generators (PyTorch, NumPy, CUDA) are seeded to ensure identical initial weights and data order, guaranteeing experimental reproducibility.</a:t>
            </a:r>
            <a:endParaRPr lang="en-US" sz="1200" dirty="0"/>
          </a:p>
        </p:txBody>
      </p:sp>
      <p:sp>
        <p:nvSpPr>
          <p:cNvPr id="34" name="Shape 6">
            <a:extLst>
              <a:ext uri="{FF2B5EF4-FFF2-40B4-BE49-F238E27FC236}">
                <a16:creationId xmlns:a16="http://schemas.microsoft.com/office/drawing/2014/main" id="{C47E7924-199C-E5B3-619D-BB61A0C23A86}"/>
              </a:ext>
            </a:extLst>
          </p:cNvPr>
          <p:cNvSpPr/>
          <p:nvPr/>
        </p:nvSpPr>
        <p:spPr>
          <a:xfrm>
            <a:off x="6096001" y="1511737"/>
            <a:ext cx="4907992" cy="1793438"/>
          </a:xfrm>
          <a:prstGeom prst="roundRect">
            <a:avLst>
              <a:gd name="adj" fmla="val 3453"/>
            </a:avLst>
          </a:prstGeom>
          <a:solidFill>
            <a:srgbClr val="FFFFFF"/>
          </a:solidFill>
          <a:ln w="15240">
            <a:solidFill>
              <a:srgbClr val="C0C1D7"/>
            </a:solidFill>
            <a:prstDash val="solid"/>
          </a:ln>
        </p:spPr>
        <p:txBody>
          <a:bodyPr/>
          <a:lstStyle/>
          <a:p>
            <a:endParaRPr lang="en-US" dirty="0"/>
          </a:p>
        </p:txBody>
      </p:sp>
      <p:sp>
        <p:nvSpPr>
          <p:cNvPr id="35" name="Shape 7">
            <a:extLst>
              <a:ext uri="{FF2B5EF4-FFF2-40B4-BE49-F238E27FC236}">
                <a16:creationId xmlns:a16="http://schemas.microsoft.com/office/drawing/2014/main" id="{E20E99E3-B912-71CF-6E8E-2ECC0F681174}"/>
              </a:ext>
            </a:extLst>
          </p:cNvPr>
          <p:cNvSpPr/>
          <p:nvPr/>
        </p:nvSpPr>
        <p:spPr>
          <a:xfrm>
            <a:off x="6111241" y="1526977"/>
            <a:ext cx="4907992" cy="442198"/>
          </a:xfrm>
          <a:prstGeom prst="roundRect">
            <a:avLst>
              <a:gd name="adj" fmla="val 9868"/>
            </a:avLst>
          </a:prstGeom>
          <a:solidFill>
            <a:srgbClr val="DADBF1"/>
          </a:solidFill>
          <a:ln/>
        </p:spPr>
        <p:txBody>
          <a:bodyPr/>
          <a:lstStyle/>
          <a:p>
            <a:endParaRPr lang="en-US" dirty="0"/>
          </a:p>
        </p:txBody>
      </p:sp>
      <p:pic>
        <p:nvPicPr>
          <p:cNvPr id="36" name="Image 1" descr="preencoded.png">
            <a:extLst>
              <a:ext uri="{FF2B5EF4-FFF2-40B4-BE49-F238E27FC236}">
                <a16:creationId xmlns:a16="http://schemas.microsoft.com/office/drawing/2014/main" id="{DFAA2678-F1D7-D52D-0B97-7258DC902E41}"/>
              </a:ext>
            </a:extLst>
          </p:cNvPr>
          <p:cNvPicPr>
            <a:picLocks noChangeAspect="1"/>
          </p:cNvPicPr>
          <p:nvPr/>
        </p:nvPicPr>
        <p:blipFill>
          <a:blip r:embed="rId5"/>
          <a:stretch>
            <a:fillRect/>
          </a:stretch>
        </p:blipFill>
        <p:spPr>
          <a:xfrm>
            <a:off x="9987796" y="1606034"/>
            <a:ext cx="221099" cy="276344"/>
          </a:xfrm>
          <a:prstGeom prst="rect">
            <a:avLst/>
          </a:prstGeom>
        </p:spPr>
      </p:pic>
      <p:sp>
        <p:nvSpPr>
          <p:cNvPr id="37" name="Text 8">
            <a:extLst>
              <a:ext uri="{FF2B5EF4-FFF2-40B4-BE49-F238E27FC236}">
                <a16:creationId xmlns:a16="http://schemas.microsoft.com/office/drawing/2014/main" id="{9F5A5D37-39B2-8CAE-9CB9-4100E13CBC99}"/>
              </a:ext>
            </a:extLst>
          </p:cNvPr>
          <p:cNvSpPr/>
          <p:nvPr/>
        </p:nvSpPr>
        <p:spPr>
          <a:xfrm>
            <a:off x="6340673" y="2116574"/>
            <a:ext cx="2294573" cy="230386"/>
          </a:xfrm>
          <a:prstGeom prst="rect">
            <a:avLst/>
          </a:prstGeom>
          <a:noFill/>
          <a:ln/>
        </p:spPr>
        <p:txBody>
          <a:bodyPr wrap="none" lIns="0" tIns="0" rIns="0" bIns="0" rtlCol="0" anchor="t"/>
          <a:lstStyle/>
          <a:p>
            <a:pPr marL="0" indent="0" algn="l">
              <a:lnSpc>
                <a:spcPts val="1800"/>
              </a:lnSpc>
              <a:buNone/>
            </a:pPr>
            <a:r>
              <a:rPr lang="en-US" sz="1400" b="1" dirty="0">
                <a:solidFill>
                  <a:srgbClr val="272525"/>
                </a:solidFill>
                <a:latin typeface="Inter Bold" pitchFamily="34" charset="0"/>
                <a:ea typeface="Inter Bold" pitchFamily="34" charset="-122"/>
                <a:cs typeface="Inter Bold" pitchFamily="34" charset="-120"/>
              </a:rPr>
              <a:t>Logging and Checkpoints</a:t>
            </a:r>
            <a:endParaRPr lang="en-US" sz="1400" dirty="0"/>
          </a:p>
        </p:txBody>
      </p:sp>
      <p:sp>
        <p:nvSpPr>
          <p:cNvPr id="38" name="Text 9">
            <a:extLst>
              <a:ext uri="{FF2B5EF4-FFF2-40B4-BE49-F238E27FC236}">
                <a16:creationId xmlns:a16="http://schemas.microsoft.com/office/drawing/2014/main" id="{0B65F2AB-6F77-4239-CA23-901DCD28D7D6}"/>
              </a:ext>
            </a:extLst>
          </p:cNvPr>
          <p:cNvSpPr/>
          <p:nvPr/>
        </p:nvSpPr>
        <p:spPr>
          <a:xfrm>
            <a:off x="6340673" y="2426018"/>
            <a:ext cx="4498777" cy="707231"/>
          </a:xfrm>
          <a:prstGeom prst="rect">
            <a:avLst/>
          </a:prstGeom>
          <a:noFill/>
          <a:ln/>
        </p:spPr>
        <p:txBody>
          <a:bodyPr wrap="square" lIns="0" tIns="0" rIns="0" bIns="0" rtlCol="0" anchor="t"/>
          <a:lstStyle/>
          <a:p>
            <a:pPr marL="0" indent="0">
              <a:lnSpc>
                <a:spcPts val="1850"/>
              </a:lnSpc>
              <a:buNone/>
            </a:pPr>
            <a:r>
              <a:rPr lang="en-US" sz="1200" dirty="0">
                <a:solidFill>
                  <a:srgbClr val="272525"/>
                </a:solidFill>
                <a:latin typeface="Inter" pitchFamily="34" charset="0"/>
                <a:ea typeface="Inter" pitchFamily="34" charset="-122"/>
                <a:cs typeface="Arial" panose="020B0604020202020204" pitchFamily="34" charset="0"/>
              </a:rPr>
              <a:t>Metrics (loss, accuracy) are logged after every batch/epoch. Checkpoints are saved periodically, or when validation loss reaches a new minimum, allowing recovery of the best model state.</a:t>
            </a:r>
            <a:endParaRPr lang="en-US" sz="1200" dirty="0"/>
          </a:p>
        </p:txBody>
      </p:sp>
      <p:sp>
        <p:nvSpPr>
          <p:cNvPr id="39" name="Shape 10">
            <a:extLst>
              <a:ext uri="{FF2B5EF4-FFF2-40B4-BE49-F238E27FC236}">
                <a16:creationId xmlns:a16="http://schemas.microsoft.com/office/drawing/2014/main" id="{773A61FD-844C-0C31-0B8E-F0417DE154AE}"/>
              </a:ext>
            </a:extLst>
          </p:cNvPr>
          <p:cNvSpPr/>
          <p:nvPr/>
        </p:nvSpPr>
        <p:spPr>
          <a:xfrm>
            <a:off x="584240" y="3452574"/>
            <a:ext cx="4907992" cy="1793438"/>
          </a:xfrm>
          <a:prstGeom prst="roundRect">
            <a:avLst>
              <a:gd name="adj" fmla="val 3453"/>
            </a:avLst>
          </a:prstGeom>
          <a:solidFill>
            <a:srgbClr val="FFFFFF"/>
          </a:solidFill>
          <a:ln w="15240">
            <a:solidFill>
              <a:srgbClr val="C0C1D7"/>
            </a:solidFill>
            <a:prstDash val="solid"/>
          </a:ln>
        </p:spPr>
        <p:txBody>
          <a:bodyPr/>
          <a:lstStyle/>
          <a:p>
            <a:endParaRPr lang="en-US" dirty="0"/>
          </a:p>
        </p:txBody>
      </p:sp>
      <p:sp>
        <p:nvSpPr>
          <p:cNvPr id="40" name="Shape 11">
            <a:extLst>
              <a:ext uri="{FF2B5EF4-FFF2-40B4-BE49-F238E27FC236}">
                <a16:creationId xmlns:a16="http://schemas.microsoft.com/office/drawing/2014/main" id="{3F27C70D-3988-6F7A-0B2D-D315067ECC4C}"/>
              </a:ext>
            </a:extLst>
          </p:cNvPr>
          <p:cNvSpPr/>
          <p:nvPr/>
        </p:nvSpPr>
        <p:spPr>
          <a:xfrm>
            <a:off x="576434" y="3467814"/>
            <a:ext cx="4907992" cy="442198"/>
          </a:xfrm>
          <a:prstGeom prst="roundRect">
            <a:avLst>
              <a:gd name="adj" fmla="val 9868"/>
            </a:avLst>
          </a:prstGeom>
          <a:solidFill>
            <a:srgbClr val="DADBF1"/>
          </a:solidFill>
          <a:ln/>
        </p:spPr>
        <p:txBody>
          <a:bodyPr/>
          <a:lstStyle/>
          <a:p>
            <a:endParaRPr lang="en-US" dirty="0"/>
          </a:p>
        </p:txBody>
      </p:sp>
      <p:pic>
        <p:nvPicPr>
          <p:cNvPr id="41" name="Image 2" descr="preencoded.png">
            <a:extLst>
              <a:ext uri="{FF2B5EF4-FFF2-40B4-BE49-F238E27FC236}">
                <a16:creationId xmlns:a16="http://schemas.microsoft.com/office/drawing/2014/main" id="{6EBCA2C6-531C-78CA-0DE9-1F33982F06C3}"/>
              </a:ext>
            </a:extLst>
          </p:cNvPr>
          <p:cNvPicPr>
            <a:picLocks noChangeAspect="1"/>
          </p:cNvPicPr>
          <p:nvPr/>
        </p:nvPicPr>
        <p:blipFill>
          <a:blip r:embed="rId6"/>
          <a:stretch>
            <a:fillRect/>
          </a:stretch>
        </p:blipFill>
        <p:spPr>
          <a:xfrm>
            <a:off x="3392686" y="3546872"/>
            <a:ext cx="221099" cy="276344"/>
          </a:xfrm>
          <a:prstGeom prst="rect">
            <a:avLst/>
          </a:prstGeom>
        </p:spPr>
      </p:pic>
      <p:sp>
        <p:nvSpPr>
          <p:cNvPr id="42" name="Text 12">
            <a:extLst>
              <a:ext uri="{FF2B5EF4-FFF2-40B4-BE49-F238E27FC236}">
                <a16:creationId xmlns:a16="http://schemas.microsoft.com/office/drawing/2014/main" id="{871FBED0-35FA-70F1-9B43-FF5BF566CE8F}"/>
              </a:ext>
            </a:extLst>
          </p:cNvPr>
          <p:cNvSpPr/>
          <p:nvPr/>
        </p:nvSpPr>
        <p:spPr>
          <a:xfrm>
            <a:off x="746879" y="4057412"/>
            <a:ext cx="1842968" cy="230386"/>
          </a:xfrm>
          <a:prstGeom prst="rect">
            <a:avLst/>
          </a:prstGeom>
          <a:noFill/>
          <a:ln/>
        </p:spPr>
        <p:txBody>
          <a:bodyPr wrap="none" lIns="0" tIns="0" rIns="0" bIns="0" rtlCol="0" anchor="t"/>
          <a:lstStyle/>
          <a:p>
            <a:pPr marL="0" indent="0" algn="l">
              <a:lnSpc>
                <a:spcPts val="1800"/>
              </a:lnSpc>
              <a:buNone/>
            </a:pPr>
            <a:r>
              <a:rPr lang="en-US" sz="1400" b="1" dirty="0">
                <a:solidFill>
                  <a:srgbClr val="272525"/>
                </a:solidFill>
                <a:latin typeface="Inter Bold" pitchFamily="34" charset="0"/>
                <a:ea typeface="Inter Bold" pitchFamily="34" charset="-122"/>
                <a:cs typeface="Inter Bold" pitchFamily="34" charset="-120"/>
              </a:rPr>
              <a:t>Early Stopping</a:t>
            </a:r>
            <a:endParaRPr lang="en-US" sz="1400" dirty="0"/>
          </a:p>
        </p:txBody>
      </p:sp>
      <p:sp>
        <p:nvSpPr>
          <p:cNvPr id="43" name="Text 13">
            <a:extLst>
              <a:ext uri="{FF2B5EF4-FFF2-40B4-BE49-F238E27FC236}">
                <a16:creationId xmlns:a16="http://schemas.microsoft.com/office/drawing/2014/main" id="{D93659D8-3DE4-5A32-2281-6546D5555019}"/>
              </a:ext>
            </a:extLst>
          </p:cNvPr>
          <p:cNvSpPr/>
          <p:nvPr/>
        </p:nvSpPr>
        <p:spPr>
          <a:xfrm>
            <a:off x="746879" y="4376142"/>
            <a:ext cx="4539496" cy="707231"/>
          </a:xfrm>
          <a:prstGeom prst="rect">
            <a:avLst/>
          </a:prstGeom>
          <a:noFill/>
          <a:ln/>
        </p:spPr>
        <p:txBody>
          <a:bodyPr wrap="square" lIns="0" tIns="0" rIns="0" bIns="0" rtlCol="0" anchor="t"/>
          <a:lstStyle/>
          <a:p>
            <a:pPr marL="0" indent="0">
              <a:lnSpc>
                <a:spcPts val="1850"/>
              </a:lnSpc>
              <a:buNone/>
            </a:pPr>
            <a:r>
              <a:rPr lang="en-US" sz="1200" dirty="0">
                <a:solidFill>
                  <a:srgbClr val="272525"/>
                </a:solidFill>
                <a:latin typeface="Inter" pitchFamily="34" charset="0"/>
                <a:ea typeface="Inter" pitchFamily="34" charset="-122"/>
                <a:cs typeface="Arial" panose="020B0604020202020204" pitchFamily="34" charset="0"/>
              </a:rPr>
              <a:t>Implemented based on the validation loss. If validation loss does not decrease after a defined patience period (e.g., 10-15 epochs), training is halted to prevent overfitting and save compute time.</a:t>
            </a:r>
            <a:endParaRPr lang="en-US" sz="1200" dirty="0"/>
          </a:p>
        </p:txBody>
      </p:sp>
      <p:sp>
        <p:nvSpPr>
          <p:cNvPr id="44" name="Shape 14">
            <a:extLst>
              <a:ext uri="{FF2B5EF4-FFF2-40B4-BE49-F238E27FC236}">
                <a16:creationId xmlns:a16="http://schemas.microsoft.com/office/drawing/2014/main" id="{2365057E-A457-9CB5-1F64-2F41065D5028}"/>
              </a:ext>
            </a:extLst>
          </p:cNvPr>
          <p:cNvSpPr/>
          <p:nvPr/>
        </p:nvSpPr>
        <p:spPr>
          <a:xfrm>
            <a:off x="6096000" y="3452574"/>
            <a:ext cx="4907992" cy="1793438"/>
          </a:xfrm>
          <a:prstGeom prst="roundRect">
            <a:avLst>
              <a:gd name="adj" fmla="val 3453"/>
            </a:avLst>
          </a:prstGeom>
          <a:solidFill>
            <a:srgbClr val="FFFFFF"/>
          </a:solidFill>
          <a:ln w="15240">
            <a:solidFill>
              <a:srgbClr val="C0C1D7"/>
            </a:solidFill>
            <a:prstDash val="solid"/>
          </a:ln>
        </p:spPr>
        <p:txBody>
          <a:bodyPr/>
          <a:lstStyle/>
          <a:p>
            <a:endParaRPr lang="en-US" dirty="0"/>
          </a:p>
        </p:txBody>
      </p:sp>
      <p:sp>
        <p:nvSpPr>
          <p:cNvPr id="45" name="Shape 15">
            <a:extLst>
              <a:ext uri="{FF2B5EF4-FFF2-40B4-BE49-F238E27FC236}">
                <a16:creationId xmlns:a16="http://schemas.microsoft.com/office/drawing/2014/main" id="{9E582AA2-CC5F-81AF-719D-16A12F00709C}"/>
              </a:ext>
            </a:extLst>
          </p:cNvPr>
          <p:cNvSpPr/>
          <p:nvPr/>
        </p:nvSpPr>
        <p:spPr>
          <a:xfrm>
            <a:off x="6111241" y="3467814"/>
            <a:ext cx="4852324" cy="442198"/>
          </a:xfrm>
          <a:prstGeom prst="roundRect">
            <a:avLst>
              <a:gd name="adj" fmla="val 9868"/>
            </a:avLst>
          </a:prstGeom>
          <a:solidFill>
            <a:srgbClr val="DADBF1"/>
          </a:solidFill>
          <a:ln/>
        </p:spPr>
        <p:txBody>
          <a:bodyPr/>
          <a:lstStyle/>
          <a:p>
            <a:endParaRPr lang="en-US" dirty="0"/>
          </a:p>
        </p:txBody>
      </p:sp>
      <p:pic>
        <p:nvPicPr>
          <p:cNvPr id="46" name="Image 3" descr="preencoded.png">
            <a:extLst>
              <a:ext uri="{FF2B5EF4-FFF2-40B4-BE49-F238E27FC236}">
                <a16:creationId xmlns:a16="http://schemas.microsoft.com/office/drawing/2014/main" id="{305FF5EE-1CBE-E654-2043-32B141A4F0E0}"/>
              </a:ext>
            </a:extLst>
          </p:cNvPr>
          <p:cNvPicPr>
            <a:picLocks noChangeAspect="1"/>
          </p:cNvPicPr>
          <p:nvPr/>
        </p:nvPicPr>
        <p:blipFill>
          <a:blip r:embed="rId7"/>
          <a:stretch>
            <a:fillRect/>
          </a:stretch>
        </p:blipFill>
        <p:spPr>
          <a:xfrm>
            <a:off x="9987796" y="3546872"/>
            <a:ext cx="221099" cy="276344"/>
          </a:xfrm>
          <a:prstGeom prst="rect">
            <a:avLst/>
          </a:prstGeom>
        </p:spPr>
      </p:pic>
      <p:sp>
        <p:nvSpPr>
          <p:cNvPr id="47" name="Text 16">
            <a:extLst>
              <a:ext uri="{FF2B5EF4-FFF2-40B4-BE49-F238E27FC236}">
                <a16:creationId xmlns:a16="http://schemas.microsoft.com/office/drawing/2014/main" id="{8B01BD2E-2847-4DC2-D081-EB89A362FF74}"/>
              </a:ext>
            </a:extLst>
          </p:cNvPr>
          <p:cNvSpPr/>
          <p:nvPr/>
        </p:nvSpPr>
        <p:spPr>
          <a:xfrm>
            <a:off x="6340673" y="4057412"/>
            <a:ext cx="1842968" cy="230386"/>
          </a:xfrm>
          <a:prstGeom prst="rect">
            <a:avLst/>
          </a:prstGeom>
          <a:noFill/>
          <a:ln/>
        </p:spPr>
        <p:txBody>
          <a:bodyPr wrap="none" lIns="0" tIns="0" rIns="0" bIns="0" rtlCol="0" anchor="t"/>
          <a:lstStyle/>
          <a:p>
            <a:pPr marL="0" indent="0" algn="l">
              <a:lnSpc>
                <a:spcPts val="1800"/>
              </a:lnSpc>
              <a:buNone/>
            </a:pPr>
            <a:r>
              <a:rPr lang="en-US" sz="1400" b="1" dirty="0">
                <a:solidFill>
                  <a:srgbClr val="272525"/>
                </a:solidFill>
                <a:latin typeface="Inter Bold" pitchFamily="34" charset="0"/>
                <a:ea typeface="Inter Bold" pitchFamily="34" charset="-122"/>
                <a:cs typeface="Inter Bold" pitchFamily="34" charset="-120"/>
              </a:rPr>
              <a:t>Sanity Checks</a:t>
            </a:r>
            <a:endParaRPr lang="en-US" sz="1400" dirty="0"/>
          </a:p>
        </p:txBody>
      </p:sp>
      <p:sp>
        <p:nvSpPr>
          <p:cNvPr id="48" name="Text 17">
            <a:extLst>
              <a:ext uri="{FF2B5EF4-FFF2-40B4-BE49-F238E27FC236}">
                <a16:creationId xmlns:a16="http://schemas.microsoft.com/office/drawing/2014/main" id="{F05D8C13-4675-A00D-CE88-8DB39ED02C1D}"/>
              </a:ext>
            </a:extLst>
          </p:cNvPr>
          <p:cNvSpPr/>
          <p:nvPr/>
        </p:nvSpPr>
        <p:spPr>
          <a:xfrm>
            <a:off x="6340673" y="4376142"/>
            <a:ext cx="4498777" cy="471488"/>
          </a:xfrm>
          <a:prstGeom prst="rect">
            <a:avLst/>
          </a:prstGeom>
          <a:noFill/>
          <a:ln/>
        </p:spPr>
        <p:txBody>
          <a:bodyPr wrap="square" lIns="0" tIns="0" rIns="0" bIns="0" rtlCol="0" anchor="t"/>
          <a:lstStyle/>
          <a:p>
            <a:pPr marL="0" indent="0">
              <a:lnSpc>
                <a:spcPts val="1850"/>
              </a:lnSpc>
              <a:buNone/>
            </a:pPr>
            <a:r>
              <a:rPr lang="en-US" sz="1200" dirty="0">
                <a:solidFill>
                  <a:srgbClr val="272525"/>
                </a:solidFill>
                <a:latin typeface="Inter" pitchFamily="34" charset="0"/>
                <a:ea typeface="Inter" pitchFamily="34" charset="-122"/>
                <a:cs typeface="Inter" pitchFamily="34" charset="-120"/>
              </a:rPr>
              <a:t>Verify that the data pipeline correctly applies augmentations only to the training split and that the </a:t>
            </a:r>
            <a:r>
              <a:rPr lang="en-US" sz="1200" dirty="0">
                <a:solidFill>
                  <a:srgbClr val="272525"/>
                </a:solidFill>
                <a:latin typeface="Inter" pitchFamily="34" charset="0"/>
                <a:ea typeface="Inter" pitchFamily="34" charset="-122"/>
                <a:cs typeface="Arial" panose="020B0604020202020204" pitchFamily="34" charset="0"/>
              </a:rPr>
              <a:t>model</a:t>
            </a:r>
            <a:r>
              <a:rPr lang="en-US" sz="1200" dirty="0">
                <a:solidFill>
                  <a:srgbClr val="272525"/>
                </a:solidFill>
                <a:latin typeface="Inter" pitchFamily="34" charset="0"/>
                <a:ea typeface="Inter" pitchFamily="34" charset="-122"/>
                <a:cs typeface="Inter" pitchFamily="34" charset="-120"/>
              </a:rPr>
              <a:t> is initially learning (e.g., training loss drops quickly).</a:t>
            </a:r>
            <a:endParaRPr lang="en-US" sz="1200" dirty="0"/>
          </a:p>
        </p:txBody>
      </p:sp>
      <p:pic>
        <p:nvPicPr>
          <p:cNvPr id="9" name="Audio 8">
            <a:extLst>
              <a:ext uri="{FF2B5EF4-FFF2-40B4-BE49-F238E27FC236}">
                <a16:creationId xmlns:a16="http://schemas.microsoft.com/office/drawing/2014/main" id="{5A2A8ADD-4A2A-1FD3-AA91-D74140910038}"/>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457443681"/>
      </p:ext>
    </p:extLst>
  </p:cSld>
  <p:clrMapOvr>
    <a:masterClrMapping/>
  </p:clrMapOvr>
  <mc:AlternateContent xmlns:mc="http://schemas.openxmlformats.org/markup-compatibility/2006" xmlns:p14="http://schemas.microsoft.com/office/powerpoint/2010/main">
    <mc:Choice Requires="p14">
      <p:transition spd="slow" p14:dur="2000" advTm="46230"/>
    </mc:Choice>
    <mc:Fallback xmlns="">
      <p:transition spd="slow" advTm="462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0" descr="preencoded.png">
            <a:extLst>
              <a:ext uri="{FF2B5EF4-FFF2-40B4-BE49-F238E27FC236}">
                <a16:creationId xmlns:a16="http://schemas.microsoft.com/office/drawing/2014/main" id="{D5D6148F-E8C0-AA2B-65D2-6971D0E48330}"/>
              </a:ext>
            </a:extLst>
          </p:cNvPr>
          <p:cNvPicPr>
            <a:picLocks noChangeAspect="1"/>
          </p:cNvPicPr>
          <p:nvPr/>
        </p:nvPicPr>
        <p:blipFill>
          <a:blip r:embed="rId4"/>
          <a:stretch>
            <a:fillRect/>
          </a:stretch>
        </p:blipFill>
        <p:spPr>
          <a:xfrm>
            <a:off x="7629525" y="0"/>
            <a:ext cx="4562475" cy="6858000"/>
          </a:xfrm>
          <a:prstGeom prst="rect">
            <a:avLst/>
          </a:prstGeom>
        </p:spPr>
      </p:pic>
      <p:sp>
        <p:nvSpPr>
          <p:cNvPr id="5" name="Text 0">
            <a:extLst>
              <a:ext uri="{FF2B5EF4-FFF2-40B4-BE49-F238E27FC236}">
                <a16:creationId xmlns:a16="http://schemas.microsoft.com/office/drawing/2014/main" id="{3D4F3D8E-FE92-F2FD-DA0B-4EB67116294D}"/>
              </a:ext>
            </a:extLst>
          </p:cNvPr>
          <p:cNvSpPr/>
          <p:nvPr/>
        </p:nvSpPr>
        <p:spPr>
          <a:xfrm>
            <a:off x="334515" y="247530"/>
            <a:ext cx="6283899" cy="767953"/>
          </a:xfrm>
          <a:prstGeom prst="rect">
            <a:avLst/>
          </a:prstGeom>
          <a:noFill/>
          <a:ln/>
        </p:spPr>
        <p:txBody>
          <a:bodyPr wrap="square" lIns="0" tIns="0" rIns="0" bIns="0" rtlCol="0" anchor="t"/>
          <a:lstStyle/>
          <a:p>
            <a:pPr marL="0" indent="0" algn="l">
              <a:lnSpc>
                <a:spcPts val="3600"/>
              </a:lnSpc>
              <a:buNone/>
            </a:pPr>
            <a:r>
              <a:rPr lang="en-US" sz="2900" b="1" dirty="0">
                <a:solidFill>
                  <a:srgbClr val="000000"/>
                </a:solidFill>
                <a:latin typeface="Inter Bold" pitchFamily="34" charset="0"/>
                <a:ea typeface="Inter Bold" pitchFamily="34" charset="-122"/>
                <a:cs typeface="Inter Bold" pitchFamily="34" charset="-120"/>
              </a:rPr>
              <a:t>Analyzing Learning Curves for Generalization</a:t>
            </a:r>
            <a:endParaRPr lang="en-US" sz="2900" dirty="0"/>
          </a:p>
        </p:txBody>
      </p:sp>
      <p:sp>
        <p:nvSpPr>
          <p:cNvPr id="6" name="Text 1">
            <a:extLst>
              <a:ext uri="{FF2B5EF4-FFF2-40B4-BE49-F238E27FC236}">
                <a16:creationId xmlns:a16="http://schemas.microsoft.com/office/drawing/2014/main" id="{AEA652B3-F248-27DE-7CE0-E086817C01A4}"/>
              </a:ext>
            </a:extLst>
          </p:cNvPr>
          <p:cNvSpPr/>
          <p:nvPr/>
        </p:nvSpPr>
        <p:spPr>
          <a:xfrm>
            <a:off x="334515" y="1399281"/>
            <a:ext cx="6283899" cy="392907"/>
          </a:xfrm>
          <a:prstGeom prst="rect">
            <a:avLst/>
          </a:prstGeom>
          <a:noFill/>
          <a:ln/>
        </p:spPr>
        <p:txBody>
          <a:bodyPr wrap="square" lIns="0" tIns="0" rIns="0" bIns="0" rtlCol="0" anchor="t"/>
          <a:lstStyle/>
          <a:p>
            <a:pPr marL="0" indent="0" algn="l">
              <a:lnSpc>
                <a:spcPts val="1850"/>
              </a:lnSpc>
              <a:buNone/>
            </a:pPr>
            <a:r>
              <a:rPr lang="en-US" sz="1200" dirty="0">
                <a:solidFill>
                  <a:srgbClr val="272525"/>
                </a:solidFill>
                <a:latin typeface="Inter" pitchFamily="34" charset="0"/>
                <a:ea typeface="Inter" pitchFamily="34" charset="-122"/>
                <a:cs typeface="Inter" pitchFamily="34" charset="-120"/>
              </a:rPr>
              <a:t>The learning curves provide critical insight into the model's performance and generalization capability during the training process.</a:t>
            </a:r>
            <a:endParaRPr lang="en-US" sz="1200" dirty="0"/>
          </a:p>
        </p:txBody>
      </p:sp>
      <p:sp>
        <p:nvSpPr>
          <p:cNvPr id="7" name="Text 2">
            <a:extLst>
              <a:ext uri="{FF2B5EF4-FFF2-40B4-BE49-F238E27FC236}">
                <a16:creationId xmlns:a16="http://schemas.microsoft.com/office/drawing/2014/main" id="{62CB9D6E-FC0D-EF49-7590-E165B292E3B2}"/>
              </a:ext>
            </a:extLst>
          </p:cNvPr>
          <p:cNvSpPr/>
          <p:nvPr/>
        </p:nvSpPr>
        <p:spPr>
          <a:xfrm>
            <a:off x="334515" y="2248128"/>
            <a:ext cx="2096680" cy="230287"/>
          </a:xfrm>
          <a:prstGeom prst="rect">
            <a:avLst/>
          </a:prstGeom>
          <a:noFill/>
          <a:ln/>
        </p:spPr>
        <p:txBody>
          <a:bodyPr wrap="none" lIns="0" tIns="0" rIns="0" bIns="0" rtlCol="0" anchor="t"/>
          <a:lstStyle/>
          <a:p>
            <a:pPr marL="0" indent="0" algn="l">
              <a:lnSpc>
                <a:spcPts val="2150"/>
              </a:lnSpc>
              <a:buNone/>
            </a:pPr>
            <a:r>
              <a:rPr lang="en-US" b="1" dirty="0">
                <a:solidFill>
                  <a:srgbClr val="000000"/>
                </a:solidFill>
                <a:latin typeface="Inter Bold" pitchFamily="34" charset="0"/>
                <a:ea typeface="Inter Bold" pitchFamily="34" charset="-122"/>
                <a:cs typeface="Inter Bold" pitchFamily="34" charset="-120"/>
              </a:rPr>
              <a:t>Monitoring Key </a:t>
            </a:r>
            <a:r>
              <a:rPr lang="en-US" sz="1400" b="1" dirty="0">
                <a:solidFill>
                  <a:srgbClr val="000000"/>
                </a:solidFill>
                <a:latin typeface="Inter Bold" pitchFamily="34" charset="0"/>
                <a:ea typeface="Inter Bold" pitchFamily="34" charset="-122"/>
                <a:cs typeface="Inter Bold" pitchFamily="34" charset="-120"/>
              </a:rPr>
              <a:t>Metrics</a:t>
            </a:r>
            <a:endParaRPr lang="en-US" dirty="0"/>
          </a:p>
        </p:txBody>
      </p:sp>
      <p:sp>
        <p:nvSpPr>
          <p:cNvPr id="8" name="Text 3">
            <a:extLst>
              <a:ext uri="{FF2B5EF4-FFF2-40B4-BE49-F238E27FC236}">
                <a16:creationId xmlns:a16="http://schemas.microsoft.com/office/drawing/2014/main" id="{10E14C94-C3AD-C7E7-6554-B98E0B3C3D94}"/>
              </a:ext>
            </a:extLst>
          </p:cNvPr>
          <p:cNvSpPr/>
          <p:nvPr/>
        </p:nvSpPr>
        <p:spPr>
          <a:xfrm>
            <a:off x="334515" y="2723679"/>
            <a:ext cx="2992440" cy="589359"/>
          </a:xfrm>
          <a:prstGeom prst="rect">
            <a:avLst/>
          </a:prstGeom>
          <a:noFill/>
          <a:ln/>
        </p:spPr>
        <p:txBody>
          <a:bodyPr wrap="square" lIns="0" tIns="0" rIns="0" bIns="0" rtlCol="0" anchor="t"/>
          <a:lstStyle/>
          <a:p>
            <a:pPr marL="342900" indent="-342900" algn="l">
              <a:lnSpc>
                <a:spcPts val="1850"/>
              </a:lnSpc>
              <a:buSzPct val="100000"/>
              <a:buChar char="•"/>
            </a:pPr>
            <a:r>
              <a:rPr lang="en-US" sz="1200" b="1" dirty="0">
                <a:solidFill>
                  <a:srgbClr val="272525"/>
                </a:solidFill>
                <a:latin typeface="Inter" pitchFamily="34" charset="0"/>
                <a:ea typeface="Inter" pitchFamily="34" charset="-122"/>
                <a:cs typeface="Inter" pitchFamily="34" charset="-120"/>
              </a:rPr>
              <a:t>Train vs. Val Accuracy:</a:t>
            </a:r>
            <a:r>
              <a:rPr lang="en-US" sz="1200" dirty="0">
                <a:solidFill>
                  <a:srgbClr val="272525"/>
                </a:solidFill>
                <a:latin typeface="Inter" pitchFamily="34" charset="0"/>
                <a:ea typeface="Inter" pitchFamily="34" charset="-122"/>
                <a:cs typeface="Inter" pitchFamily="34" charset="-120"/>
              </a:rPr>
              <a:t> Should increase simultaneously. A large gap indicates overfitting.</a:t>
            </a:r>
            <a:endParaRPr lang="en-US" sz="1200" dirty="0"/>
          </a:p>
        </p:txBody>
      </p:sp>
      <p:sp>
        <p:nvSpPr>
          <p:cNvPr id="9" name="Text 4">
            <a:extLst>
              <a:ext uri="{FF2B5EF4-FFF2-40B4-BE49-F238E27FC236}">
                <a16:creationId xmlns:a16="http://schemas.microsoft.com/office/drawing/2014/main" id="{C8FF4A11-AC6F-8FDC-1D32-A2C1F245AF0A}"/>
              </a:ext>
            </a:extLst>
          </p:cNvPr>
          <p:cNvSpPr/>
          <p:nvPr/>
        </p:nvSpPr>
        <p:spPr>
          <a:xfrm>
            <a:off x="334515" y="3736836"/>
            <a:ext cx="2992440" cy="589359"/>
          </a:xfrm>
          <a:prstGeom prst="rect">
            <a:avLst/>
          </a:prstGeom>
          <a:noFill/>
          <a:ln/>
        </p:spPr>
        <p:txBody>
          <a:bodyPr wrap="square" lIns="0" tIns="0" rIns="0" bIns="0" rtlCol="0" anchor="t"/>
          <a:lstStyle/>
          <a:p>
            <a:pPr marL="342900" indent="-342900" algn="l">
              <a:lnSpc>
                <a:spcPts val="1850"/>
              </a:lnSpc>
              <a:buSzPct val="100000"/>
              <a:buChar char="•"/>
            </a:pPr>
            <a:r>
              <a:rPr lang="en-US" sz="1200" b="1" dirty="0">
                <a:solidFill>
                  <a:srgbClr val="272525"/>
                </a:solidFill>
                <a:latin typeface="Inter" pitchFamily="34" charset="0"/>
                <a:ea typeface="Inter" pitchFamily="34" charset="-122"/>
                <a:cs typeface="Inter" pitchFamily="34" charset="-120"/>
              </a:rPr>
              <a:t>Train vs. Val Loss:</a:t>
            </a:r>
            <a:r>
              <a:rPr lang="en-US" sz="1200" dirty="0">
                <a:solidFill>
                  <a:srgbClr val="272525"/>
                </a:solidFill>
                <a:latin typeface="Inter" pitchFamily="34" charset="0"/>
                <a:ea typeface="Inter" pitchFamily="34" charset="-122"/>
                <a:cs typeface="Inter" pitchFamily="34" charset="-120"/>
              </a:rPr>
              <a:t> Should decrease simultaneously. Loss diverging suggests model capacity issues or hyperparameter instability.</a:t>
            </a:r>
            <a:endParaRPr lang="en-US" sz="1200" dirty="0"/>
          </a:p>
        </p:txBody>
      </p:sp>
      <p:sp>
        <p:nvSpPr>
          <p:cNvPr id="10" name="Shape 5">
            <a:extLst>
              <a:ext uri="{FF2B5EF4-FFF2-40B4-BE49-F238E27FC236}">
                <a16:creationId xmlns:a16="http://schemas.microsoft.com/office/drawing/2014/main" id="{CF6851AF-47E8-60B5-116B-BED59AC05B88}"/>
              </a:ext>
            </a:extLst>
          </p:cNvPr>
          <p:cNvSpPr/>
          <p:nvPr/>
        </p:nvSpPr>
        <p:spPr>
          <a:xfrm>
            <a:off x="4531932" y="2723679"/>
            <a:ext cx="275847" cy="276423"/>
          </a:xfrm>
          <a:prstGeom prst="roundRect">
            <a:avLst>
              <a:gd name="adj" fmla="val 18668"/>
            </a:avLst>
          </a:prstGeom>
          <a:solidFill>
            <a:srgbClr val="DADBF1"/>
          </a:solidFill>
          <a:ln w="7620">
            <a:solidFill>
              <a:srgbClr val="C0C1D7"/>
            </a:solidFill>
            <a:prstDash val="solid"/>
          </a:ln>
        </p:spPr>
        <p:txBody>
          <a:bodyPr/>
          <a:lstStyle/>
          <a:p>
            <a:endParaRPr lang="en-US" dirty="0"/>
          </a:p>
        </p:txBody>
      </p:sp>
      <p:sp>
        <p:nvSpPr>
          <p:cNvPr id="11" name="Text 6">
            <a:extLst>
              <a:ext uri="{FF2B5EF4-FFF2-40B4-BE49-F238E27FC236}">
                <a16:creationId xmlns:a16="http://schemas.microsoft.com/office/drawing/2014/main" id="{383CE883-F280-D330-2C0F-9A05D7056341}"/>
              </a:ext>
            </a:extLst>
          </p:cNvPr>
          <p:cNvSpPr/>
          <p:nvPr/>
        </p:nvSpPr>
        <p:spPr>
          <a:xfrm>
            <a:off x="4971232" y="2720915"/>
            <a:ext cx="1532607" cy="191988"/>
          </a:xfrm>
          <a:prstGeom prst="rect">
            <a:avLst/>
          </a:prstGeom>
          <a:noFill/>
          <a:ln/>
        </p:spPr>
        <p:txBody>
          <a:bodyPr wrap="none" lIns="0" tIns="0" rIns="0" bIns="0" rtlCol="0" anchor="t"/>
          <a:lstStyle/>
          <a:p>
            <a:pPr marL="0" indent="0" algn="l">
              <a:lnSpc>
                <a:spcPts val="1800"/>
              </a:lnSpc>
              <a:buNone/>
            </a:pPr>
            <a:r>
              <a:rPr lang="en-US" sz="1400" b="1" dirty="0">
                <a:solidFill>
                  <a:srgbClr val="272525"/>
                </a:solidFill>
                <a:latin typeface="Inter Bold" pitchFamily="34" charset="0"/>
                <a:ea typeface="Inter Bold" pitchFamily="34" charset="-122"/>
                <a:cs typeface="Inter Bold" pitchFamily="34" charset="-120"/>
              </a:rPr>
              <a:t>Generalization Gap</a:t>
            </a:r>
            <a:endParaRPr lang="en-US" sz="1400" dirty="0"/>
          </a:p>
        </p:txBody>
      </p:sp>
      <p:sp>
        <p:nvSpPr>
          <p:cNvPr id="12" name="Text 7">
            <a:extLst>
              <a:ext uri="{FF2B5EF4-FFF2-40B4-BE49-F238E27FC236}">
                <a16:creationId xmlns:a16="http://schemas.microsoft.com/office/drawing/2014/main" id="{49E8BB16-825B-57C3-3660-9B2EF3A02A01}"/>
              </a:ext>
            </a:extLst>
          </p:cNvPr>
          <p:cNvSpPr/>
          <p:nvPr/>
        </p:nvSpPr>
        <p:spPr>
          <a:xfrm>
            <a:off x="4734132" y="3220228"/>
            <a:ext cx="2594017" cy="785813"/>
          </a:xfrm>
          <a:prstGeom prst="rect">
            <a:avLst/>
          </a:prstGeom>
          <a:noFill/>
          <a:ln/>
        </p:spPr>
        <p:txBody>
          <a:bodyPr wrap="square" lIns="0" tIns="0" rIns="0" bIns="0" rtlCol="0" anchor="t"/>
          <a:lstStyle/>
          <a:p>
            <a:pPr marL="0" indent="0" algn="l">
              <a:lnSpc>
                <a:spcPts val="1850"/>
              </a:lnSpc>
              <a:buNone/>
            </a:pPr>
            <a:r>
              <a:rPr lang="en-US" sz="1200" dirty="0">
                <a:solidFill>
                  <a:srgbClr val="272525"/>
                </a:solidFill>
                <a:latin typeface="Inter" pitchFamily="34" charset="0"/>
                <a:ea typeface="Inter" pitchFamily="34" charset="-122"/>
                <a:cs typeface="Inter" pitchFamily="34" charset="-120"/>
              </a:rPr>
              <a:t>A stable and minimal gap between training and validation performance confirms the model is learning robust features and not merely memorizing the training data.</a:t>
            </a:r>
            <a:endParaRPr lang="en-US" sz="1200" dirty="0"/>
          </a:p>
        </p:txBody>
      </p:sp>
      <p:sp>
        <p:nvSpPr>
          <p:cNvPr id="13" name="Shape 8">
            <a:extLst>
              <a:ext uri="{FF2B5EF4-FFF2-40B4-BE49-F238E27FC236}">
                <a16:creationId xmlns:a16="http://schemas.microsoft.com/office/drawing/2014/main" id="{692D9251-0C8F-9D4F-98BB-25F64AA81546}"/>
              </a:ext>
            </a:extLst>
          </p:cNvPr>
          <p:cNvSpPr/>
          <p:nvPr/>
        </p:nvSpPr>
        <p:spPr>
          <a:xfrm>
            <a:off x="4544697" y="4485833"/>
            <a:ext cx="275847" cy="276423"/>
          </a:xfrm>
          <a:prstGeom prst="roundRect">
            <a:avLst>
              <a:gd name="adj" fmla="val 18668"/>
            </a:avLst>
          </a:prstGeom>
          <a:solidFill>
            <a:srgbClr val="DADBF1"/>
          </a:solidFill>
          <a:ln w="7620">
            <a:solidFill>
              <a:srgbClr val="C0C1D7"/>
            </a:solidFill>
            <a:prstDash val="solid"/>
          </a:ln>
        </p:spPr>
        <p:txBody>
          <a:bodyPr/>
          <a:lstStyle/>
          <a:p>
            <a:endParaRPr lang="en-US" dirty="0"/>
          </a:p>
        </p:txBody>
      </p:sp>
      <p:sp>
        <p:nvSpPr>
          <p:cNvPr id="14" name="Text 9">
            <a:extLst>
              <a:ext uri="{FF2B5EF4-FFF2-40B4-BE49-F238E27FC236}">
                <a16:creationId xmlns:a16="http://schemas.microsoft.com/office/drawing/2014/main" id="{2BF3D7CA-9802-483F-72A1-F669ED91D31F}"/>
              </a:ext>
            </a:extLst>
          </p:cNvPr>
          <p:cNvSpPr/>
          <p:nvPr/>
        </p:nvSpPr>
        <p:spPr>
          <a:xfrm>
            <a:off x="4971232" y="4528050"/>
            <a:ext cx="1532607" cy="191988"/>
          </a:xfrm>
          <a:prstGeom prst="rect">
            <a:avLst/>
          </a:prstGeom>
          <a:noFill/>
          <a:ln/>
        </p:spPr>
        <p:txBody>
          <a:bodyPr wrap="none" lIns="0" tIns="0" rIns="0" bIns="0" rtlCol="0" anchor="t"/>
          <a:lstStyle/>
          <a:p>
            <a:pPr marL="0" indent="0" algn="l">
              <a:lnSpc>
                <a:spcPts val="1800"/>
              </a:lnSpc>
              <a:buNone/>
            </a:pPr>
            <a:r>
              <a:rPr lang="en-US" sz="1400" b="1" dirty="0">
                <a:solidFill>
                  <a:srgbClr val="272525"/>
                </a:solidFill>
                <a:latin typeface="Inter Bold" pitchFamily="34" charset="0"/>
                <a:ea typeface="Inter Bold" pitchFamily="34" charset="-122"/>
                <a:cs typeface="Inter Bold" pitchFamily="34" charset="-120"/>
              </a:rPr>
              <a:t>Convergence</a:t>
            </a:r>
            <a:endParaRPr lang="en-US" sz="1400" dirty="0"/>
          </a:p>
        </p:txBody>
      </p:sp>
      <p:sp>
        <p:nvSpPr>
          <p:cNvPr id="15" name="Text 10">
            <a:extLst>
              <a:ext uri="{FF2B5EF4-FFF2-40B4-BE49-F238E27FC236}">
                <a16:creationId xmlns:a16="http://schemas.microsoft.com/office/drawing/2014/main" id="{D2D3B442-31A7-A735-B548-323E1D4C98D3}"/>
              </a:ext>
            </a:extLst>
          </p:cNvPr>
          <p:cNvSpPr/>
          <p:nvPr/>
        </p:nvSpPr>
        <p:spPr>
          <a:xfrm>
            <a:off x="4734132" y="4886388"/>
            <a:ext cx="2594017" cy="1324398"/>
          </a:xfrm>
          <a:prstGeom prst="rect">
            <a:avLst/>
          </a:prstGeom>
          <a:noFill/>
          <a:ln/>
        </p:spPr>
        <p:txBody>
          <a:bodyPr wrap="square" lIns="0" tIns="0" rIns="0" bIns="0" rtlCol="0" anchor="t"/>
          <a:lstStyle/>
          <a:p>
            <a:pPr marL="0" indent="0" algn="l">
              <a:lnSpc>
                <a:spcPts val="1850"/>
              </a:lnSpc>
              <a:buNone/>
            </a:pPr>
            <a:r>
              <a:rPr lang="en-US" sz="1200" dirty="0">
                <a:solidFill>
                  <a:srgbClr val="272525"/>
                </a:solidFill>
                <a:latin typeface="Inter" pitchFamily="34" charset="0"/>
                <a:ea typeface="Inter" pitchFamily="34" charset="-122"/>
                <a:cs typeface="Inter" pitchFamily="34" charset="-120"/>
              </a:rPr>
              <a:t>We look for smooth convergence where the metrics plateau, indicating the learning rate schedule has effectively settled the model into a stable minimum.</a:t>
            </a:r>
            <a:endParaRPr lang="en-US" sz="1200" dirty="0"/>
          </a:p>
        </p:txBody>
      </p:sp>
      <p:pic>
        <p:nvPicPr>
          <p:cNvPr id="20" name="Audio 19">
            <a:extLst>
              <a:ext uri="{FF2B5EF4-FFF2-40B4-BE49-F238E27FC236}">
                <a16:creationId xmlns:a16="http://schemas.microsoft.com/office/drawing/2014/main" id="{6279CA6D-F8AD-5B75-2745-197B532FB50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453077291"/>
      </p:ext>
    </p:extLst>
  </p:cSld>
  <p:clrMapOvr>
    <a:masterClrMapping/>
  </p:clrMapOvr>
  <mc:AlternateContent xmlns:mc="http://schemas.openxmlformats.org/markup-compatibility/2006" xmlns:p14="http://schemas.microsoft.com/office/powerpoint/2010/main">
    <mc:Choice Requires="p14">
      <p:transition spd="slow" p14:dur="2000" advTm="44164"/>
    </mc:Choice>
    <mc:Fallback xmlns="">
      <p:transition spd="slow" advTm="441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0"/>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Freeform: Shape 12">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Isosceles Triangle 20">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Isosceles Triangle 22">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Table 5">
            <a:extLst>
              <a:ext uri="{FF2B5EF4-FFF2-40B4-BE49-F238E27FC236}">
                <a16:creationId xmlns:a16="http://schemas.microsoft.com/office/drawing/2014/main" id="{9532DA9A-D0B9-6B13-1527-96ABD4ECC95F}"/>
              </a:ext>
            </a:extLst>
          </p:cNvPr>
          <p:cNvGraphicFramePr>
            <a:graphicFrameLocks noGrp="1"/>
          </p:cNvGraphicFramePr>
          <p:nvPr>
            <p:extLst>
              <p:ext uri="{D42A27DB-BD31-4B8C-83A1-F6EECF244321}">
                <p14:modId xmlns:p14="http://schemas.microsoft.com/office/powerpoint/2010/main" val="870768900"/>
              </p:ext>
            </p:extLst>
          </p:nvPr>
        </p:nvGraphicFramePr>
        <p:xfrm>
          <a:off x="537663" y="1513453"/>
          <a:ext cx="10905067" cy="4743422"/>
        </p:xfrm>
        <a:graphic>
          <a:graphicData uri="http://schemas.openxmlformats.org/drawingml/2006/table">
            <a:tbl>
              <a:tblPr firstRow="1" bandRow="1">
                <a:noFill/>
                <a:tableStyleId>{5C22544A-7EE6-4342-B048-85BDC9FD1C3A}</a:tableStyleId>
              </a:tblPr>
              <a:tblGrid>
                <a:gridCol w="2739654">
                  <a:extLst>
                    <a:ext uri="{9D8B030D-6E8A-4147-A177-3AD203B41FA5}">
                      <a16:colId xmlns:a16="http://schemas.microsoft.com/office/drawing/2014/main" val="20000"/>
                    </a:ext>
                  </a:extLst>
                </a:gridCol>
                <a:gridCol w="2743629">
                  <a:extLst>
                    <a:ext uri="{9D8B030D-6E8A-4147-A177-3AD203B41FA5}">
                      <a16:colId xmlns:a16="http://schemas.microsoft.com/office/drawing/2014/main" val="20001"/>
                    </a:ext>
                  </a:extLst>
                </a:gridCol>
                <a:gridCol w="2724239">
                  <a:extLst>
                    <a:ext uri="{9D8B030D-6E8A-4147-A177-3AD203B41FA5}">
                      <a16:colId xmlns:a16="http://schemas.microsoft.com/office/drawing/2014/main" val="20002"/>
                    </a:ext>
                  </a:extLst>
                </a:gridCol>
                <a:gridCol w="2697545">
                  <a:extLst>
                    <a:ext uri="{9D8B030D-6E8A-4147-A177-3AD203B41FA5}">
                      <a16:colId xmlns:a16="http://schemas.microsoft.com/office/drawing/2014/main" val="20003"/>
                    </a:ext>
                  </a:extLst>
                </a:gridCol>
              </a:tblGrid>
              <a:tr h="1020342">
                <a:tc>
                  <a:txBody>
                    <a:bodyPr/>
                    <a:lstStyle/>
                    <a:p>
                      <a:r>
                        <a:rPr sz="2000" b="0" cap="all" spc="150" dirty="0">
                          <a:solidFill>
                            <a:schemeClr val="lt1"/>
                          </a:solidFill>
                        </a:rPr>
                        <a:t>Approach</a:t>
                      </a:r>
                    </a:p>
                  </a:txBody>
                  <a:tcPr marL="175250" marR="175250" marT="175250" marB="175250">
                    <a:lnL w="12700" cmpd="sng">
                      <a:noFill/>
                    </a:lnL>
                    <a:lnR w="12700" cmpd="sng">
                      <a:noFill/>
                    </a:lnR>
                    <a:lnT w="12700" cmpd="sng">
                      <a:noFill/>
                    </a:lnT>
                    <a:lnB w="38100" cmpd="sng">
                      <a:noFill/>
                    </a:lnB>
                    <a:solidFill>
                      <a:srgbClr val="505356"/>
                    </a:solidFill>
                  </a:tcPr>
                </a:tc>
                <a:tc>
                  <a:txBody>
                    <a:bodyPr/>
                    <a:lstStyle/>
                    <a:p>
                      <a:r>
                        <a:rPr sz="2000" b="0" cap="all" spc="150" dirty="0">
                          <a:solidFill>
                            <a:schemeClr val="lt1"/>
                          </a:solidFill>
                        </a:rPr>
                        <a:t>Strengths</a:t>
                      </a:r>
                    </a:p>
                  </a:txBody>
                  <a:tcPr marL="175250" marR="175250" marT="175250" marB="175250">
                    <a:lnL w="12700" cmpd="sng">
                      <a:noFill/>
                    </a:lnL>
                    <a:lnR w="12700" cmpd="sng">
                      <a:noFill/>
                    </a:lnR>
                    <a:lnT w="12700" cmpd="sng">
                      <a:noFill/>
                    </a:lnT>
                    <a:lnB w="38100" cmpd="sng">
                      <a:noFill/>
                    </a:lnB>
                    <a:solidFill>
                      <a:srgbClr val="505356"/>
                    </a:solidFill>
                  </a:tcPr>
                </a:tc>
                <a:tc>
                  <a:txBody>
                    <a:bodyPr/>
                    <a:lstStyle/>
                    <a:p>
                      <a:r>
                        <a:rPr sz="2000" b="0" cap="all" spc="150" dirty="0">
                          <a:solidFill>
                            <a:schemeClr val="lt1"/>
                          </a:solidFill>
                        </a:rPr>
                        <a:t>Trade-offs</a:t>
                      </a:r>
                    </a:p>
                  </a:txBody>
                  <a:tcPr marL="175250" marR="175250" marT="175250" marB="175250">
                    <a:lnL w="12700" cmpd="sng">
                      <a:noFill/>
                    </a:lnL>
                    <a:lnR w="12700" cmpd="sng">
                      <a:noFill/>
                    </a:lnR>
                    <a:lnT w="12700" cmpd="sng">
                      <a:noFill/>
                    </a:lnT>
                    <a:lnB w="38100" cmpd="sng">
                      <a:noFill/>
                    </a:lnB>
                    <a:solidFill>
                      <a:srgbClr val="505356"/>
                    </a:solidFill>
                  </a:tcPr>
                </a:tc>
                <a:tc>
                  <a:txBody>
                    <a:bodyPr/>
                    <a:lstStyle/>
                    <a:p>
                      <a:r>
                        <a:rPr sz="2000" b="0" cap="all" spc="150" dirty="0">
                          <a:solidFill>
                            <a:schemeClr val="lt1"/>
                          </a:solidFill>
                        </a:rPr>
                        <a:t>Best used when…</a:t>
                      </a:r>
                    </a:p>
                  </a:txBody>
                  <a:tcPr marL="175250" marR="175250" marT="175250" marB="175250">
                    <a:lnL w="12700" cmpd="sng">
                      <a:noFill/>
                    </a:lnL>
                    <a:lnR w="12700" cmpd="sng">
                      <a:noFill/>
                    </a:lnR>
                    <a:lnT w="12700" cmpd="sng">
                      <a:noFill/>
                    </a:lnT>
                    <a:lnB w="38100" cmpd="sng">
                      <a:noFill/>
                    </a:lnB>
                    <a:solidFill>
                      <a:srgbClr val="505356"/>
                    </a:solidFill>
                  </a:tcPr>
                </a:tc>
                <a:extLst>
                  <a:ext uri="{0D108BD9-81ED-4DB2-BD59-A6C34878D82A}">
                    <a16:rowId xmlns:a16="http://schemas.microsoft.com/office/drawing/2014/main" val="10000"/>
                  </a:ext>
                </a:extLst>
              </a:tr>
              <a:tr h="1409786">
                <a:tc>
                  <a:txBody>
                    <a:bodyPr/>
                    <a:lstStyle/>
                    <a:p>
                      <a:r>
                        <a:rPr sz="1700" cap="none" spc="0" dirty="0">
                          <a:solidFill>
                            <a:schemeClr val="tx1"/>
                          </a:solidFill>
                        </a:rPr>
                        <a:t>Classical ML (HOG/SIFT + SVM/KNN)</a:t>
                      </a:r>
                    </a:p>
                  </a:txBody>
                  <a:tcPr marL="175250" marR="175250" marT="175250" marB="175250">
                    <a:lnL w="12700" cmpd="sng">
                      <a:noFill/>
                      <a:prstDash val="solid"/>
                    </a:lnL>
                    <a:lnR w="12700" cmpd="sng">
                      <a:noFill/>
                      <a:prstDash val="solid"/>
                    </a:lnR>
                    <a:lnT w="38100" cmpd="sng">
                      <a:noFill/>
                    </a:lnT>
                    <a:lnB w="12700" cmpd="sng">
                      <a:noFill/>
                      <a:prstDash val="solid"/>
                    </a:lnB>
                    <a:noFill/>
                  </a:tcPr>
                </a:tc>
                <a:tc>
                  <a:txBody>
                    <a:bodyPr/>
                    <a:lstStyle/>
                    <a:p>
                      <a:r>
                        <a:rPr sz="1700" cap="none" spc="0" dirty="0">
                          <a:solidFill>
                            <a:schemeClr val="tx1"/>
                          </a:solidFill>
                        </a:rPr>
                        <a:t>Fast to train; interpretable features; low compute</a:t>
                      </a:r>
                    </a:p>
                  </a:txBody>
                  <a:tcPr marL="175250" marR="175250" marT="175250" marB="175250">
                    <a:lnL w="12700" cmpd="sng">
                      <a:noFill/>
                      <a:prstDash val="solid"/>
                    </a:lnL>
                    <a:lnR w="12700" cmpd="sng">
                      <a:noFill/>
                      <a:prstDash val="solid"/>
                    </a:lnR>
                    <a:lnT w="38100" cmpd="sng">
                      <a:noFill/>
                    </a:lnT>
                    <a:lnB w="12700" cmpd="sng">
                      <a:noFill/>
                      <a:prstDash val="solid"/>
                    </a:lnB>
                    <a:noFill/>
                  </a:tcPr>
                </a:tc>
                <a:tc>
                  <a:txBody>
                    <a:bodyPr/>
                    <a:lstStyle/>
                    <a:p>
                      <a:r>
                        <a:rPr sz="1700" cap="none" spc="0" dirty="0">
                          <a:solidFill>
                            <a:schemeClr val="tx1"/>
                          </a:solidFill>
                        </a:rPr>
                        <a:t>Lower accuracy on complex textures; feature engineering needed</a:t>
                      </a:r>
                    </a:p>
                  </a:txBody>
                  <a:tcPr marL="175250" marR="175250" marT="175250" marB="175250">
                    <a:lnL w="12700" cmpd="sng">
                      <a:noFill/>
                      <a:prstDash val="solid"/>
                    </a:lnL>
                    <a:lnR w="12700" cmpd="sng">
                      <a:noFill/>
                      <a:prstDash val="solid"/>
                    </a:lnR>
                    <a:lnT w="38100" cmpd="sng">
                      <a:noFill/>
                    </a:lnT>
                    <a:lnB w="12700" cmpd="sng">
                      <a:noFill/>
                      <a:prstDash val="solid"/>
                    </a:lnB>
                    <a:noFill/>
                  </a:tcPr>
                </a:tc>
                <a:tc>
                  <a:txBody>
                    <a:bodyPr/>
                    <a:lstStyle/>
                    <a:p>
                      <a:r>
                        <a:rPr sz="1700" cap="none" spc="0" dirty="0">
                          <a:solidFill>
                            <a:schemeClr val="tx1"/>
                          </a:solidFill>
                        </a:rPr>
                        <a:t>Compute is limited; need simple, small models</a:t>
                      </a:r>
                    </a:p>
                  </a:txBody>
                  <a:tcPr marL="175250" marR="175250" marT="175250" marB="175250">
                    <a:lnL w="12700" cmpd="sng">
                      <a:noFill/>
                      <a:prstDash val="solid"/>
                    </a:lnL>
                    <a:lnR w="12700" cmpd="sng">
                      <a:noFill/>
                      <a:prstDash val="solid"/>
                    </a:lnR>
                    <a:lnT w="38100" cmpd="sng">
                      <a:noFill/>
                    </a:lnT>
                    <a:lnB w="12700" cmpd="sng">
                      <a:noFill/>
                      <a:prstDash val="solid"/>
                    </a:lnB>
                    <a:noFill/>
                  </a:tcPr>
                </a:tc>
                <a:extLst>
                  <a:ext uri="{0D108BD9-81ED-4DB2-BD59-A6C34878D82A}">
                    <a16:rowId xmlns:a16="http://schemas.microsoft.com/office/drawing/2014/main" val="10001"/>
                  </a:ext>
                </a:extLst>
              </a:tr>
              <a:tr h="1156647">
                <a:tc>
                  <a:txBody>
                    <a:bodyPr/>
                    <a:lstStyle/>
                    <a:p>
                      <a:r>
                        <a:rPr sz="1700" cap="none" spc="0" dirty="0">
                          <a:solidFill>
                            <a:schemeClr val="tx1"/>
                          </a:solidFill>
                        </a:rPr>
                        <a:t>Compact CNN (Your Track)</a:t>
                      </a:r>
                    </a:p>
                  </a:txBody>
                  <a:tcPr marL="175250" marR="175250" marT="175250" marB="175250">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r>
                        <a:rPr sz="1700" cap="none" spc="0" dirty="0">
                          <a:solidFill>
                            <a:schemeClr val="tx1"/>
                          </a:solidFill>
                        </a:rPr>
                        <a:t>Strong accuracy with modest params; end-to-end learning</a:t>
                      </a:r>
                    </a:p>
                  </a:txBody>
                  <a:tcPr marL="175250" marR="175250" marT="175250" marB="175250">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r>
                        <a:rPr sz="1700" cap="none" spc="0" dirty="0">
                          <a:solidFill>
                            <a:schemeClr val="tx1"/>
                          </a:solidFill>
                        </a:rPr>
                        <a:t>Requires GPU to train efficiently; data hungry without augmentation</a:t>
                      </a:r>
                    </a:p>
                  </a:txBody>
                  <a:tcPr marL="175250" marR="175250" marT="175250" marB="175250">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r>
                        <a:rPr sz="1700" cap="none" spc="0" dirty="0">
                          <a:solidFill>
                            <a:schemeClr val="tx1"/>
                          </a:solidFill>
                        </a:rPr>
                        <a:t>Balanced constraints: decent accuracy + moderate latency</a:t>
                      </a:r>
                    </a:p>
                  </a:txBody>
                  <a:tcPr marL="175250" marR="175250" marT="175250" marB="175250">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extLst>
                  <a:ext uri="{0D108BD9-81ED-4DB2-BD59-A6C34878D82A}">
                    <a16:rowId xmlns:a16="http://schemas.microsoft.com/office/drawing/2014/main" val="10002"/>
                  </a:ext>
                </a:extLst>
              </a:tr>
              <a:tr h="1156647">
                <a:tc>
                  <a:txBody>
                    <a:bodyPr/>
                    <a:lstStyle/>
                    <a:p>
                      <a:r>
                        <a:rPr sz="1700" cap="none" spc="0" dirty="0">
                          <a:solidFill>
                            <a:schemeClr val="tx1"/>
                          </a:solidFill>
                        </a:rPr>
                        <a:t>Transfer Learning (e.g., </a:t>
                      </a:r>
                      <a:r>
                        <a:rPr sz="1700" cap="none" spc="0" dirty="0" err="1">
                          <a:solidFill>
                            <a:schemeClr val="tx1"/>
                          </a:solidFill>
                        </a:rPr>
                        <a:t>MobileNet</a:t>
                      </a:r>
                      <a:r>
                        <a:rPr sz="1700" cap="none" spc="0" dirty="0">
                          <a:solidFill>
                            <a:schemeClr val="tx1"/>
                          </a:solidFill>
                        </a:rPr>
                        <a:t>/</a:t>
                      </a:r>
                      <a:r>
                        <a:rPr sz="1700" cap="none" spc="0" dirty="0" err="1">
                          <a:solidFill>
                            <a:schemeClr val="tx1"/>
                          </a:solidFill>
                        </a:rPr>
                        <a:t>EfficientNet</a:t>
                      </a:r>
                      <a:r>
                        <a:rPr sz="1700" cap="none" spc="0" dirty="0">
                          <a:solidFill>
                            <a:schemeClr val="tx1"/>
                          </a:solidFill>
                        </a:rPr>
                        <a:t>)</a:t>
                      </a:r>
                    </a:p>
                  </a:txBody>
                  <a:tcPr marL="175250" marR="175250" marT="175250" marB="175250">
                    <a:lnL w="12700" cmpd="sng">
                      <a:noFill/>
                      <a:prstDash val="solid"/>
                    </a:lnL>
                    <a:lnR w="12700" cmpd="sng">
                      <a:noFill/>
                      <a:prstDash val="solid"/>
                    </a:lnR>
                    <a:lnT w="12700" cmpd="sng">
                      <a:noFill/>
                      <a:prstDash val="solid"/>
                    </a:lnT>
                    <a:lnB w="12700" cmpd="sng">
                      <a:noFill/>
                      <a:prstDash val="solid"/>
                    </a:lnB>
                    <a:noFill/>
                  </a:tcPr>
                </a:tc>
                <a:tc>
                  <a:txBody>
                    <a:bodyPr/>
                    <a:lstStyle/>
                    <a:p>
                      <a:r>
                        <a:rPr sz="1700" cap="none" spc="0" dirty="0">
                          <a:solidFill>
                            <a:schemeClr val="tx1"/>
                          </a:solidFill>
                        </a:rPr>
                        <a:t>High accuracy with fewer epochs; benefits from pretraining</a:t>
                      </a:r>
                    </a:p>
                  </a:txBody>
                  <a:tcPr marL="175250" marR="175250" marT="175250" marB="175250">
                    <a:lnL w="12700" cmpd="sng">
                      <a:noFill/>
                      <a:prstDash val="solid"/>
                    </a:lnL>
                    <a:lnR w="12700" cmpd="sng">
                      <a:noFill/>
                      <a:prstDash val="solid"/>
                    </a:lnR>
                    <a:lnT w="12700" cmpd="sng">
                      <a:noFill/>
                      <a:prstDash val="solid"/>
                    </a:lnT>
                    <a:lnB w="12700" cmpd="sng">
                      <a:noFill/>
                      <a:prstDash val="solid"/>
                    </a:lnB>
                    <a:noFill/>
                  </a:tcPr>
                </a:tc>
                <a:tc>
                  <a:txBody>
                    <a:bodyPr/>
                    <a:lstStyle/>
                    <a:p>
                      <a:r>
                        <a:rPr sz="1700" cap="none" spc="0" dirty="0">
                          <a:solidFill>
                            <a:schemeClr val="tx1"/>
                          </a:solidFill>
                        </a:rPr>
                        <a:t>Risk of overfitting to small images; careful fine-tuning needed</a:t>
                      </a:r>
                    </a:p>
                  </a:txBody>
                  <a:tcPr marL="175250" marR="175250" marT="175250" marB="175250">
                    <a:lnL w="12700" cmpd="sng">
                      <a:noFill/>
                      <a:prstDash val="solid"/>
                    </a:lnL>
                    <a:lnR w="12700" cmpd="sng">
                      <a:noFill/>
                      <a:prstDash val="solid"/>
                    </a:lnR>
                    <a:lnT w="12700" cmpd="sng">
                      <a:noFill/>
                      <a:prstDash val="solid"/>
                    </a:lnT>
                    <a:lnB w="12700" cmpd="sng">
                      <a:noFill/>
                      <a:prstDash val="solid"/>
                    </a:lnB>
                    <a:noFill/>
                  </a:tcPr>
                </a:tc>
                <a:tc>
                  <a:txBody>
                    <a:bodyPr/>
                    <a:lstStyle/>
                    <a:p>
                      <a:r>
                        <a:rPr sz="1700" cap="none" spc="0" dirty="0">
                          <a:solidFill>
                            <a:schemeClr val="tx1"/>
                          </a:solidFill>
                        </a:rPr>
                        <a:t>Limited time; want strong baseline quickly</a:t>
                      </a:r>
                    </a:p>
                  </a:txBody>
                  <a:tcPr marL="175250" marR="175250" marT="175250" marB="175250">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0003"/>
                  </a:ext>
                </a:extLst>
              </a:tr>
            </a:tbl>
          </a:graphicData>
        </a:graphic>
      </p:graphicFrame>
      <p:sp>
        <p:nvSpPr>
          <p:cNvPr id="8" name="TextBox 7">
            <a:extLst>
              <a:ext uri="{FF2B5EF4-FFF2-40B4-BE49-F238E27FC236}">
                <a16:creationId xmlns:a16="http://schemas.microsoft.com/office/drawing/2014/main" id="{0CBAB64C-8701-FA5E-D8E0-4AFEDAF69557}"/>
              </a:ext>
            </a:extLst>
          </p:cNvPr>
          <p:cNvSpPr txBox="1"/>
          <p:nvPr/>
        </p:nvSpPr>
        <p:spPr>
          <a:xfrm>
            <a:off x="1670670" y="288485"/>
            <a:ext cx="7285407" cy="538609"/>
          </a:xfrm>
          <a:prstGeom prst="rect">
            <a:avLst/>
          </a:prstGeom>
          <a:noFill/>
        </p:spPr>
        <p:txBody>
          <a:bodyPr wrap="square">
            <a:spAutoFit/>
          </a:bodyPr>
          <a:lstStyle/>
          <a:p>
            <a:r>
              <a:rPr lang="en-US" sz="2900" b="1" dirty="0">
                <a:solidFill>
                  <a:srgbClr val="000000"/>
                </a:solidFill>
                <a:latin typeface="Inter Bold" pitchFamily="34" charset="0"/>
                <a:ea typeface="Inter Bold" pitchFamily="34" charset="-122"/>
              </a:rPr>
              <a:t>Comparative Insights Across Approaches</a:t>
            </a:r>
            <a:endParaRPr lang="en-GB" sz="2900" b="1" dirty="0">
              <a:solidFill>
                <a:srgbClr val="000000"/>
              </a:solidFill>
              <a:latin typeface="Inter Bold" pitchFamily="34" charset="0"/>
              <a:ea typeface="Inter Bold" pitchFamily="34" charset="-122"/>
            </a:endParaRPr>
          </a:p>
        </p:txBody>
      </p:sp>
      <p:pic>
        <p:nvPicPr>
          <p:cNvPr id="18" name="Audio 17">
            <a:extLst>
              <a:ext uri="{FF2B5EF4-FFF2-40B4-BE49-F238E27FC236}">
                <a16:creationId xmlns:a16="http://schemas.microsoft.com/office/drawing/2014/main" id="{C24CF4C1-C198-C7B3-40E2-DD7864EB466A}"/>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963584347"/>
      </p:ext>
    </p:extLst>
  </p:cSld>
  <p:clrMapOvr>
    <a:masterClrMapping/>
  </p:clrMapOvr>
  <mc:AlternateContent xmlns:mc="http://schemas.openxmlformats.org/markup-compatibility/2006">
    <mc:Choice xmlns:p14="http://schemas.microsoft.com/office/powerpoint/2010/main" Requires="p14">
      <p:transition spd="slow" p14:dur="2000" advTm="73676"/>
    </mc:Choice>
    <mc:Fallback>
      <p:transition spd="slow" advTm="7367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8"/>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2C287AF2-34AC-2BB3-29CB-04A664736930}"/>
              </a:ext>
            </a:extLst>
          </p:cNvPr>
          <p:cNvSpPr/>
          <p:nvPr/>
        </p:nvSpPr>
        <p:spPr>
          <a:xfrm>
            <a:off x="263962" y="120968"/>
            <a:ext cx="5499497" cy="412909"/>
          </a:xfrm>
          <a:prstGeom prst="rect">
            <a:avLst/>
          </a:prstGeom>
          <a:noFill/>
          <a:ln/>
        </p:spPr>
        <p:txBody>
          <a:bodyPr wrap="none" lIns="0" tIns="0" rIns="0" bIns="0" rtlCol="0" anchor="t"/>
          <a:lstStyle/>
          <a:p>
            <a:pPr marL="0" indent="0" algn="l">
              <a:lnSpc>
                <a:spcPts val="3250"/>
              </a:lnSpc>
              <a:buNone/>
            </a:pPr>
            <a:r>
              <a:rPr lang="en-US" sz="2900" b="1" dirty="0">
                <a:solidFill>
                  <a:srgbClr val="000000"/>
                </a:solidFill>
                <a:latin typeface="Inter Bold" pitchFamily="34" charset="0"/>
                <a:ea typeface="Inter Bold" pitchFamily="34" charset="-122"/>
                <a:cs typeface="Inter Bold" pitchFamily="34" charset="-120"/>
              </a:rPr>
              <a:t>Final Test Performance Evaluation</a:t>
            </a:r>
            <a:endParaRPr lang="en-US" sz="2900" dirty="0"/>
          </a:p>
        </p:txBody>
      </p:sp>
      <p:sp>
        <p:nvSpPr>
          <p:cNvPr id="5" name="Text 1">
            <a:extLst>
              <a:ext uri="{FF2B5EF4-FFF2-40B4-BE49-F238E27FC236}">
                <a16:creationId xmlns:a16="http://schemas.microsoft.com/office/drawing/2014/main" id="{7362CAB0-43FC-5D89-665B-927CFB147F6C}"/>
              </a:ext>
            </a:extLst>
          </p:cNvPr>
          <p:cNvSpPr/>
          <p:nvPr/>
        </p:nvSpPr>
        <p:spPr>
          <a:xfrm>
            <a:off x="263962" y="798195"/>
            <a:ext cx="11465837" cy="256342"/>
          </a:xfrm>
          <a:prstGeom prst="rect">
            <a:avLst/>
          </a:prstGeom>
          <a:noFill/>
          <a:ln/>
        </p:spPr>
        <p:txBody>
          <a:bodyPr wrap="none" lIns="0" tIns="0" rIns="0" bIns="0" rtlCol="0" anchor="t"/>
          <a:lstStyle/>
          <a:p>
            <a:pPr marL="0" indent="0" algn="l">
              <a:lnSpc>
                <a:spcPts val="1650"/>
              </a:lnSpc>
              <a:buNone/>
            </a:pPr>
            <a:r>
              <a:rPr lang="en-US" sz="1200" dirty="0">
                <a:solidFill>
                  <a:srgbClr val="272525"/>
                </a:solidFill>
                <a:latin typeface="Inter" pitchFamily="34" charset="0"/>
                <a:ea typeface="Inter" pitchFamily="34" charset="-122"/>
                <a:cs typeface="Inter" pitchFamily="34" charset="-120"/>
              </a:rPr>
              <a:t>Final performance is measured using the unseen 10,000 image test set and evaluated using comprehensive classification metrics.</a:t>
            </a:r>
            <a:endParaRPr lang="en-US" sz="1200" dirty="0"/>
          </a:p>
        </p:txBody>
      </p:sp>
      <p:sp>
        <p:nvSpPr>
          <p:cNvPr id="6" name="Shape 2">
            <a:extLst>
              <a:ext uri="{FF2B5EF4-FFF2-40B4-BE49-F238E27FC236}">
                <a16:creationId xmlns:a16="http://schemas.microsoft.com/office/drawing/2014/main" id="{2F6A6649-B268-60E1-221C-DFB8C1675B18}"/>
              </a:ext>
            </a:extLst>
          </p:cNvPr>
          <p:cNvSpPr/>
          <p:nvPr/>
        </p:nvSpPr>
        <p:spPr>
          <a:xfrm>
            <a:off x="263963" y="1158240"/>
            <a:ext cx="11516558" cy="1556385"/>
          </a:xfrm>
          <a:prstGeom prst="roundRect">
            <a:avLst>
              <a:gd name="adj" fmla="val 3567"/>
            </a:avLst>
          </a:prstGeom>
          <a:noFill/>
          <a:ln w="7620">
            <a:solidFill>
              <a:srgbClr val="000000">
                <a:alpha val="8000"/>
              </a:srgbClr>
            </a:solidFill>
            <a:prstDash val="solid"/>
          </a:ln>
        </p:spPr>
        <p:txBody>
          <a:bodyPr/>
          <a:lstStyle/>
          <a:p>
            <a:endParaRPr lang="en-US" dirty="0"/>
          </a:p>
        </p:txBody>
      </p:sp>
      <p:sp>
        <p:nvSpPr>
          <p:cNvPr id="7" name="Shape 3">
            <a:extLst>
              <a:ext uri="{FF2B5EF4-FFF2-40B4-BE49-F238E27FC236}">
                <a16:creationId xmlns:a16="http://schemas.microsoft.com/office/drawing/2014/main" id="{5352B28E-4ACA-C1AB-67E5-DDE36B9F7E0C}"/>
              </a:ext>
            </a:extLst>
          </p:cNvPr>
          <p:cNvSpPr/>
          <p:nvPr/>
        </p:nvSpPr>
        <p:spPr>
          <a:xfrm>
            <a:off x="271583" y="1165860"/>
            <a:ext cx="11516558" cy="385286"/>
          </a:xfrm>
          <a:prstGeom prst="rect">
            <a:avLst/>
          </a:prstGeom>
          <a:solidFill>
            <a:srgbClr val="FFFFFF">
              <a:alpha val="4000"/>
            </a:srgbClr>
          </a:solidFill>
          <a:ln/>
        </p:spPr>
        <p:txBody>
          <a:bodyPr/>
          <a:lstStyle/>
          <a:p>
            <a:endParaRPr lang="en-US" dirty="0"/>
          </a:p>
        </p:txBody>
      </p:sp>
      <p:sp>
        <p:nvSpPr>
          <p:cNvPr id="8" name="Text 4">
            <a:extLst>
              <a:ext uri="{FF2B5EF4-FFF2-40B4-BE49-F238E27FC236}">
                <a16:creationId xmlns:a16="http://schemas.microsoft.com/office/drawing/2014/main" id="{9D0411F5-BE11-0E56-5EFB-892DE941A323}"/>
              </a:ext>
            </a:extLst>
          </p:cNvPr>
          <p:cNvSpPr/>
          <p:nvPr/>
        </p:nvSpPr>
        <p:spPr>
          <a:xfrm>
            <a:off x="403860" y="1252776"/>
            <a:ext cx="3689390" cy="211455"/>
          </a:xfrm>
          <a:prstGeom prst="rect">
            <a:avLst/>
          </a:prstGeom>
          <a:noFill/>
          <a:ln/>
        </p:spPr>
        <p:txBody>
          <a:bodyPr wrap="none" lIns="0" tIns="0" rIns="0" bIns="0" rtlCol="0" anchor="t"/>
          <a:lstStyle/>
          <a:p>
            <a:pPr marL="0" indent="0" algn="l">
              <a:lnSpc>
                <a:spcPts val="1650"/>
              </a:lnSpc>
              <a:buNone/>
            </a:pPr>
            <a:r>
              <a:rPr lang="en-US" sz="1000" dirty="0">
                <a:solidFill>
                  <a:srgbClr val="272525"/>
                </a:solidFill>
                <a:latin typeface="Inter" pitchFamily="34" charset="0"/>
                <a:ea typeface="Inter" pitchFamily="34" charset="-122"/>
                <a:cs typeface="Inter" pitchFamily="34" charset="-120"/>
              </a:rPr>
              <a:t>Accuracy</a:t>
            </a:r>
            <a:endParaRPr lang="en-US" sz="1000" dirty="0"/>
          </a:p>
        </p:txBody>
      </p:sp>
      <p:sp>
        <p:nvSpPr>
          <p:cNvPr id="9" name="Text 5">
            <a:extLst>
              <a:ext uri="{FF2B5EF4-FFF2-40B4-BE49-F238E27FC236}">
                <a16:creationId xmlns:a16="http://schemas.microsoft.com/office/drawing/2014/main" id="{ADE72AEA-D75E-1C6C-415D-150BE2BC6C50}"/>
              </a:ext>
            </a:extLst>
          </p:cNvPr>
          <p:cNvSpPr/>
          <p:nvPr/>
        </p:nvSpPr>
        <p:spPr>
          <a:xfrm>
            <a:off x="4365188" y="1252776"/>
            <a:ext cx="8966121" cy="211455"/>
          </a:xfrm>
          <a:prstGeom prst="rect">
            <a:avLst/>
          </a:prstGeom>
          <a:noFill/>
          <a:ln/>
        </p:spPr>
        <p:txBody>
          <a:bodyPr wrap="none" lIns="0" tIns="0" rIns="0" bIns="0" rtlCol="0" anchor="t"/>
          <a:lstStyle/>
          <a:p>
            <a:pPr marL="0" indent="0" algn="l">
              <a:lnSpc>
                <a:spcPts val="1650"/>
              </a:lnSpc>
              <a:buNone/>
            </a:pPr>
            <a:r>
              <a:rPr lang="en-US" sz="1000" dirty="0">
                <a:solidFill>
                  <a:srgbClr val="272525"/>
                </a:solidFill>
                <a:latin typeface="Inter" pitchFamily="34" charset="0"/>
                <a:ea typeface="Inter" pitchFamily="34" charset="-122"/>
                <a:cs typeface="Inter" pitchFamily="34" charset="-120"/>
              </a:rPr>
              <a:t>92.5%</a:t>
            </a:r>
            <a:endParaRPr lang="en-US" sz="1000" dirty="0"/>
          </a:p>
        </p:txBody>
      </p:sp>
      <p:sp>
        <p:nvSpPr>
          <p:cNvPr id="10" name="Shape 6">
            <a:extLst>
              <a:ext uri="{FF2B5EF4-FFF2-40B4-BE49-F238E27FC236}">
                <a16:creationId xmlns:a16="http://schemas.microsoft.com/office/drawing/2014/main" id="{EDDD5826-AF3F-A0BF-39B9-AB6DB16784F6}"/>
              </a:ext>
            </a:extLst>
          </p:cNvPr>
          <p:cNvSpPr/>
          <p:nvPr/>
        </p:nvSpPr>
        <p:spPr>
          <a:xfrm>
            <a:off x="271583" y="1551146"/>
            <a:ext cx="11516558" cy="385286"/>
          </a:xfrm>
          <a:prstGeom prst="rect">
            <a:avLst/>
          </a:prstGeom>
          <a:solidFill>
            <a:srgbClr val="000000">
              <a:alpha val="4000"/>
            </a:srgbClr>
          </a:solidFill>
          <a:ln/>
        </p:spPr>
        <p:txBody>
          <a:bodyPr/>
          <a:lstStyle/>
          <a:p>
            <a:endParaRPr lang="en-US" dirty="0"/>
          </a:p>
        </p:txBody>
      </p:sp>
      <p:sp>
        <p:nvSpPr>
          <p:cNvPr id="11" name="Text 7">
            <a:extLst>
              <a:ext uri="{FF2B5EF4-FFF2-40B4-BE49-F238E27FC236}">
                <a16:creationId xmlns:a16="http://schemas.microsoft.com/office/drawing/2014/main" id="{E5A1D01B-B2F7-198E-1906-A45E0483FCAE}"/>
              </a:ext>
            </a:extLst>
          </p:cNvPr>
          <p:cNvSpPr/>
          <p:nvPr/>
        </p:nvSpPr>
        <p:spPr>
          <a:xfrm>
            <a:off x="403860" y="1638062"/>
            <a:ext cx="3689390" cy="211455"/>
          </a:xfrm>
          <a:prstGeom prst="rect">
            <a:avLst/>
          </a:prstGeom>
          <a:noFill/>
          <a:ln/>
        </p:spPr>
        <p:txBody>
          <a:bodyPr wrap="none" lIns="0" tIns="0" rIns="0" bIns="0" rtlCol="0" anchor="t"/>
          <a:lstStyle/>
          <a:p>
            <a:pPr marL="0" indent="0" algn="l">
              <a:lnSpc>
                <a:spcPts val="1650"/>
              </a:lnSpc>
              <a:buNone/>
            </a:pPr>
            <a:r>
              <a:rPr lang="en-US" sz="1000" dirty="0">
                <a:solidFill>
                  <a:srgbClr val="272525"/>
                </a:solidFill>
                <a:latin typeface="Inter" pitchFamily="34" charset="0"/>
                <a:ea typeface="Inter" pitchFamily="34" charset="-122"/>
                <a:cs typeface="Inter" pitchFamily="34" charset="-120"/>
              </a:rPr>
              <a:t>Macro-Precision</a:t>
            </a:r>
            <a:endParaRPr lang="en-US" sz="1000" dirty="0"/>
          </a:p>
        </p:txBody>
      </p:sp>
      <p:sp>
        <p:nvSpPr>
          <p:cNvPr id="12" name="Text 8">
            <a:extLst>
              <a:ext uri="{FF2B5EF4-FFF2-40B4-BE49-F238E27FC236}">
                <a16:creationId xmlns:a16="http://schemas.microsoft.com/office/drawing/2014/main" id="{054F2403-D4DF-B0D6-939E-685E7F26DA5F}"/>
              </a:ext>
            </a:extLst>
          </p:cNvPr>
          <p:cNvSpPr/>
          <p:nvPr/>
        </p:nvSpPr>
        <p:spPr>
          <a:xfrm>
            <a:off x="4365188" y="1638062"/>
            <a:ext cx="8966121" cy="211455"/>
          </a:xfrm>
          <a:prstGeom prst="rect">
            <a:avLst/>
          </a:prstGeom>
          <a:noFill/>
          <a:ln/>
        </p:spPr>
        <p:txBody>
          <a:bodyPr wrap="none" lIns="0" tIns="0" rIns="0" bIns="0" rtlCol="0" anchor="t"/>
          <a:lstStyle/>
          <a:p>
            <a:pPr marL="0" indent="0" algn="l">
              <a:lnSpc>
                <a:spcPts val="1650"/>
              </a:lnSpc>
              <a:buNone/>
            </a:pPr>
            <a:r>
              <a:rPr lang="en-US" sz="1000" dirty="0">
                <a:solidFill>
                  <a:srgbClr val="272525"/>
                </a:solidFill>
                <a:latin typeface="Inter" pitchFamily="34" charset="0"/>
                <a:ea typeface="Inter" pitchFamily="34" charset="-122"/>
                <a:cs typeface="Inter" pitchFamily="34" charset="-120"/>
              </a:rPr>
              <a:t>92.3%</a:t>
            </a:r>
            <a:endParaRPr lang="en-US" sz="1000" dirty="0"/>
          </a:p>
        </p:txBody>
      </p:sp>
      <p:sp>
        <p:nvSpPr>
          <p:cNvPr id="13" name="Shape 9">
            <a:extLst>
              <a:ext uri="{FF2B5EF4-FFF2-40B4-BE49-F238E27FC236}">
                <a16:creationId xmlns:a16="http://schemas.microsoft.com/office/drawing/2014/main" id="{41D40599-0818-09AB-BBEB-A74E94FDD25C}"/>
              </a:ext>
            </a:extLst>
          </p:cNvPr>
          <p:cNvSpPr/>
          <p:nvPr/>
        </p:nvSpPr>
        <p:spPr>
          <a:xfrm>
            <a:off x="271582" y="1936433"/>
            <a:ext cx="13191887" cy="385286"/>
          </a:xfrm>
          <a:prstGeom prst="rect">
            <a:avLst/>
          </a:prstGeom>
          <a:solidFill>
            <a:srgbClr val="FFFFFF">
              <a:alpha val="4000"/>
            </a:srgbClr>
          </a:solidFill>
          <a:ln/>
        </p:spPr>
        <p:txBody>
          <a:bodyPr/>
          <a:lstStyle/>
          <a:p>
            <a:endParaRPr lang="en-US" dirty="0"/>
          </a:p>
        </p:txBody>
      </p:sp>
      <p:sp>
        <p:nvSpPr>
          <p:cNvPr id="14" name="Text 10">
            <a:extLst>
              <a:ext uri="{FF2B5EF4-FFF2-40B4-BE49-F238E27FC236}">
                <a16:creationId xmlns:a16="http://schemas.microsoft.com/office/drawing/2014/main" id="{D118CE2D-3C34-98C4-A842-1EFF0AF70991}"/>
              </a:ext>
            </a:extLst>
          </p:cNvPr>
          <p:cNvSpPr/>
          <p:nvPr/>
        </p:nvSpPr>
        <p:spPr>
          <a:xfrm>
            <a:off x="403860" y="2023348"/>
            <a:ext cx="3689390" cy="211455"/>
          </a:xfrm>
          <a:prstGeom prst="rect">
            <a:avLst/>
          </a:prstGeom>
          <a:noFill/>
          <a:ln/>
        </p:spPr>
        <p:txBody>
          <a:bodyPr wrap="none" lIns="0" tIns="0" rIns="0" bIns="0" rtlCol="0" anchor="t"/>
          <a:lstStyle/>
          <a:p>
            <a:pPr marL="0" indent="0" algn="l">
              <a:lnSpc>
                <a:spcPts val="1650"/>
              </a:lnSpc>
              <a:buNone/>
            </a:pPr>
            <a:r>
              <a:rPr lang="en-US" sz="1000" dirty="0">
                <a:solidFill>
                  <a:srgbClr val="272525"/>
                </a:solidFill>
                <a:latin typeface="Inter" pitchFamily="34" charset="0"/>
                <a:ea typeface="Inter" pitchFamily="34" charset="-122"/>
                <a:cs typeface="Inter" pitchFamily="34" charset="-120"/>
              </a:rPr>
              <a:t>Macro-Recall</a:t>
            </a:r>
            <a:endParaRPr lang="en-US" sz="1000" dirty="0"/>
          </a:p>
        </p:txBody>
      </p:sp>
      <p:sp>
        <p:nvSpPr>
          <p:cNvPr id="15" name="Text 11">
            <a:extLst>
              <a:ext uri="{FF2B5EF4-FFF2-40B4-BE49-F238E27FC236}">
                <a16:creationId xmlns:a16="http://schemas.microsoft.com/office/drawing/2014/main" id="{1360DAE9-C072-0A79-AD2F-7CB3A489FC38}"/>
              </a:ext>
            </a:extLst>
          </p:cNvPr>
          <p:cNvSpPr/>
          <p:nvPr/>
        </p:nvSpPr>
        <p:spPr>
          <a:xfrm>
            <a:off x="4365188" y="2023348"/>
            <a:ext cx="8966121" cy="211455"/>
          </a:xfrm>
          <a:prstGeom prst="rect">
            <a:avLst/>
          </a:prstGeom>
          <a:noFill/>
          <a:ln/>
        </p:spPr>
        <p:txBody>
          <a:bodyPr wrap="none" lIns="0" tIns="0" rIns="0" bIns="0" rtlCol="0" anchor="t"/>
          <a:lstStyle/>
          <a:p>
            <a:pPr marL="0" indent="0" algn="l">
              <a:lnSpc>
                <a:spcPts val="1650"/>
              </a:lnSpc>
              <a:buNone/>
            </a:pPr>
            <a:r>
              <a:rPr lang="en-US" sz="1000" dirty="0">
                <a:solidFill>
                  <a:srgbClr val="272525"/>
                </a:solidFill>
                <a:latin typeface="Inter" pitchFamily="34" charset="0"/>
                <a:ea typeface="Inter" pitchFamily="34" charset="-122"/>
                <a:cs typeface="Inter" pitchFamily="34" charset="-120"/>
              </a:rPr>
              <a:t>92.6%</a:t>
            </a:r>
            <a:endParaRPr lang="en-US" sz="1000" dirty="0"/>
          </a:p>
        </p:txBody>
      </p:sp>
      <p:sp>
        <p:nvSpPr>
          <p:cNvPr id="16" name="Shape 12">
            <a:extLst>
              <a:ext uri="{FF2B5EF4-FFF2-40B4-BE49-F238E27FC236}">
                <a16:creationId xmlns:a16="http://schemas.microsoft.com/office/drawing/2014/main" id="{153FCCD1-2932-8AC2-BB0A-9CB6095D3700}"/>
              </a:ext>
            </a:extLst>
          </p:cNvPr>
          <p:cNvSpPr/>
          <p:nvPr/>
        </p:nvSpPr>
        <p:spPr>
          <a:xfrm>
            <a:off x="271583" y="2321719"/>
            <a:ext cx="11516558" cy="385286"/>
          </a:xfrm>
          <a:prstGeom prst="rect">
            <a:avLst/>
          </a:prstGeom>
          <a:solidFill>
            <a:srgbClr val="000000">
              <a:alpha val="4000"/>
            </a:srgbClr>
          </a:solidFill>
          <a:ln/>
        </p:spPr>
        <p:txBody>
          <a:bodyPr/>
          <a:lstStyle/>
          <a:p>
            <a:endParaRPr lang="en-US" dirty="0"/>
          </a:p>
        </p:txBody>
      </p:sp>
      <p:sp>
        <p:nvSpPr>
          <p:cNvPr id="17" name="Text 13">
            <a:extLst>
              <a:ext uri="{FF2B5EF4-FFF2-40B4-BE49-F238E27FC236}">
                <a16:creationId xmlns:a16="http://schemas.microsoft.com/office/drawing/2014/main" id="{33323ECA-7D77-65A8-A287-65BD66977940}"/>
              </a:ext>
            </a:extLst>
          </p:cNvPr>
          <p:cNvSpPr/>
          <p:nvPr/>
        </p:nvSpPr>
        <p:spPr>
          <a:xfrm>
            <a:off x="403860" y="2408634"/>
            <a:ext cx="3689390" cy="211455"/>
          </a:xfrm>
          <a:prstGeom prst="rect">
            <a:avLst/>
          </a:prstGeom>
          <a:noFill/>
          <a:ln/>
        </p:spPr>
        <p:txBody>
          <a:bodyPr wrap="none" lIns="0" tIns="0" rIns="0" bIns="0" rtlCol="0" anchor="t"/>
          <a:lstStyle/>
          <a:p>
            <a:pPr marL="0" indent="0" algn="l">
              <a:lnSpc>
                <a:spcPts val="1650"/>
              </a:lnSpc>
              <a:buNone/>
            </a:pPr>
            <a:r>
              <a:rPr lang="en-US" sz="1000" dirty="0">
                <a:solidFill>
                  <a:srgbClr val="272525"/>
                </a:solidFill>
                <a:latin typeface="Inter" pitchFamily="34" charset="0"/>
                <a:ea typeface="Inter" pitchFamily="34" charset="-122"/>
                <a:cs typeface="Inter" pitchFamily="34" charset="-120"/>
              </a:rPr>
              <a:t>Macro-F1 Score</a:t>
            </a:r>
            <a:endParaRPr lang="en-US" sz="1000" dirty="0"/>
          </a:p>
        </p:txBody>
      </p:sp>
      <p:sp>
        <p:nvSpPr>
          <p:cNvPr id="18" name="Text 14">
            <a:extLst>
              <a:ext uri="{FF2B5EF4-FFF2-40B4-BE49-F238E27FC236}">
                <a16:creationId xmlns:a16="http://schemas.microsoft.com/office/drawing/2014/main" id="{4B708CBA-5E1C-7BC0-8AB6-69DF273FD4AC}"/>
              </a:ext>
            </a:extLst>
          </p:cNvPr>
          <p:cNvSpPr/>
          <p:nvPr/>
        </p:nvSpPr>
        <p:spPr>
          <a:xfrm>
            <a:off x="4365188" y="2408634"/>
            <a:ext cx="8966121" cy="211455"/>
          </a:xfrm>
          <a:prstGeom prst="rect">
            <a:avLst/>
          </a:prstGeom>
          <a:noFill/>
          <a:ln/>
        </p:spPr>
        <p:txBody>
          <a:bodyPr wrap="none" lIns="0" tIns="0" rIns="0" bIns="0" rtlCol="0" anchor="t"/>
          <a:lstStyle/>
          <a:p>
            <a:pPr marL="0" indent="0" algn="l">
              <a:lnSpc>
                <a:spcPts val="1650"/>
              </a:lnSpc>
              <a:buNone/>
            </a:pPr>
            <a:r>
              <a:rPr lang="en-US" sz="1000" dirty="0">
                <a:solidFill>
                  <a:srgbClr val="272525"/>
                </a:solidFill>
                <a:latin typeface="Inter" pitchFamily="34" charset="0"/>
                <a:ea typeface="Inter" pitchFamily="34" charset="-122"/>
                <a:cs typeface="Inter" pitchFamily="34" charset="-120"/>
              </a:rPr>
              <a:t>92.4%</a:t>
            </a:r>
            <a:endParaRPr lang="en-US" sz="1000" dirty="0"/>
          </a:p>
        </p:txBody>
      </p:sp>
      <p:sp>
        <p:nvSpPr>
          <p:cNvPr id="19" name="Text 15">
            <a:extLst>
              <a:ext uri="{FF2B5EF4-FFF2-40B4-BE49-F238E27FC236}">
                <a16:creationId xmlns:a16="http://schemas.microsoft.com/office/drawing/2014/main" id="{151EF738-A293-6439-6B18-9B964D9746FD}"/>
              </a:ext>
            </a:extLst>
          </p:cNvPr>
          <p:cNvSpPr/>
          <p:nvPr/>
        </p:nvSpPr>
        <p:spPr>
          <a:xfrm>
            <a:off x="462201" y="3061454"/>
            <a:ext cx="2000964" cy="247769"/>
          </a:xfrm>
          <a:prstGeom prst="rect">
            <a:avLst/>
          </a:prstGeom>
          <a:noFill/>
          <a:ln/>
        </p:spPr>
        <p:txBody>
          <a:bodyPr wrap="none" lIns="0" tIns="0" rIns="0" bIns="0" rtlCol="0" anchor="t"/>
          <a:lstStyle/>
          <a:p>
            <a:pPr marL="0" indent="0" algn="l">
              <a:lnSpc>
                <a:spcPts val="1950"/>
              </a:lnSpc>
              <a:buNone/>
            </a:pPr>
            <a:r>
              <a:rPr lang="en-US" sz="1400" b="1" dirty="0">
                <a:solidFill>
                  <a:srgbClr val="000000"/>
                </a:solidFill>
                <a:latin typeface="Inter Bold" pitchFamily="34" charset="0"/>
                <a:ea typeface="Inter Bold" pitchFamily="34" charset="-122"/>
                <a:cs typeface="Inter Bold" pitchFamily="34" charset="-120"/>
              </a:rPr>
              <a:t>Why Macro Metrics?</a:t>
            </a:r>
            <a:endParaRPr lang="en-US" sz="1400" dirty="0"/>
          </a:p>
        </p:txBody>
      </p:sp>
      <p:sp>
        <p:nvSpPr>
          <p:cNvPr id="20" name="Text 16">
            <a:extLst>
              <a:ext uri="{FF2B5EF4-FFF2-40B4-BE49-F238E27FC236}">
                <a16:creationId xmlns:a16="http://schemas.microsoft.com/office/drawing/2014/main" id="{AC6EA616-8D3F-C1EE-58EA-5707B316E688}"/>
              </a:ext>
            </a:extLst>
          </p:cNvPr>
          <p:cNvSpPr/>
          <p:nvPr/>
        </p:nvSpPr>
        <p:spPr>
          <a:xfrm>
            <a:off x="462201" y="3507462"/>
            <a:ext cx="6988254" cy="422910"/>
          </a:xfrm>
          <a:prstGeom prst="rect">
            <a:avLst/>
          </a:prstGeom>
          <a:noFill/>
          <a:ln/>
        </p:spPr>
        <p:txBody>
          <a:bodyPr wrap="square" lIns="0" tIns="0" rIns="0" bIns="0" rtlCol="0" anchor="t"/>
          <a:lstStyle/>
          <a:p>
            <a:pPr marL="0" indent="0" algn="l">
              <a:lnSpc>
                <a:spcPts val="1650"/>
              </a:lnSpc>
              <a:buNone/>
            </a:pPr>
            <a:r>
              <a:rPr lang="en-US" sz="1200" dirty="0">
                <a:solidFill>
                  <a:srgbClr val="272525"/>
                </a:solidFill>
                <a:latin typeface="Inter" pitchFamily="34" charset="0"/>
                <a:ea typeface="Inter" pitchFamily="34" charset="-122"/>
                <a:cs typeface="Inter" pitchFamily="34" charset="-120"/>
              </a:rPr>
              <a:t>While the CIFAR-10 dataset is class-balanced, using macro-average metrics (Precision, Recall, F1) ensures that performance is measured equally across all 10 classes, not dominated by any potentially slightly over-represented or easier classes. This gives a truer picture of the model's overall efficacy across the entire label space.</a:t>
            </a:r>
            <a:endParaRPr lang="en-US" sz="1200" dirty="0"/>
          </a:p>
        </p:txBody>
      </p:sp>
      <p:sp>
        <p:nvSpPr>
          <p:cNvPr id="21" name="Shape 17">
            <a:extLst>
              <a:ext uri="{FF2B5EF4-FFF2-40B4-BE49-F238E27FC236}">
                <a16:creationId xmlns:a16="http://schemas.microsoft.com/office/drawing/2014/main" id="{FE9332C7-F242-58C2-BACE-10348935A0FB}"/>
              </a:ext>
            </a:extLst>
          </p:cNvPr>
          <p:cNvSpPr/>
          <p:nvPr/>
        </p:nvSpPr>
        <p:spPr>
          <a:xfrm>
            <a:off x="271582" y="3011805"/>
            <a:ext cx="15240" cy="1215747"/>
          </a:xfrm>
          <a:prstGeom prst="rect">
            <a:avLst/>
          </a:prstGeom>
          <a:solidFill>
            <a:srgbClr val="4950BC"/>
          </a:solidFill>
          <a:ln/>
        </p:spPr>
        <p:txBody>
          <a:bodyPr/>
          <a:lstStyle/>
          <a:p>
            <a:endParaRPr lang="en-US" dirty="0"/>
          </a:p>
        </p:txBody>
      </p:sp>
      <p:pic>
        <p:nvPicPr>
          <p:cNvPr id="22" name="Image 0" descr="preencoded.png">
            <a:extLst>
              <a:ext uri="{FF2B5EF4-FFF2-40B4-BE49-F238E27FC236}">
                <a16:creationId xmlns:a16="http://schemas.microsoft.com/office/drawing/2014/main" id="{0B88A8FF-DB6D-BE24-9F28-33A0F4A15CCA}"/>
              </a:ext>
            </a:extLst>
          </p:cNvPr>
          <p:cNvPicPr>
            <a:picLocks noChangeAspect="1"/>
          </p:cNvPicPr>
          <p:nvPr/>
        </p:nvPicPr>
        <p:blipFill>
          <a:blip r:embed="rId4"/>
          <a:stretch>
            <a:fillRect/>
          </a:stretch>
        </p:blipFill>
        <p:spPr>
          <a:xfrm>
            <a:off x="263962" y="4227552"/>
            <a:ext cx="7401758" cy="2354223"/>
          </a:xfrm>
          <a:prstGeom prst="rect">
            <a:avLst/>
          </a:prstGeom>
        </p:spPr>
      </p:pic>
      <p:pic>
        <p:nvPicPr>
          <p:cNvPr id="2" name="Picture 1" descr="metrics_summary.png">
            <a:extLst>
              <a:ext uri="{FF2B5EF4-FFF2-40B4-BE49-F238E27FC236}">
                <a16:creationId xmlns:a16="http://schemas.microsoft.com/office/drawing/2014/main" id="{1C06E95B-A8A9-21EA-369F-AC46DBFE2562}"/>
              </a:ext>
            </a:extLst>
          </p:cNvPr>
          <p:cNvPicPr>
            <a:picLocks noChangeAspect="1"/>
          </p:cNvPicPr>
          <p:nvPr/>
        </p:nvPicPr>
        <p:blipFill>
          <a:blip r:embed="rId5"/>
          <a:stretch>
            <a:fillRect/>
          </a:stretch>
        </p:blipFill>
        <p:spPr>
          <a:xfrm>
            <a:off x="7955696" y="2977158"/>
            <a:ext cx="4083903" cy="2722602"/>
          </a:xfrm>
          <a:prstGeom prst="rect">
            <a:avLst/>
          </a:prstGeom>
        </p:spPr>
      </p:pic>
      <p:pic>
        <p:nvPicPr>
          <p:cNvPr id="27" name="Audio 26">
            <a:extLst>
              <a:ext uri="{FF2B5EF4-FFF2-40B4-BE49-F238E27FC236}">
                <a16:creationId xmlns:a16="http://schemas.microsoft.com/office/drawing/2014/main" id="{A51DC816-CA81-2535-B7DD-AA7784638F7A}"/>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400367944"/>
      </p:ext>
    </p:extLst>
  </p:cSld>
  <p:clrMapOvr>
    <a:masterClrMapping/>
  </p:clrMapOvr>
  <mc:AlternateContent xmlns:mc="http://schemas.openxmlformats.org/markup-compatibility/2006">
    <mc:Choice xmlns:p14="http://schemas.microsoft.com/office/powerpoint/2010/main" Requires="p14">
      <p:transition spd="slow" p14:dur="2000" advTm="39195"/>
    </mc:Choice>
    <mc:Fallback>
      <p:transition spd="slow" advTm="3919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7"/>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2AD8C431-6AB8-089A-7FD3-A31349FBAF90}"/>
              </a:ext>
            </a:extLst>
          </p:cNvPr>
          <p:cNvSpPr>
            <a:spLocks noGrp="1"/>
          </p:cNvSpPr>
          <p:nvPr>
            <p:ph idx="1"/>
          </p:nvPr>
        </p:nvSpPr>
        <p:spPr>
          <a:xfrm>
            <a:off x="457200" y="1299410"/>
            <a:ext cx="10864516" cy="4525963"/>
          </a:xfrm>
        </p:spPr>
        <p:txBody>
          <a:bodyPr/>
          <a:lstStyle/>
          <a:p>
            <a:endParaRPr dirty="0"/>
          </a:p>
          <a:p>
            <a:r>
              <a:rPr sz="1800" dirty="0">
                <a:solidFill>
                  <a:srgbClr val="272525"/>
                </a:solidFill>
                <a:latin typeface="Inter" pitchFamily="34" charset="0"/>
                <a:ea typeface="Inter" pitchFamily="34" charset="-122"/>
              </a:rPr>
              <a:t>Augmentation strength materially affects </a:t>
            </a:r>
            <a:r>
              <a:rPr sz="1800" dirty="0" err="1">
                <a:solidFill>
                  <a:srgbClr val="272525"/>
                </a:solidFill>
                <a:latin typeface="Inter" pitchFamily="34" charset="0"/>
                <a:ea typeface="Inter" pitchFamily="34" charset="-122"/>
              </a:rPr>
              <a:t>generalisation</a:t>
            </a:r>
            <a:r>
              <a:rPr sz="1800" dirty="0">
                <a:solidFill>
                  <a:srgbClr val="272525"/>
                </a:solidFill>
                <a:latin typeface="Inter" pitchFamily="34" charset="0"/>
                <a:ea typeface="Inter" pitchFamily="34" charset="-122"/>
              </a:rPr>
              <a:t>; too strong harms fine-grained classes</a:t>
            </a:r>
          </a:p>
          <a:p>
            <a:r>
              <a:rPr sz="1800" dirty="0" err="1">
                <a:solidFill>
                  <a:srgbClr val="272525"/>
                </a:solidFill>
                <a:latin typeface="Inter" pitchFamily="34" charset="0"/>
                <a:ea typeface="Inter" pitchFamily="34" charset="-122"/>
              </a:rPr>
              <a:t>Regularisation</a:t>
            </a:r>
            <a:r>
              <a:rPr sz="1800" dirty="0">
                <a:solidFill>
                  <a:srgbClr val="272525"/>
                </a:solidFill>
                <a:latin typeface="Inter" pitchFamily="34" charset="0"/>
                <a:ea typeface="Inter" pitchFamily="34" charset="-122"/>
              </a:rPr>
              <a:t> (weight decay / dropout) </a:t>
            </a:r>
            <a:r>
              <a:rPr sz="1800" dirty="0" err="1">
                <a:solidFill>
                  <a:srgbClr val="272525"/>
                </a:solidFill>
                <a:latin typeface="Inter" pitchFamily="34" charset="0"/>
                <a:ea typeface="Inter" pitchFamily="34" charset="-122"/>
              </a:rPr>
              <a:t>stabilises</a:t>
            </a:r>
            <a:r>
              <a:rPr sz="1800" dirty="0">
                <a:solidFill>
                  <a:srgbClr val="272525"/>
                </a:solidFill>
                <a:latin typeface="Inter" pitchFamily="34" charset="0"/>
                <a:ea typeface="Inter" pitchFamily="34" charset="-122"/>
              </a:rPr>
              <a:t> training; marginal gains after a point</a:t>
            </a:r>
          </a:p>
          <a:p>
            <a:r>
              <a:rPr sz="1800" dirty="0">
                <a:solidFill>
                  <a:srgbClr val="272525"/>
                </a:solidFill>
                <a:latin typeface="Inter" pitchFamily="34" charset="0"/>
                <a:ea typeface="Inter" pitchFamily="34" charset="-122"/>
              </a:rPr>
              <a:t>Cosine LR schedule converged smoothly; early stopping avoided overfitting</a:t>
            </a:r>
          </a:p>
          <a:p>
            <a:r>
              <a:rPr sz="1800" dirty="0">
                <a:solidFill>
                  <a:srgbClr val="272525"/>
                </a:solidFill>
                <a:latin typeface="Inter" pitchFamily="34" charset="0"/>
                <a:ea typeface="Inter" pitchFamily="34" charset="-122"/>
              </a:rPr>
              <a:t>Next: try label smoothing and </a:t>
            </a:r>
            <a:r>
              <a:rPr sz="1800" dirty="0" err="1">
                <a:solidFill>
                  <a:srgbClr val="272525"/>
                </a:solidFill>
                <a:latin typeface="Inter" pitchFamily="34" charset="0"/>
                <a:ea typeface="Inter" pitchFamily="34" charset="-122"/>
              </a:rPr>
              <a:t>mixup</a:t>
            </a:r>
            <a:r>
              <a:rPr sz="1800" dirty="0">
                <a:solidFill>
                  <a:srgbClr val="272525"/>
                </a:solidFill>
                <a:latin typeface="Inter" pitchFamily="34" charset="0"/>
                <a:ea typeface="Inter" pitchFamily="34" charset="-122"/>
              </a:rPr>
              <a:t>/</a:t>
            </a:r>
            <a:r>
              <a:rPr sz="1800" dirty="0" err="1">
                <a:solidFill>
                  <a:srgbClr val="272525"/>
                </a:solidFill>
                <a:latin typeface="Inter" pitchFamily="34" charset="0"/>
                <a:ea typeface="Inter" pitchFamily="34" charset="-122"/>
              </a:rPr>
              <a:t>cutmix</a:t>
            </a:r>
            <a:r>
              <a:rPr sz="1800" dirty="0">
                <a:solidFill>
                  <a:srgbClr val="272525"/>
                </a:solidFill>
                <a:latin typeface="Inter" pitchFamily="34" charset="0"/>
                <a:ea typeface="Inter" pitchFamily="34" charset="-122"/>
              </a:rPr>
              <a:t>; evaluate calibration and confidence thresholds</a:t>
            </a:r>
          </a:p>
        </p:txBody>
      </p:sp>
      <p:sp>
        <p:nvSpPr>
          <p:cNvPr id="6" name="TextBox 5">
            <a:extLst>
              <a:ext uri="{FF2B5EF4-FFF2-40B4-BE49-F238E27FC236}">
                <a16:creationId xmlns:a16="http://schemas.microsoft.com/office/drawing/2014/main" id="{68EA7D22-B895-98A5-C3E5-B091A810C751}"/>
              </a:ext>
            </a:extLst>
          </p:cNvPr>
          <p:cNvSpPr txBox="1"/>
          <p:nvPr/>
        </p:nvSpPr>
        <p:spPr>
          <a:xfrm>
            <a:off x="457200" y="547171"/>
            <a:ext cx="6100010" cy="538609"/>
          </a:xfrm>
          <a:prstGeom prst="rect">
            <a:avLst/>
          </a:prstGeom>
          <a:noFill/>
        </p:spPr>
        <p:txBody>
          <a:bodyPr wrap="square">
            <a:spAutoFit/>
          </a:bodyPr>
          <a:lstStyle/>
          <a:p>
            <a:r>
              <a:rPr lang="en-GB" sz="2900" b="1" dirty="0">
                <a:solidFill>
                  <a:srgbClr val="000000"/>
                </a:solidFill>
                <a:latin typeface="Inter Bold" pitchFamily="34" charset="0"/>
                <a:ea typeface="Inter Bold" pitchFamily="34" charset="-122"/>
              </a:rPr>
              <a:t>Lessons</a:t>
            </a:r>
            <a:r>
              <a:rPr lang="en-GB" dirty="0"/>
              <a:t> </a:t>
            </a:r>
            <a:r>
              <a:rPr lang="en-GB" sz="2900" b="1" dirty="0">
                <a:solidFill>
                  <a:srgbClr val="000000"/>
                </a:solidFill>
                <a:latin typeface="Inter Bold" pitchFamily="34" charset="0"/>
                <a:ea typeface="Inter Bold" pitchFamily="34" charset="-122"/>
              </a:rPr>
              <a:t>Learned and Next Steps</a:t>
            </a:r>
          </a:p>
        </p:txBody>
      </p:sp>
      <p:pic>
        <p:nvPicPr>
          <p:cNvPr id="20" name="Audio 19">
            <a:extLst>
              <a:ext uri="{FF2B5EF4-FFF2-40B4-BE49-F238E27FC236}">
                <a16:creationId xmlns:a16="http://schemas.microsoft.com/office/drawing/2014/main" id="{7D3D8060-44DF-D85D-87E9-79739F8B8FBC}"/>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260666228"/>
      </p:ext>
    </p:extLst>
  </p:cSld>
  <p:clrMapOvr>
    <a:masterClrMapping/>
  </p:clrMapOvr>
  <mc:AlternateContent xmlns:mc="http://schemas.openxmlformats.org/markup-compatibility/2006">
    <mc:Choice xmlns:p14="http://schemas.microsoft.com/office/powerpoint/2010/main" Requires="p14">
      <p:transition spd="slow" p14:dur="2000" advTm="33785"/>
    </mc:Choice>
    <mc:Fallback>
      <p:transition spd="slow" advTm="3378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0"/>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2CD5D-42C0-4971-6F59-4D2F5C8326F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30C7FB5-1BF0-65B8-337E-E7E33AD1866A}"/>
              </a:ext>
            </a:extLst>
          </p:cNvPr>
          <p:cNvSpPr/>
          <p:nvPr/>
        </p:nvSpPr>
        <p:spPr>
          <a:xfrm>
            <a:off x="273487" y="130493"/>
            <a:ext cx="5499497" cy="412909"/>
          </a:xfrm>
          <a:prstGeom prst="rect">
            <a:avLst/>
          </a:prstGeom>
          <a:noFill/>
          <a:ln/>
        </p:spPr>
        <p:txBody>
          <a:bodyPr wrap="none" lIns="0" tIns="0" rIns="0" bIns="0" rtlCol="0" anchor="t"/>
          <a:lstStyle/>
          <a:p>
            <a:pPr>
              <a:lnSpc>
                <a:spcPts val="3250"/>
              </a:lnSpc>
            </a:pPr>
            <a:r>
              <a:rPr lang="en-US" sz="2900" b="1" dirty="0">
                <a:solidFill>
                  <a:srgbClr val="000000"/>
                </a:solidFill>
                <a:latin typeface="Inter Bold" pitchFamily="34" charset="0"/>
                <a:ea typeface="Inter Bold" pitchFamily="34" charset="-122"/>
              </a:rPr>
              <a:t>Closing Results  </a:t>
            </a:r>
          </a:p>
          <a:p>
            <a:pPr marL="0" indent="0" algn="l">
              <a:lnSpc>
                <a:spcPts val="3250"/>
              </a:lnSpc>
              <a:buNone/>
            </a:pPr>
            <a:endParaRPr lang="en-US" sz="2900" dirty="0"/>
          </a:p>
        </p:txBody>
      </p:sp>
      <p:pic>
        <p:nvPicPr>
          <p:cNvPr id="3" name="Picture 2" descr="accuracy_curve.png">
            <a:extLst>
              <a:ext uri="{FF2B5EF4-FFF2-40B4-BE49-F238E27FC236}">
                <a16:creationId xmlns:a16="http://schemas.microsoft.com/office/drawing/2014/main" id="{85608E57-157E-70D5-2A39-A49DB74D0E90}"/>
              </a:ext>
            </a:extLst>
          </p:cNvPr>
          <p:cNvPicPr>
            <a:picLocks noChangeAspect="1"/>
          </p:cNvPicPr>
          <p:nvPr/>
        </p:nvPicPr>
        <p:blipFill>
          <a:blip r:embed="rId4"/>
          <a:stretch>
            <a:fillRect/>
          </a:stretch>
        </p:blipFill>
        <p:spPr>
          <a:xfrm>
            <a:off x="8594527" y="962442"/>
            <a:ext cx="3456343" cy="2457450"/>
          </a:xfrm>
          <a:prstGeom prst="rect">
            <a:avLst/>
          </a:prstGeom>
        </p:spPr>
      </p:pic>
      <p:pic>
        <p:nvPicPr>
          <p:cNvPr id="4" name="Picture 3" descr="loss_curve.png">
            <a:extLst>
              <a:ext uri="{FF2B5EF4-FFF2-40B4-BE49-F238E27FC236}">
                <a16:creationId xmlns:a16="http://schemas.microsoft.com/office/drawing/2014/main" id="{48305294-064E-DC77-D812-572B233E99A6}"/>
              </a:ext>
            </a:extLst>
          </p:cNvPr>
          <p:cNvPicPr>
            <a:picLocks noChangeAspect="1"/>
          </p:cNvPicPr>
          <p:nvPr/>
        </p:nvPicPr>
        <p:blipFill>
          <a:blip r:embed="rId5"/>
          <a:stretch>
            <a:fillRect/>
          </a:stretch>
        </p:blipFill>
        <p:spPr>
          <a:xfrm>
            <a:off x="273487" y="962441"/>
            <a:ext cx="3456344" cy="2457450"/>
          </a:xfrm>
          <a:prstGeom prst="rect">
            <a:avLst/>
          </a:prstGeom>
        </p:spPr>
      </p:pic>
      <p:pic>
        <p:nvPicPr>
          <p:cNvPr id="5" name="Picture 4" descr="ablation_results.png">
            <a:extLst>
              <a:ext uri="{FF2B5EF4-FFF2-40B4-BE49-F238E27FC236}">
                <a16:creationId xmlns:a16="http://schemas.microsoft.com/office/drawing/2014/main" id="{D155D339-3ECE-79D6-17BE-0D905E8770FB}"/>
              </a:ext>
            </a:extLst>
          </p:cNvPr>
          <p:cNvPicPr>
            <a:picLocks noChangeAspect="1"/>
          </p:cNvPicPr>
          <p:nvPr/>
        </p:nvPicPr>
        <p:blipFill>
          <a:blip r:embed="rId6"/>
          <a:stretch>
            <a:fillRect/>
          </a:stretch>
        </p:blipFill>
        <p:spPr>
          <a:xfrm>
            <a:off x="4434007" y="962442"/>
            <a:ext cx="3456344" cy="2457450"/>
          </a:xfrm>
          <a:prstGeom prst="rect">
            <a:avLst/>
          </a:prstGeom>
        </p:spPr>
      </p:pic>
      <p:pic>
        <p:nvPicPr>
          <p:cNvPr id="6" name="Picture 5" descr="accuracy_curve.png">
            <a:extLst>
              <a:ext uri="{FF2B5EF4-FFF2-40B4-BE49-F238E27FC236}">
                <a16:creationId xmlns:a16="http://schemas.microsoft.com/office/drawing/2014/main" id="{D0496E48-0118-0F2C-B7A6-3C39844E017E}"/>
              </a:ext>
            </a:extLst>
          </p:cNvPr>
          <p:cNvPicPr>
            <a:picLocks noChangeAspect="1"/>
          </p:cNvPicPr>
          <p:nvPr/>
        </p:nvPicPr>
        <p:blipFill>
          <a:blip r:embed="rId4"/>
          <a:stretch>
            <a:fillRect/>
          </a:stretch>
        </p:blipFill>
        <p:spPr>
          <a:xfrm>
            <a:off x="2001659" y="3945422"/>
            <a:ext cx="3931920" cy="2457450"/>
          </a:xfrm>
          <a:prstGeom prst="rect">
            <a:avLst/>
          </a:prstGeom>
        </p:spPr>
      </p:pic>
      <p:pic>
        <p:nvPicPr>
          <p:cNvPr id="7" name="Picture 6" descr="loss_curve.png">
            <a:extLst>
              <a:ext uri="{FF2B5EF4-FFF2-40B4-BE49-F238E27FC236}">
                <a16:creationId xmlns:a16="http://schemas.microsoft.com/office/drawing/2014/main" id="{633904F6-7878-27BD-D9AF-7DBDDFCACDD0}"/>
              </a:ext>
            </a:extLst>
          </p:cNvPr>
          <p:cNvPicPr>
            <a:picLocks noChangeAspect="1"/>
          </p:cNvPicPr>
          <p:nvPr/>
        </p:nvPicPr>
        <p:blipFill>
          <a:blip r:embed="rId5"/>
          <a:stretch>
            <a:fillRect/>
          </a:stretch>
        </p:blipFill>
        <p:spPr>
          <a:xfrm>
            <a:off x="6628567" y="3945422"/>
            <a:ext cx="3931920" cy="2457450"/>
          </a:xfrm>
          <a:prstGeom prst="rect">
            <a:avLst/>
          </a:prstGeom>
        </p:spPr>
      </p:pic>
      <p:pic>
        <p:nvPicPr>
          <p:cNvPr id="15" name="Audio 14">
            <a:extLst>
              <a:ext uri="{FF2B5EF4-FFF2-40B4-BE49-F238E27FC236}">
                <a16:creationId xmlns:a16="http://schemas.microsoft.com/office/drawing/2014/main" id="{CFDC91B6-F784-8271-DC76-A4A1F5F9E953}"/>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406083427"/>
      </p:ext>
    </p:extLst>
  </p:cSld>
  <p:clrMapOvr>
    <a:masterClrMapping/>
  </p:clrMapOvr>
  <mc:AlternateContent xmlns:mc="http://schemas.openxmlformats.org/markup-compatibility/2006">
    <mc:Choice xmlns:p14="http://schemas.microsoft.com/office/powerpoint/2010/main" Requires="p14">
      <p:transition spd="slow" p14:dur="2000" advTm="30220"/>
    </mc:Choice>
    <mc:Fallback>
      <p:transition spd="slow" advTm="302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5"/>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7BF73-3261-A058-6A69-D6FC3180A22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B23AFFB-BBC3-F0D0-4ADD-60C3FE4D352A}"/>
              </a:ext>
            </a:extLst>
          </p:cNvPr>
          <p:cNvSpPr/>
          <p:nvPr/>
        </p:nvSpPr>
        <p:spPr>
          <a:xfrm>
            <a:off x="490770" y="356829"/>
            <a:ext cx="5499497" cy="412909"/>
          </a:xfrm>
          <a:prstGeom prst="rect">
            <a:avLst/>
          </a:prstGeom>
          <a:noFill/>
          <a:ln/>
        </p:spPr>
        <p:txBody>
          <a:bodyPr wrap="none" lIns="0" tIns="0" rIns="0" bIns="0" rtlCol="0" anchor="t"/>
          <a:lstStyle/>
          <a:p>
            <a:pPr>
              <a:lnSpc>
                <a:spcPts val="3250"/>
              </a:lnSpc>
            </a:pPr>
            <a:r>
              <a:rPr lang="en-US" sz="2900" dirty="0"/>
              <a:t>References</a:t>
            </a:r>
          </a:p>
        </p:txBody>
      </p:sp>
      <p:sp>
        <p:nvSpPr>
          <p:cNvPr id="11" name="TextBox 10">
            <a:extLst>
              <a:ext uri="{FF2B5EF4-FFF2-40B4-BE49-F238E27FC236}">
                <a16:creationId xmlns:a16="http://schemas.microsoft.com/office/drawing/2014/main" id="{7403DAD7-6376-A387-638B-C6491314A2E3}"/>
              </a:ext>
            </a:extLst>
          </p:cNvPr>
          <p:cNvSpPr txBox="1"/>
          <p:nvPr/>
        </p:nvSpPr>
        <p:spPr>
          <a:xfrm>
            <a:off x="490770" y="1089019"/>
            <a:ext cx="11407365" cy="4472635"/>
          </a:xfrm>
          <a:prstGeom prst="rect">
            <a:avLst/>
          </a:prstGeom>
          <a:noFill/>
        </p:spPr>
        <p:txBody>
          <a:bodyPr wrap="square">
            <a:spAutoFit/>
          </a:bodyPr>
          <a:lstStyle/>
          <a:p>
            <a:pPr>
              <a:lnSpc>
                <a:spcPct val="200000"/>
              </a:lnSpc>
            </a:pPr>
            <a:r>
              <a:rPr lang="en-GB" sz="1200" dirty="0">
                <a:solidFill>
                  <a:srgbClr val="272525"/>
                </a:solidFill>
                <a:latin typeface="Inter" pitchFamily="34" charset="0"/>
                <a:ea typeface="Inter" pitchFamily="34" charset="-122"/>
              </a:rPr>
              <a:t>Deng, J. et al. (2009) ‘ImageNet: A large-scale hierarchical image database’, CVPR, pp. 248–255.</a:t>
            </a:r>
          </a:p>
          <a:p>
            <a:pPr>
              <a:lnSpc>
                <a:spcPct val="200000"/>
              </a:lnSpc>
            </a:pPr>
            <a:r>
              <a:rPr lang="en-GB" sz="1200" dirty="0">
                <a:solidFill>
                  <a:srgbClr val="272525"/>
                </a:solidFill>
                <a:latin typeface="Inter" pitchFamily="34" charset="0"/>
                <a:ea typeface="Inter" pitchFamily="34" charset="-122"/>
              </a:rPr>
              <a:t>Goodfellow, I., Bengio, Y. and Courville, A. (2016) Deep Learning. MIT Press.</a:t>
            </a:r>
          </a:p>
          <a:p>
            <a:pPr>
              <a:lnSpc>
                <a:spcPct val="200000"/>
              </a:lnSpc>
            </a:pPr>
            <a:r>
              <a:rPr lang="en-GB" sz="1200" dirty="0">
                <a:solidFill>
                  <a:srgbClr val="272525"/>
                </a:solidFill>
                <a:latin typeface="Inter" pitchFamily="34" charset="0"/>
                <a:ea typeface="Inter" pitchFamily="34" charset="-122"/>
              </a:rPr>
              <a:t>He, K., Zhang, X., Ren, S. and Sun, J. (2016) ‘Deep residual learning for image recognition’, CVPR, pp. 770–778.</a:t>
            </a:r>
          </a:p>
          <a:p>
            <a:pPr>
              <a:lnSpc>
                <a:spcPct val="200000"/>
              </a:lnSpc>
            </a:pPr>
            <a:r>
              <a:rPr lang="en-GB" sz="1200" dirty="0">
                <a:solidFill>
                  <a:srgbClr val="272525"/>
                </a:solidFill>
                <a:latin typeface="Inter" pitchFamily="34" charset="0"/>
                <a:ea typeface="Inter" pitchFamily="34" charset="-122"/>
              </a:rPr>
              <a:t>Kingma, D.P. and Ba, J. (2015) ‘Adam: A method for stochastic optimization’, ICLR (arXiv:1412.6980).</a:t>
            </a:r>
          </a:p>
          <a:p>
            <a:pPr>
              <a:lnSpc>
                <a:spcPct val="200000"/>
              </a:lnSpc>
            </a:pPr>
            <a:r>
              <a:rPr lang="en-GB" sz="1200" dirty="0">
                <a:solidFill>
                  <a:srgbClr val="272525"/>
                </a:solidFill>
                <a:latin typeface="Inter" pitchFamily="34" charset="0"/>
                <a:ea typeface="Inter" pitchFamily="34" charset="-122"/>
              </a:rPr>
              <a:t>Krizhevsky, A. (2009) ‘Learning multiple layers of features from tiny images’, Technical Report, University of Toronto.</a:t>
            </a:r>
          </a:p>
          <a:p>
            <a:pPr>
              <a:lnSpc>
                <a:spcPct val="200000"/>
              </a:lnSpc>
            </a:pPr>
            <a:r>
              <a:rPr lang="en-GB" sz="1200" dirty="0">
                <a:solidFill>
                  <a:srgbClr val="272525"/>
                </a:solidFill>
                <a:latin typeface="Inter" pitchFamily="34" charset="0"/>
                <a:ea typeface="Inter" pitchFamily="34" charset="-122"/>
              </a:rPr>
              <a:t>Pedregosa, F. et al. (2011) ‘Scikit-learn: Machine Learning in Python’, JMLR, 12, pp. 2825–2830.</a:t>
            </a:r>
          </a:p>
          <a:p>
            <a:pPr>
              <a:lnSpc>
                <a:spcPct val="200000"/>
              </a:lnSpc>
            </a:pPr>
            <a:r>
              <a:rPr lang="en-GB" sz="1200" dirty="0">
                <a:solidFill>
                  <a:srgbClr val="272525"/>
                </a:solidFill>
                <a:latin typeface="Inter" pitchFamily="34" charset="0"/>
                <a:ea typeface="Inter" pitchFamily="34" charset="-122"/>
              </a:rPr>
              <a:t>Shorten, C. and Khoshgoftaar, T.M. (2019) ‘A survey on image data augmentation for deep learning’, Journal of Big Data, 6(60), pp. 1–48.</a:t>
            </a:r>
          </a:p>
          <a:p>
            <a:pPr>
              <a:lnSpc>
                <a:spcPct val="200000"/>
              </a:lnSpc>
            </a:pPr>
            <a:r>
              <a:rPr lang="en-GB" sz="1200" dirty="0">
                <a:solidFill>
                  <a:srgbClr val="272525"/>
                </a:solidFill>
                <a:latin typeface="Inter" pitchFamily="34" charset="0"/>
                <a:ea typeface="Inter" pitchFamily="34" charset="-122"/>
              </a:rPr>
              <a:t>Simonyan, K. and Zisserman, A. (2015) ‘Very deep convolutional networks for large-scale image recognition’, ICLR (arXiv:1409.1556).</a:t>
            </a:r>
          </a:p>
          <a:p>
            <a:pPr>
              <a:lnSpc>
                <a:spcPct val="200000"/>
              </a:lnSpc>
            </a:pPr>
            <a:r>
              <a:rPr lang="en-GB" sz="1200" dirty="0">
                <a:solidFill>
                  <a:srgbClr val="272525"/>
                </a:solidFill>
                <a:latin typeface="Inter" pitchFamily="34" charset="0"/>
                <a:ea typeface="Inter" pitchFamily="34" charset="-122"/>
              </a:rPr>
              <a:t>Smith, L.N. (2017) ‘Cyclical learning rates for training neural networks’, WACV, pp. 464–472.</a:t>
            </a:r>
          </a:p>
          <a:p>
            <a:pPr>
              <a:lnSpc>
                <a:spcPct val="200000"/>
              </a:lnSpc>
            </a:pPr>
            <a:r>
              <a:rPr lang="en-GB" sz="1200" dirty="0">
                <a:solidFill>
                  <a:srgbClr val="272525"/>
                </a:solidFill>
                <a:latin typeface="Inter" pitchFamily="34" charset="0"/>
                <a:ea typeface="Inter" pitchFamily="34" charset="-122"/>
              </a:rPr>
              <a:t>Tan, M. and Le, Q. (2019) ‘EfficientNet: Rethinking model scaling for convolutional neural networks’, ICML, pp. 6105–6114.</a:t>
            </a:r>
          </a:p>
          <a:p>
            <a:pPr>
              <a:lnSpc>
                <a:spcPct val="200000"/>
              </a:lnSpc>
            </a:pPr>
            <a:r>
              <a:rPr lang="en-GB" sz="1200" dirty="0">
                <a:solidFill>
                  <a:srgbClr val="272525"/>
                </a:solidFill>
                <a:latin typeface="Inter" pitchFamily="34" charset="0"/>
                <a:ea typeface="Inter" pitchFamily="34" charset="-122"/>
              </a:rPr>
              <a:t>TensorFlow-Keras (n.d.) ‘CIFAR-10 dataset’, Available at: https://keras.io/api/datasets/cifar10/ (Accessed 10 October 2025).</a:t>
            </a:r>
          </a:p>
          <a:p>
            <a:pPr>
              <a:lnSpc>
                <a:spcPct val="200000"/>
              </a:lnSpc>
            </a:pPr>
            <a:r>
              <a:rPr lang="en-GB" sz="1200" dirty="0">
                <a:solidFill>
                  <a:srgbClr val="272525"/>
                </a:solidFill>
                <a:latin typeface="Inter" pitchFamily="34" charset="0"/>
                <a:ea typeface="Inter" pitchFamily="34" charset="-122"/>
              </a:rPr>
              <a:t>University of Toronto (n.d.) ‘CIFAR-10’, Available at: https://www.cs.toronto.edu/~kriz/cifar.html (Accessed 10 October 2025).</a:t>
            </a:r>
          </a:p>
        </p:txBody>
      </p:sp>
      <p:pic>
        <p:nvPicPr>
          <p:cNvPr id="8" name="Audio 7">
            <a:extLst>
              <a:ext uri="{FF2B5EF4-FFF2-40B4-BE49-F238E27FC236}">
                <a16:creationId xmlns:a16="http://schemas.microsoft.com/office/drawing/2014/main" id="{127A9709-1640-D6CF-0BA2-49D3E554AE37}"/>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900269350"/>
      </p:ext>
    </p:extLst>
  </p:cSld>
  <p:clrMapOvr>
    <a:masterClrMapping/>
  </p:clrMapOvr>
  <mc:AlternateContent xmlns:mc="http://schemas.openxmlformats.org/markup-compatibility/2006">
    <mc:Choice xmlns:p14="http://schemas.microsoft.com/office/powerpoint/2010/main" Requires="p14">
      <p:transition spd="slow" p14:dur="2000" advTm="9502"/>
    </mc:Choice>
    <mc:Fallback>
      <p:transition spd="slow" advTm="950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238</TotalTime>
  <Words>1669</Words>
  <Application>Microsoft Macintosh PowerPoint</Application>
  <PresentationFormat>Widescreen</PresentationFormat>
  <Paragraphs>135</Paragraphs>
  <Slides>14</Slides>
  <Notes>1</Notes>
  <HiddenSlides>0</HiddenSlides>
  <MMClips>14</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akzidenz-grotesk</vt:lpstr>
      <vt:lpstr>Arial</vt:lpstr>
      <vt:lpstr>Calibri</vt:lpstr>
      <vt:lpstr>Calibri Light</vt:lpstr>
      <vt:lpstr>Consolas</vt:lpstr>
      <vt:lpstr>Inter</vt:lpstr>
      <vt:lpstr>Inter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ABDULRAHMAN ALHASHMI</dc:creator>
  <cp:lastModifiedBy>Fatima Al Breiki</cp:lastModifiedBy>
  <cp:revision>8</cp:revision>
  <dcterms:created xsi:type="dcterms:W3CDTF">2025-10-10T06:15:29Z</dcterms:created>
  <dcterms:modified xsi:type="dcterms:W3CDTF">2025-10-13T13:44:08Z</dcterms:modified>
</cp:coreProperties>
</file>